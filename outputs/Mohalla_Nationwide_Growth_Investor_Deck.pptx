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fba0d374524ff2" /><Relationship Type="http://schemas.openxmlformats.org/officeDocument/2006/relationships/extended-properties" Target="/docProps/app.xml" Id="R5a6709098add427a" /><Relationship Type="http://schemas.openxmlformats.org/officeDocument/2006/relationships/officeDocument" Target="/ppt/presentation.xml" Id="R059eff4524f649f6" /></Relationships>
</file>

<file path=ppt/presentation.xml><?xml version="1.0" encoding="utf-8"?>
<p:presentation xmlns:p="http://schemas.openxmlformats.org/presentationml/2006/main">
  <p:sldMasterIdLst>
    <p:sldMasterId xmlns:r="http://schemas.openxmlformats.org/officeDocument/2006/relationships" id="2147483648" r:id="Rd9c44e3422ec451d"/>
  </p:sldMasterIdLst>
  <p:notesMasterIdLst>
    <p:notesMasterId xmlns:r="http://schemas.openxmlformats.org/officeDocument/2006/relationships" r:id="R7ff77fc59bb443f1"/>
  </p:notesMasterIdLst>
  <p:sldIdLst>
    <p:sldId xmlns:r="http://schemas.openxmlformats.org/officeDocument/2006/relationships" id="256" r:id="R77cbcd840a714ab7"/>
    <p:sldId xmlns:r="http://schemas.openxmlformats.org/officeDocument/2006/relationships" id="257" r:id="Rf618c7b7aab64dc3"/>
    <p:sldId xmlns:r="http://schemas.openxmlformats.org/officeDocument/2006/relationships" id="258" r:id="R09730a56d56c4b98"/>
    <p:sldId xmlns:r="http://schemas.openxmlformats.org/officeDocument/2006/relationships" id="259" r:id="R83352e2ef2164bdf"/>
    <p:sldId xmlns:r="http://schemas.openxmlformats.org/officeDocument/2006/relationships" id="260" r:id="R148b43d513bf43e7"/>
    <p:sldId xmlns:r="http://schemas.openxmlformats.org/officeDocument/2006/relationships" id="261" r:id="Rb22226423d734132"/>
    <p:sldId xmlns:r="http://schemas.openxmlformats.org/officeDocument/2006/relationships" id="262" r:id="Rf5fe4b1a94b64af9"/>
    <p:sldId xmlns:r="http://schemas.openxmlformats.org/officeDocument/2006/relationships" id="263" r:id="Raab63ba1b209476e"/>
    <p:sldId xmlns:r="http://schemas.openxmlformats.org/officeDocument/2006/relationships" id="264" r:id="Rf17b7f012f744387"/>
    <p:sldId xmlns:r="http://schemas.openxmlformats.org/officeDocument/2006/relationships" id="265" r:id="R6ad25783935b48cb"/>
    <p:sldId xmlns:r="http://schemas.openxmlformats.org/officeDocument/2006/relationships" id="266" r:id="Rab84cd781a4449ec"/>
    <p:sldId xmlns:r="http://schemas.openxmlformats.org/officeDocument/2006/relationships" id="267" r:id="R2411ed7e797d4137"/>
    <p:sldId xmlns:r="http://schemas.openxmlformats.org/officeDocument/2006/relationships" id="268" r:id="R45bb2f351107458b"/>
    <p:sldId xmlns:r="http://schemas.openxmlformats.org/officeDocument/2006/relationships" id="269" r:id="Rc498f1f78b524b7c"/>
    <p:sldId xmlns:r="http://schemas.openxmlformats.org/officeDocument/2006/relationships" id="270" r:id="R18fbadcade6e4ddd"/>
    <p:sldId xmlns:r="http://schemas.openxmlformats.org/officeDocument/2006/relationships" id="271" r:id="R2434bafc5d214a72"/>
    <p:sldId xmlns:r="http://schemas.openxmlformats.org/officeDocument/2006/relationships" id="272" r:id="Rc837014f3dcd4561"/>
    <p:sldId xmlns:r="http://schemas.openxmlformats.org/officeDocument/2006/relationships" id="273" r:id="R27f2802591df4db0"/>
    <p:sldId xmlns:r="http://schemas.openxmlformats.org/officeDocument/2006/relationships" id="274" r:id="R8bc886dd67184c9d"/>
    <p:sldId xmlns:r="http://schemas.openxmlformats.org/officeDocument/2006/relationships" id="275" r:id="R326abee745274e08"/>
    <p:sldId xmlns:r="http://schemas.openxmlformats.org/officeDocument/2006/relationships" id="276" r:id="Raf5f34403acb4c3e"/>
    <p:sldId xmlns:r="http://schemas.openxmlformats.org/officeDocument/2006/relationships" id="277" r:id="Re0d4db0b3cfe4a3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758068b25942f0" /><Relationship Type="http://schemas.openxmlformats.org/officeDocument/2006/relationships/slideMaster" Target="/ppt/slideMasters/slideMaster1.xml" Id="Rd9c44e3422ec451d" /><Relationship Type="http://schemas.openxmlformats.org/officeDocument/2006/relationships/notesMaster" Target="/ppt/notesMasters/notesMaster1.xml" Id="R7ff77fc59bb443f1" /><Relationship Type="http://schemas.openxmlformats.org/officeDocument/2006/relationships/presProps" Target="/ppt/presProps.xml" Id="R932a6c6a611a44cf" /><Relationship Type="http://schemas.openxmlformats.org/officeDocument/2006/relationships/tableStyles" Target="/ppt/tableStyles.xml" Id="R79633221baba42fd" /><Relationship Type="http://schemas.openxmlformats.org/officeDocument/2006/relationships/slide" Target="/ppt/slides/slide1.xml" Id="R77cbcd840a714ab7" /><Relationship Type="http://schemas.openxmlformats.org/officeDocument/2006/relationships/slide" Target="/ppt/slides/slide2.xml" Id="Rf618c7b7aab64dc3" /><Relationship Type="http://schemas.openxmlformats.org/officeDocument/2006/relationships/slide" Target="/ppt/slides/slide3.xml" Id="R09730a56d56c4b98" /><Relationship Type="http://schemas.openxmlformats.org/officeDocument/2006/relationships/slide" Target="/ppt/slides/slide4.xml" Id="R83352e2ef2164bdf" /><Relationship Type="http://schemas.openxmlformats.org/officeDocument/2006/relationships/slide" Target="/ppt/slides/slide5.xml" Id="R148b43d513bf43e7" /><Relationship Type="http://schemas.openxmlformats.org/officeDocument/2006/relationships/slide" Target="/ppt/slides/slide6.xml" Id="Rb22226423d734132" /><Relationship Type="http://schemas.openxmlformats.org/officeDocument/2006/relationships/slide" Target="/ppt/slides/slide7.xml" Id="Rf5fe4b1a94b64af9" /><Relationship Type="http://schemas.openxmlformats.org/officeDocument/2006/relationships/slide" Target="/ppt/slides/slide8.xml" Id="Raab63ba1b209476e" /><Relationship Type="http://schemas.openxmlformats.org/officeDocument/2006/relationships/slide" Target="/ppt/slides/slide9.xml" Id="Rf17b7f012f744387" /><Relationship Type="http://schemas.openxmlformats.org/officeDocument/2006/relationships/slide" Target="/ppt/slides/slide10.xml" Id="R6ad25783935b48cb" /><Relationship Type="http://schemas.openxmlformats.org/officeDocument/2006/relationships/slide" Target="/ppt/slides/slide11.xml" Id="Rab84cd781a4449ec" /><Relationship Type="http://schemas.openxmlformats.org/officeDocument/2006/relationships/slide" Target="/ppt/slides/slide12.xml" Id="R2411ed7e797d4137" /><Relationship Type="http://schemas.openxmlformats.org/officeDocument/2006/relationships/slide" Target="/ppt/slides/slide13.xml" Id="R45bb2f351107458b" /><Relationship Type="http://schemas.openxmlformats.org/officeDocument/2006/relationships/slide" Target="/ppt/slides/slide14.xml" Id="Rc498f1f78b524b7c" /><Relationship Type="http://schemas.openxmlformats.org/officeDocument/2006/relationships/slide" Target="/ppt/slides/slide15.xml" Id="R18fbadcade6e4ddd" /><Relationship Type="http://schemas.openxmlformats.org/officeDocument/2006/relationships/slide" Target="/ppt/slides/slide16.xml" Id="R2434bafc5d214a72" /><Relationship Type="http://schemas.openxmlformats.org/officeDocument/2006/relationships/slide" Target="/ppt/slides/slide17.xml" Id="Rc837014f3dcd4561" /><Relationship Type="http://schemas.openxmlformats.org/officeDocument/2006/relationships/slide" Target="/ppt/slides/slide18.xml" Id="R27f2802591df4db0" /><Relationship Type="http://schemas.openxmlformats.org/officeDocument/2006/relationships/slide" Target="/ppt/slides/slide19.xml" Id="R8bc886dd67184c9d" /><Relationship Type="http://schemas.openxmlformats.org/officeDocument/2006/relationships/slide" Target="/ppt/slides/slide20.xml" Id="R326abee745274e08" /><Relationship Type="http://schemas.openxmlformats.org/officeDocument/2006/relationships/slide" Target="/ppt/slides/slide21.xml" Id="Raf5f34403acb4c3e" /><Relationship Type="http://schemas.openxmlformats.org/officeDocument/2006/relationships/slide" Target="/ppt/slides/slide22.xml" Id="Re0d4db0b3cfe4a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979425af5349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c0afa7112c44ab" /><Relationship Type="http://schemas.openxmlformats.org/officeDocument/2006/relationships/notesMaster" Target="/ppt/notesMasters/notesMaster1.xml" Id="R22483678472d47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aa33b13fbf4b3f" /><Relationship Type="http://schemas.openxmlformats.org/officeDocument/2006/relationships/notesMaster" Target="/ppt/notesMasters/notesMaster1.xml" Id="Rf239aa0826c44b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d90d0fa7284cc1" /><Relationship Type="http://schemas.openxmlformats.org/officeDocument/2006/relationships/notesMaster" Target="/ppt/notesMasters/notesMaster1.xml" Id="R57582e1fb42349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0ff4107a1549f4" /><Relationship Type="http://schemas.openxmlformats.org/officeDocument/2006/relationships/notesMaster" Target="/ppt/notesMasters/notesMaster1.xml" Id="Re7d9966f2e6746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6b791c66af442c" /><Relationship Type="http://schemas.openxmlformats.org/officeDocument/2006/relationships/notesMaster" Target="/ppt/notesMasters/notesMaster1.xml" Id="R2841257bc40848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5c72e3b9e1491f" /><Relationship Type="http://schemas.openxmlformats.org/officeDocument/2006/relationships/notesMaster" Target="/ppt/notesMasters/notesMaster1.xml" Id="R8a81943a332742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07059daffa4eab" /><Relationship Type="http://schemas.openxmlformats.org/officeDocument/2006/relationships/notesMaster" Target="/ppt/notesMasters/notesMaster1.xml" Id="Rf3f4a53bc3ad46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e1cd877b294113" /><Relationship Type="http://schemas.openxmlformats.org/officeDocument/2006/relationships/notesMaster" Target="/ppt/notesMasters/notesMaster1.xml" Id="R1e48513df2d944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d0c2b19c0b491b" /><Relationship Type="http://schemas.openxmlformats.org/officeDocument/2006/relationships/notesMaster" Target="/ppt/notesMasters/notesMaster1.xml" Id="Ree0151260d1c4a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a8f24e91784b58" /><Relationship Type="http://schemas.openxmlformats.org/officeDocument/2006/relationships/notesMaster" Target="/ppt/notesMasters/notesMaster1.xml" Id="Re6ac7307e82c48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bf94d76d204b85" /><Relationship Type="http://schemas.openxmlformats.org/officeDocument/2006/relationships/notesMaster" Target="/ppt/notesMasters/notesMaster1.xml" Id="R105d7de711bc4b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d5f43406a84009" /><Relationship Type="http://schemas.openxmlformats.org/officeDocument/2006/relationships/notesMaster" Target="/ppt/notesMasters/notesMaster1.xml" Id="R79b827b3baa547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85a5b5f7ca4739" /><Relationship Type="http://schemas.openxmlformats.org/officeDocument/2006/relationships/notesMaster" Target="/ppt/notesMasters/notesMaster1.xml" Id="Rcab0b2759ff942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7220f30fa349f9" /><Relationship Type="http://schemas.openxmlformats.org/officeDocument/2006/relationships/notesMaster" Target="/ppt/notesMasters/notesMaster1.xml" Id="R319f136e88f34d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5e1336dd0a4ede" /><Relationship Type="http://schemas.openxmlformats.org/officeDocument/2006/relationships/notesMaster" Target="/ppt/notesMasters/notesMaster1.xml" Id="R840986268a684f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8b172791445484f" /><Relationship Type="http://schemas.openxmlformats.org/officeDocument/2006/relationships/notesMaster" Target="/ppt/notesMasters/notesMaster1.xml" Id="R3c6d74d688bb4a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bc13872ebf4faa" /><Relationship Type="http://schemas.openxmlformats.org/officeDocument/2006/relationships/notesMaster" Target="/ppt/notesMasters/notesMaster1.xml" Id="Rba011db42910468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fbac0be777f4480" /><Relationship Type="http://schemas.openxmlformats.org/officeDocument/2006/relationships/notesMaster" Target="/ppt/notesMasters/notesMaster1.xml" Id="R473e36cc744144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56c8bcb5cb46e3" /><Relationship Type="http://schemas.openxmlformats.org/officeDocument/2006/relationships/notesMaster" Target="/ppt/notesMasters/notesMaster1.xml" Id="Rce562c0516b34a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cf7f11b58e48d2" /><Relationship Type="http://schemas.openxmlformats.org/officeDocument/2006/relationships/notesMaster" Target="/ppt/notesMasters/notesMaster1.xml" Id="Ra2232a192be541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957ff71a8884e5d" /><Relationship Type="http://schemas.openxmlformats.org/officeDocument/2006/relationships/notesMaster" Target="/ppt/notesMasters/notesMaster1.xml" Id="Rd07b46b09d1946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38a31cf8d234984" /><Relationship Type="http://schemas.openxmlformats.org/officeDocument/2006/relationships/notesMaster" Target="/ppt/notesMasters/notesMaster1.xml" Id="R16bbbc9cee0249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category claim: Mohalla is not another chat group or a back-office society tool. It is a verified digital layer for everyday neighborhood life. The presentation intentionally separates implemented product capabilities from planning assumptions.</a:t>
            </a:r>
          </a:p>
          <a:p xmlns:a="http://schemas.openxmlformats.org/drawingml/2006/main">
            <a:r>
              <a:t/>
            </a:r>
          </a:p>
          <a:p xmlns:a="http://schemas.openxmlformats.org/drawingml/2006/main">
            <a:r>
              <a:t>Sources:</a:t>
            </a:r>
          </a:p>
          <a:p xmlns:a="http://schemas.openxmlformats.org/drawingml/2006/main">
            <a:r>
              <a:t>• Mohalla product audit, July 2026; supplied City Feed and Events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timing thesis is simple: smartphones and connectivity are already mainstream, but neighborhood coordination still lives across unverified chat groups, paper notices, personal contacts, and disconnected tools.</a:t>
            </a:r>
          </a:p>
          <a:p xmlns:a="http://schemas.openxmlformats.org/drawingml/2006/main">
            <a:r>
              <a:t/>
            </a:r>
          </a:p>
          <a:p xmlns:a="http://schemas.openxmlformats.org/drawingml/2006/main">
            <a:r>
              <a:t>Sources:</a:t>
            </a:r>
          </a:p>
          <a:p xmlns:a="http://schemas.openxmlformats.org/drawingml/2006/main">
            <a:r>
              <a:t>• https://finance.gov.pk/survey/chapter_25/15_Information_Technology.pdf</a:t>
            </a:r>
          </a:p>
          <a:p xmlns:a="http://schemas.openxmlformats.org/drawingml/2006/main">
            <a:r>
              <a:t>• https://www.pbs.gov.pk/sites/default/files/population/2023/Pakistan.pdf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pain as coordination cost, not simply inconvenience. Fragmented communication slows response, weakens accountability, and reduces participation. Research on Lahore communities links social interaction and resident participation with stronger community cohesion.</a:t>
            </a:r>
          </a:p>
          <a:p xmlns:a="http://schemas.openxmlformats.org/drawingml/2006/main">
            <a:r>
              <a:t/>
            </a:r>
          </a:p>
          <a:p xmlns:a="http://schemas.openxmlformats.org/drawingml/2006/main">
            <a:r>
              <a:t>Sources:</a:t>
            </a:r>
          </a:p>
          <a:p xmlns:a="http://schemas.openxmlformats.org/drawingml/2006/main">
            <a:r>
              <a:t>• https://journals.umt.edu.pk/index.php/JAABE/article/view/4426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clarify the category. WhatsApp remains useful, but it lacks verified community membership, role-based workflows, discoverable categories, local commerce structure, and purpose-built safety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Mohalla is already a tangible product, not only a concept. The two screens show structured local events and a city feed inside the same resident experience.</a:t>
            </a:r>
          </a:p>
          <a:p xmlns:a="http://schemas.openxmlformats.org/drawingml/2006/main">
            <a:r>
              <a:t/>
            </a:r>
          </a:p>
          <a:p xmlns:a="http://schemas.openxmlformats.org/drawingml/2006/main">
            <a:r>
              <a:t>Sources:</a:t>
            </a:r>
          </a:p>
          <a:p xmlns:a="http://schemas.openxmlformats.org/drawingml/2006/main">
            <a:r>
              <a:t>• Supplied Mohalla product screenshots; application audit, July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the breadth as an integrated system of resident habits rather than a feature checklist. Every loop runs on the same verified identity and community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Trust is the moat only if it is operational. Explain the verification gate, private community boundary, role-based administration, moderation, and targeted alerts.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is national infrastructure; the mission is concrete daily coordination. Keep the language human: people communicate, respond, trade and participate.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Smartphone behavior and network access are already established. Mohalla can focus on trust, relevance and local utility instead of creating a new digital habit.</a:t>
            </a:r>
          </a:p>
          <a:p xmlns:a="http://schemas.openxmlformats.org/drawingml/2006/main">
            <a:r>
              <a:t/>
            </a:r>
          </a:p>
          <a:p xmlns:a="http://schemas.openxmlformats.org/drawingml/2006/main">
            <a:r>
              <a:t>Sources:</a:t>
            </a:r>
          </a:p>
          <a:p xmlns:a="http://schemas.openxmlformats.org/drawingml/2006/main">
            <a:r>
              <a:t>• https://finance.gov.pk/survey/chapter_25/15_Information_Technology.pdf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sizing honest. TAM is the official urban household base. SAM is a 20% planning scenario for reachable gated and apartment communities; SOM is a five-year target. They are not current performance.</a:t>
            </a:r>
          </a:p>
          <a:p xmlns:a="http://schemas.openxmlformats.org/drawingml/2006/main">
            <a:r>
              <a:t/>
            </a:r>
          </a:p>
          <a:p xmlns:a="http://schemas.openxmlformats.org/drawingml/2006/main">
            <a:r>
              <a:t>Sources:</a:t>
            </a:r>
          </a:p>
          <a:p xmlns:a="http://schemas.openxmlformats.org/drawingml/2006/main">
            <a:r>
              <a:t>• https://www.pbs.gov.pk/sites/default/files/population/2023/Pakistan.pdf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B2B2C value proposition. Society leaders can buy or sponsor the operating layer, while resident engagement creates value for businesses and future partners.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framing competitors as proof of a crowded market. Their presence validates the category. Mohalla's strategic wedge is combining verified membership, resident engagement, and administrative control in one network.</a:t>
            </a:r>
          </a:p>
          <a:p xmlns:a="http://schemas.openxmlformats.org/drawingml/2006/main">
            <a:r>
              <a:t/>
            </a:r>
          </a:p>
          <a:p xmlns:a="http://schemas.openxmlformats.org/drawingml/2006/main">
            <a:r>
              <a:t>Sources:</a:t>
            </a:r>
          </a:p>
          <a:p xmlns:a="http://schemas.openxmlformats.org/drawingml/2006/main">
            <a:r>
              <a:t>• https://www.manzhil.com/pakistan</a:t>
            </a:r>
          </a:p>
          <a:p xmlns:a="http://schemas.openxmlformats.org/drawingml/2006/main">
            <a:r>
              <a:t>• https://smartgate.pk/</a:t>
            </a:r>
          </a:p>
          <a:p xmlns:a="http://schemas.openxmlformats.org/drawingml/2006/main">
            <a:r>
              <a:t>• https://hsmp.pk/</a:t>
            </a:r>
          </a:p>
          <a:p xmlns:a="http://schemas.openxmlformats.org/drawingml/2006/main">
            <a:r>
              <a:t>• https://www.nizamco.com/</a:t>
            </a:r>
          </a:p>
          <a:p xmlns:a="http://schemas.openxmlformats.org/drawingml/2006/main">
            <a:r>
              <a:t>• https://kunji.pk/</a:t>
            </a:r>
          </a:p>
          <a:p xmlns:a="http://schemas.openxmlformats.org/drawingml/2006/main">
            <a:r>
              <a:t>• https://hamarisociety.pk/</a:t>
            </a:r>
          </a:p>
          <a:p xmlns:a="http://schemas.openxmlformats.org/drawingml/2006/main">
            <a:r>
              <a:t>• https://mysociety.pk/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monetize too early. First prove resident habit and admin value. Then layer society tiers, local business services, and transaction or integration revenue without compromising private resident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network effects do not become national by launching everywhere at once. Win dense communities, prove a repeatable onboarding and retention loop, then expand through adjacent societies and city clusters.</a:t>
            </a:r>
          </a:p>
          <a:p xmlns:a="http://schemas.openxmlformats.org/drawingml/2006/main">
            <a:r>
              <a:t/>
            </a:r>
          </a:p>
          <a:p xmlns:a="http://schemas.openxmlformats.org/drawingml/2006/main">
            <a:r>
              <a:t>Sources:</a:t>
            </a:r>
          </a:p>
          <a:p xmlns:a="http://schemas.openxmlformats.org/drawingml/2006/main">
            <a:r>
              <a:t>• https://www.nfx.com/post/marketplace-expansion-framework</a:t>
            </a:r>
          </a:p>
          <a:p xmlns:a="http://schemas.openxmlformats.org/drawingml/2006/main">
            <a:r>
              <a:t>• https://a16z.com/the-dynamics-of-network-effects/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local network, density—not national download count—is the leading indicator. Measure organic acquisition, retention, response rates and unit economics at the community level.</a:t>
            </a:r>
          </a:p>
          <a:p xmlns:a="http://schemas.openxmlformats.org/drawingml/2006/main">
            <a:r>
              <a:t/>
            </a:r>
          </a:p>
          <a:p xmlns:a="http://schemas.openxmlformats.org/drawingml/2006/main">
            <a:r>
              <a:t>Sources:</a:t>
            </a:r>
          </a:p>
          <a:p xmlns:a="http://schemas.openxmlformats.org/drawingml/2006/main">
            <a:r>
              <a:t>• https://a16z.com/16-ways-to-measure-network-effects/</a:t>
            </a:r>
          </a:p>
          <a:p xmlns:a="http://schemas.openxmlformats.org/drawingml/2006/main">
            <a:r>
              <a:t>• https://a16z.com/13-metrics-for-marketplace-companies/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operating scenario designed to test capacity, capital needs and milestone logic. It is deliberately not presented as current traction or a guaranteed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nationwide plan is a sequence of proven local markets. Each phase should unlock only after activation, retention and unit-economics gates are met in the previous cluster.</a:t>
            </a:r>
          </a:p>
          <a:p xmlns:a="http://schemas.openxmlformats.org/drawingml/2006/main">
            <a:r>
              <a:t/>
            </a:r>
          </a:p>
          <a:p xmlns:a="http://schemas.openxmlformats.org/drawingml/2006/main">
            <a:r>
              <a:t>Sources:</a:t>
            </a:r>
          </a:p>
          <a:p xmlns:a="http://schemas.openxmlformats.org/drawingml/2006/main">
            <a:r>
              <a:t>• https://www.nfx.com/post/marketplace-expansion-framework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Investors expect candor. The strengths are product and positioning; the weaknesses are the unproven parts of the business. The strategic answer is disciplined local pilots, trust-and-safety hardening, and staged monetization.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decision gates. The goal of a pilot is not downloads; it is household activation, retention, admin habit, organic invitations, fast safety delivery and useful marketplace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Tailor the ask to the room. Customers can sponsor pilots, partners can deepen service utility, and investors can fund the transition from a working product to a repeatable city-cluster model. Insert verified founder, traction, round-size and use-of-funds details before formal fundraising circulation.</a:t>
            </a:r>
          </a:p>
          <a:p xmlns:a="http://schemas.openxmlformats.org/drawingml/2006/main">
            <a:r>
              <a:t/>
            </a:r>
          </a:p>
          <a:p xmlns:a="http://schemas.openxmlformats.org/drawingml/2006/main">
            <a:r>
              <a:t>Sources:</a:t>
            </a:r>
          </a:p>
          <a:p xmlns:a="http://schemas.openxmlformats.org/drawingml/2006/main">
            <a:r>
              <a:t>• Narrative structure informed by https://sequoiacap.com/article/writing-a-business-plan/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human outcome: a trusted digital front door for daily neighborhood life. Invite the audience to choose the next action—pilot, partner or invest.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source list and methodology. Before external fundraising circulation, add verified founder biographies, current traction, revenue, burn, runway, round size and detailed use of funds.</a:t>
            </a:r>
          </a:p>
          <a:p xmlns:a="http://schemas.openxmlformats.org/drawingml/2006/main">
            <a:r>
              <a:t/>
            </a:r>
          </a:p>
          <a:p xmlns:a="http://schemas.openxmlformats.org/drawingml/2006/main">
            <a:r>
              <a:t>Sources:</a:t>
            </a:r>
          </a:p>
          <a:p xmlns:a="http://schemas.openxmlformats.org/drawingml/2006/main">
            <a:r>
              <a:t>• https://www.pbs.gov.pk/sites/default/files/population/2023/Pakistan.pdf</a:t>
            </a:r>
          </a:p>
          <a:p xmlns:a="http://schemas.openxmlformats.org/drawingml/2006/main">
            <a:r>
              <a:t>• https://finance.gov.pk/survey/chapter_25/15_Information_Technology.pdf</a:t>
            </a:r>
          </a:p>
          <a:p xmlns:a="http://schemas.openxmlformats.org/drawingml/2006/main">
            <a:r>
              <a:t>• https://www.sbp.org.pk/PS/PDF/Annual-Payment-Systems-Review-FY25.pdf</a:t>
            </a:r>
          </a:p>
          <a:p xmlns:a="http://schemas.openxmlformats.org/drawingml/2006/main">
            <a:r>
              <a:t>• https://journals.umt.edu.pk/index.php/JAABE/article/view/4426</a:t>
            </a:r>
          </a:p>
          <a:p xmlns:a="http://schemas.openxmlformats.org/drawingml/2006/main">
            <a:r>
              <a:t>• https://sequoiacap.com/article/writing-a-business-plan/</a:t>
            </a:r>
          </a:p>
          <a:p xmlns:a="http://schemas.openxmlformats.org/drawingml/2006/main">
            <a:r>
              <a:t>• https://a16z.com/the-dynamics-of-network-effects/</a:t>
            </a:r>
          </a:p>
          <a:p xmlns:a="http://schemas.openxmlformats.org/drawingml/2006/main">
            <a:r>
              <a:t>• https://a16z.com/13-metrics-for-marketplace-companies/</a:t>
            </a:r>
          </a:p>
          <a:p xmlns:a="http://schemas.openxmlformats.org/drawingml/2006/main">
            <a:r>
              <a:t>• https://a16z.com/16-ways-to-measure-network-effects/</a:t>
            </a:r>
          </a:p>
          <a:p xmlns:a="http://schemas.openxmlformats.org/drawingml/2006/main">
            <a:r>
              <a:t>• https://www.nfx.com/post/marketplace-expansion-framework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6d583fb44e41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6a75b97c7f4bff" /><Relationship Type="http://schemas.openxmlformats.org/officeDocument/2006/relationships/slideLayout" Target="/ppt/slideLayouts/slideLayout1.xml" Id="R20dc654d1fcf40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dc654d1fcf40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8705de6c294e72" /><Relationship Type="http://schemas.openxmlformats.org/officeDocument/2006/relationships/image" Target="/ppt/media/image.png" Id="R79a1e8e40e2c46eb" /><Relationship Type="http://schemas.openxmlformats.org/officeDocument/2006/relationships/notesSlide" Target="/ppt/notesSlides/notesSlide1.xml" Id="R5c95955ffead4b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52abd82c554a09" /><Relationship Type="http://schemas.openxmlformats.org/officeDocument/2006/relationships/notesSlide" Target="/ppt/notesSlides/notesSlide2.xml" Id="R6019c3bf3b0547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ff6a0850da4978" /><Relationship Type="http://schemas.openxmlformats.org/officeDocument/2006/relationships/image" Target="/ppt/media/image2.png" Id="R67dfb63cfaf54808" /><Relationship Type="http://schemas.openxmlformats.org/officeDocument/2006/relationships/notesSlide" Target="/ppt/notesSlides/notesSlide3.xml" Id="R7bf885f9869b48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993a8bc2bbc49de" /><Relationship Type="http://schemas.openxmlformats.org/officeDocument/2006/relationships/notesSlide" Target="/ppt/notesSlides/notesSlide4.xml" Id="R5ac3fe5c64b143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5d120dfffd467a" /><Relationship Type="http://schemas.openxmlformats.org/officeDocument/2006/relationships/image" Target="/ppt/media/image3.png" Id="R59c2ba7f1f4b4317" /><Relationship Type="http://schemas.openxmlformats.org/officeDocument/2006/relationships/image" Target="/ppt/media/image4.png" Id="Rd0e26915f07a4f6f" /><Relationship Type="http://schemas.openxmlformats.org/officeDocument/2006/relationships/notesSlide" Target="/ppt/notesSlides/notesSlide5.xml" Id="R681999e44db54e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47d9b68b6543d7" /><Relationship Type="http://schemas.openxmlformats.org/officeDocument/2006/relationships/notesSlide" Target="/ppt/notesSlides/notesSlide6.xml" Id="Rd2d357396c6041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40cc88acbb4ffe" /><Relationship Type="http://schemas.openxmlformats.org/officeDocument/2006/relationships/notesSlide" Target="/ppt/notesSlides/notesSlide7.xml" Id="R82379dfa1f0b4e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bbef5fe52945e9" /><Relationship Type="http://schemas.openxmlformats.org/officeDocument/2006/relationships/image" Target="/ppt/media/image5.png" Id="R70c7291901124534" /><Relationship Type="http://schemas.openxmlformats.org/officeDocument/2006/relationships/notesSlide" Target="/ppt/notesSlides/notesSlide8.xml" Id="R52f09661a4b449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33ad67d4a44dc8" /><Relationship Type="http://schemas.openxmlformats.org/officeDocument/2006/relationships/notesSlide" Target="/ppt/notesSlides/notesSlide9.xml" Id="Rb798753b908f45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8a949db5a343eb" /><Relationship Type="http://schemas.openxmlformats.org/officeDocument/2006/relationships/chart" Target="/ppt/slides/charts/chart1.xml" Id="Rd76e1ede08944d53" /><Relationship Type="http://schemas.openxmlformats.org/officeDocument/2006/relationships/notesSlide" Target="/ppt/notesSlides/notesSlide10.xml" Id="R1a262ac6b0e348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cda35acd4c4753" /><Relationship Type="http://schemas.openxmlformats.org/officeDocument/2006/relationships/notesSlide" Target="/ppt/notesSlides/notesSlide11.xml" Id="Re4d0a0763af74d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e322a21b0884f8f" /><Relationship Type="http://schemas.openxmlformats.org/officeDocument/2006/relationships/notesSlide" Target="/ppt/notesSlides/notesSlide12.xml" Id="Ra549491735524e1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00338cb71184935" /><Relationship Type="http://schemas.openxmlformats.org/officeDocument/2006/relationships/notesSlide" Target="/ppt/notesSlides/notesSlide13.xml" Id="R8e22d11ec4014c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d18c89f217742e8" /><Relationship Type="http://schemas.openxmlformats.org/officeDocument/2006/relationships/notesSlide" Target="/ppt/notesSlides/notesSlide14.xml" Id="R46b25e6da93d40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3aa655ed9bd4c71" /><Relationship Type="http://schemas.openxmlformats.org/officeDocument/2006/relationships/notesSlide" Target="/ppt/notesSlides/notesSlide15.xml" Id="Rfc81e55d376d42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50497a27399456e" /><Relationship Type="http://schemas.openxmlformats.org/officeDocument/2006/relationships/chart" Target="/ppt/slides/charts/chart2.xml" Id="Re551d6b7f03745a0" /><Relationship Type="http://schemas.openxmlformats.org/officeDocument/2006/relationships/notesSlide" Target="/ppt/notesSlides/notesSlide16.xml" Id="Rd9959cd5f0704b5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2412353b62d4e8e" /><Relationship Type="http://schemas.openxmlformats.org/officeDocument/2006/relationships/image" Target="/ppt/media/image6.png" Id="R4dcc48f44b884d5a" /><Relationship Type="http://schemas.openxmlformats.org/officeDocument/2006/relationships/notesSlide" Target="/ppt/notesSlides/notesSlide17.xml" Id="R195d0f16d4f84e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9adf41e24b8459f" /><Relationship Type="http://schemas.openxmlformats.org/officeDocument/2006/relationships/notesSlide" Target="/ppt/notesSlides/notesSlide18.xml" Id="R1022c779c21747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daf55b10e324471" /><Relationship Type="http://schemas.openxmlformats.org/officeDocument/2006/relationships/notesSlide" Target="/ppt/notesSlides/notesSlide19.xml" Id="Rc1f1cab5f6bf4c9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632fdc559364b1a" /><Relationship Type="http://schemas.openxmlformats.org/officeDocument/2006/relationships/notesSlide" Target="/ppt/notesSlides/notesSlide20.xml" Id="Rb48c1ed5307a464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edc4956799f49e3" /><Relationship Type="http://schemas.openxmlformats.org/officeDocument/2006/relationships/image" Target="/ppt/media/image7.png" Id="Rf9cee6abc6b140bc" /><Relationship Type="http://schemas.openxmlformats.org/officeDocument/2006/relationships/notesSlide" Target="/ppt/notesSlides/notesSlide21.xml" Id="Rd9fdf79e6e4949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a531c8d7c324b2b" /><Relationship Type="http://schemas.openxmlformats.org/officeDocument/2006/relationships/notesSlide" Target="/ppt/notesSlides/notesSlide22.xml" Id="Rd41ea592dbcf4895" /></Relationships>
</file>

<file path=ppt/slides/charts/chart1.xml><?xml version="1.0" encoding="utf-8"?>
<c:chartSpace xmlns:c="http://schemas.openxmlformats.org/drawingml/2006/chart">
  <c:lang val="en-US"/>
  <c:chart>
    <c:plotArea>
      <c:barChart>
        <c:barDir val="bar"/>
        <c:grouping val="clustered"/>
        <c:varyColors val="0"/>
        <c:ser>
          <c:idx val="0"/>
          <c:order val="0"/>
          <c:tx>
            <c:v>Urban households (millions)</c:v>
          </c:tx>
          <c:spPr>
            <a:solidFill xmlns:a="http://schemas.openxmlformats.org/drawingml/2006/main">
              <a:srgbClr val="2E6BFF"/>
            </a:solidFill>
          </c:spPr>
          <c:dPt>
            <c:idx val="0"/>
            <c:spPr>
              <a:solidFill xmlns:a="http://schemas.openxmlformats.org/drawingml/2006/main">
                <a:srgbClr val="FF6B5E"/>
              </a:solidFill>
            </c:spPr>
          </c:dPt>
          <c:dPt>
            <c:idx val="1"/>
            <c:spPr>
              <a:solidFill xmlns:a="http://schemas.openxmlformats.org/drawingml/2006/main">
                <a:srgbClr val="2E6BFF"/>
              </a:solidFill>
            </c:spPr>
          </c:dPt>
          <c:dPt>
            <c:idx val="2"/>
            <c:spPr>
              <a:solidFill xmlns:a="http://schemas.openxmlformats.org/drawingml/2006/main">
                <a:srgbClr val="D6B77A"/>
              </a:solidFill>
            </c:spPr>
          </c:dPt>
          <c:cat>
            <c:strLit>
              <c:ptCount val="3"/>
              <c:pt idx="0">
                <c:v>TAM</c:v>
              </c:pt>
              <c:pt idx="1">
                <c:v>SAM</c:v>
              </c:pt>
              <c:pt idx="2">
                <c:v>SOM</c:v>
              </c:pt>
            </c:strLit>
          </c:cat>
          <c:val>
            <c:numLit>
              <c:formatCode>General</c:formatCode>
              <c:ptCount val="3"/>
              <c:pt idx="0">
                <c:v>15</c:v>
              </c:pt>
              <c:pt idx="1">
                <c:v>3</c:v>
              </c:pt>
              <c:pt idx="2">
                <c:v>1</c:v>
              </c:pt>
            </c:numLit>
          </c:val>
        </c:ser>
        <c:dLbls>
          <c:txPr>
            <a:bodyPr xmlns:a="http://schemas.openxmlformats.org/drawingml/2006/main" anchorCtr="1"/>
            <a:lstStyle xmlns:a="http://schemas.openxmlformats.org/drawingml/2006/main"/>
            <a:p xmlns:a="http://schemas.openxmlformats.org/drawingml/2006/main">
              <a:pPr>
                <a:defRPr sz="1200" b="1">
                  <a:solidFill>
                    <a:srgbClr val="182033"/>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D8D2C8"/>
            </a:solidFill>
            <a:prstDash val="solid"/>
          </a:ln>
        </c:spPr>
        <c:txPr>
          <a:bodyPr xmlns:a="http://schemas.openxmlformats.org/drawingml/2006/main" anchorCtr="1"/>
          <a:lstStyle xmlns:a="http://schemas.openxmlformats.org/drawingml/2006/main"/>
          <a:p xmlns:a="http://schemas.openxmlformats.org/drawingml/2006/main">
            <a:pPr>
              <a:defRPr sz="1200" b="1">
                <a:solidFill>
                  <a:srgbClr val="182033"/>
                </a:solidFill>
              </a:defRPr>
            </a:pPr>
          </a:p>
        </c:txPr>
        <c:crossAx val="48650112"/>
        <c:crossBetween val="between"/>
      </c:valAx>
      <c:spPr>
        <a:solidFill xmlns:a="http://schemas.openxmlformats.org/drawingml/2006/main">
          <a:srgbClr val="F5F0E7"/>
        </a:solidFill>
        <a:ln xmlns:a="http://schemas.openxmlformats.org/drawingml/2006/main" w="0">
          <a:noFill/>
          <a:prstDash val="solid"/>
        </a:ln>
      </c:spPr>
    </c:plotArea>
    <c:plotVisOnly val="1"/>
  </c:chart>
  <c:spPr>
    <a:solidFill xmlns:a="http://schemas.openxmlformats.org/drawingml/2006/main">
      <a:srgbClr val="F5F0E7"/>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lineChart>
        <c:grouping val="standard"/>
        <c:varyColors val="0"/>
        <c:ser>
          <c:idx val="0"/>
          <c:order val="0"/>
          <c:tx>
            <c:v>Verified residents (millions)</c:v>
          </c:tx>
          <c:spPr>
            <a:ln xmlns:a="http://schemas.openxmlformats.org/drawingml/2006/main" w="38100">
              <a:solidFill>
                <a:srgbClr val="2E6BFF"/>
              </a:solidFill>
              <a:prstDash val="solid"/>
            </a:ln>
          </c:spPr>
          <c:marker>
            <c:symbol val="circle"/>
            <c:size val="9"/>
          </c:marker>
          <c:dPt>
            <c:idx val="0"/>
            <c:spPr>
              <a:solidFill xmlns:a="http://schemas.openxmlformats.org/drawingml/2006/main">
                <a:srgbClr val="FF6B5E"/>
              </a:solidFill>
            </c:spPr>
          </c:dPt>
          <c:dPt>
            <c:idx val="1"/>
            <c:spPr>
              <a:solidFill xmlns:a="http://schemas.openxmlformats.org/drawingml/2006/main">
                <a:srgbClr val="FF6B5E"/>
              </a:solidFill>
            </c:spPr>
          </c:dPt>
          <c:dPt>
            <c:idx val="2"/>
            <c:spPr>
              <a:solidFill xmlns:a="http://schemas.openxmlformats.org/drawingml/2006/main">
                <a:srgbClr val="D6B77A"/>
              </a:solidFill>
            </c:spPr>
          </c:dPt>
          <c:dPt>
            <c:idx val="3"/>
            <c:spPr>
              <a:solidFill xmlns:a="http://schemas.openxmlformats.org/drawingml/2006/main">
                <a:srgbClr val="2E6BFF"/>
              </a:solidFill>
            </c:spPr>
          </c:dPt>
          <c:dPt>
            <c:idx val="4"/>
            <c:spPr>
              <a:solidFill xmlns:a="http://schemas.openxmlformats.org/drawingml/2006/main">
                <a:srgbClr val="2E6BFF"/>
              </a:solidFill>
            </c:spPr>
          </c:dPt>
          <c:cat>
            <c:strLit>
              <c:ptCount val="5"/>
              <c:pt idx="0">
                <c:v>Y1</c:v>
              </c:pt>
              <c:pt idx="1">
                <c:v>Y2</c:v>
              </c:pt>
              <c:pt idx="2">
                <c:v>Y3</c:v>
              </c:pt>
              <c:pt idx="3">
                <c:v>Y4</c:v>
              </c:pt>
              <c:pt idx="4">
                <c:v>Y5</c:v>
              </c:pt>
            </c:strLit>
          </c:cat>
          <c:val>
            <c:numLit>
              <c:formatCode>0.0</c:formatCode>
              <c:ptCount val="5"/>
              <c:pt idx="0">
                <c:v>0.01</c:v>
              </c:pt>
              <c:pt idx="1">
                <c:v>0.06</c:v>
              </c:pt>
              <c:pt idx="2">
                <c:v>0.3</c:v>
              </c:pt>
              <c:pt idx="3">
                <c:v>1</c:v>
              </c:pt>
              <c:pt idx="4">
                <c:v>2.5</c:v>
              </c:pt>
            </c:numLit>
          </c:val>
        </c:ser>
        <c:dLbls>
          <c:txPr>
            <a:bodyPr xmlns:a="http://schemas.openxmlformats.org/drawingml/2006/main" anchorCtr="1"/>
            <a:lstStyle xmlns:a="http://schemas.openxmlformats.org/drawingml/2006/main"/>
            <a:p xmlns:a="http://schemas.openxmlformats.org/drawingml/2006/main">
              <a:pPr>
                <a:defRPr sz="975" b="1">
                  <a:solidFill>
                    <a:srgbClr val="182033"/>
                  </a:solidFill>
                </a:defRPr>
              </a:pPr>
            </a:p>
          </c:txPr>
          <c:showLegendKey val="0"/>
          <c:showVal val="1"/>
          <c:showCatName val="0"/>
          <c:showSerName val="0"/>
          <c:showPercent val="0"/>
          <c:showBubbleSize val="0"/>
          <c:showLeaderLines val="0"/>
        </c:dLbls>
        <c:smooth val="1"/>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8D2C8"/>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182033"/>
                </a:solidFill>
              </a:defRPr>
            </a:pPr>
          </a:p>
        </c:txPr>
        <c:crossAx val="48672768"/>
        <c:lblAlgn val="ctr"/>
        <c:lblOffset val="100"/>
        <c:noMultiLvlLbl val="0"/>
      </c:catAx>
      <c:valAx>
        <c:axId val="48672768"/>
        <c:scaling>
          <c:orientation val="minMax"/>
          <c:max val="2.5"/>
          <c:min val="0"/>
        </c:scaling>
        <c:delete val="0"/>
        <c:axPos val="l"/>
        <c:majorGridlines>
          <c:spPr>
            <a:ln xmlns:a="http://schemas.openxmlformats.org/drawingml/2006/main" w="9525">
              <a:solidFill>
                <a:srgbClr val="D8D2C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B6474"/>
                </a:solidFill>
              </a:defRPr>
            </a:pPr>
          </a:p>
        </c:txPr>
        <c:crossAx val="48650112"/>
        <c:crossBetween val="between"/>
        <c:majorUnit val="0.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9a1e8e40e2c46e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CDBFB2-FF9C-46B0-9266-548FC653A4E5}"/>
              </a:ext>
            </a:extLst>
          </p:cNvPr>
          <p:cNvSpPr>
            <a:spLocks xmlns:a="http://schemas.openxmlformats.org/drawingml/2006/main" noGrp="1"/>
          </p:cNvSpPr>
          <p:nvPr/>
        </p:nvSpPr>
        <p:spPr>
          <a:xfrm xmlns:a="http://schemas.openxmlformats.org/drawingml/2006/main">
            <a:off x="0" y="0"/>
            <a:ext cx="4953000" cy="6858000"/>
          </a:xfrm>
          <a:prstGeom xmlns:a="http://schemas.openxmlformats.org/drawingml/2006/main" prst="rect">
            <a:avLst/>
          </a:prstGeom>
          <a:solidFill xmlns:a="http://schemas.openxmlformats.org/drawingml/2006/main">
            <a:srgbClr val="121A2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2D5A83-EDE3-4CB6-B008-C21839FA7ED8}"/>
              </a:ext>
            </a:extLst>
          </p:cNvPr>
          <p:cNvSpPr>
            <a:spLocks xmlns:a="http://schemas.openxmlformats.org/drawingml/2006/main" noGrp="1"/>
          </p:cNvSpPr>
          <p:nvPr/>
        </p:nvSpPr>
        <p:spPr>
          <a:xfrm xmlns:a="http://schemas.openxmlformats.org/drawingml/2006/main">
            <a:off x="745808" y="672465"/>
            <a:ext cx="150019" cy="150019"/>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4" name="">
            <a:extLst xmlns:a="http://schemas.openxmlformats.org/drawingml/2006/main">
              <a:ext uri="{FF2B5EF4-FFF2-40B4-BE49-F238E27FC236}">
                <a16:creationId xmlns:a16="http://schemas.microsoft.com/office/drawing/2014/main" id="{F07D76C4-84B5-411E-8AC3-1DB33D3F65C3}"/>
              </a:ext>
            </a:extLst>
          </p:cNvPr>
          <p:cNvSpPr>
            <a:spLocks xmlns:a="http://schemas.openxmlformats.org/drawingml/2006/main" noGrp="1"/>
          </p:cNvSpPr>
          <p:nvPr/>
        </p:nvSpPr>
        <p:spPr>
          <a:xfrm xmlns:a="http://schemas.openxmlformats.org/drawingml/2006/main">
            <a:off x="895826" y="672465"/>
            <a:ext cx="150019" cy="150019"/>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5" name="">
            <a:extLst xmlns:a="http://schemas.openxmlformats.org/drawingml/2006/main">
              <a:ext uri="{FF2B5EF4-FFF2-40B4-BE49-F238E27FC236}">
                <a16:creationId xmlns:a16="http://schemas.microsoft.com/office/drawing/2014/main" id="{9D8E0AD2-F8EE-4C91-98C1-88F08187EDD0}"/>
              </a:ext>
            </a:extLst>
          </p:cNvPr>
          <p:cNvSpPr>
            <a:spLocks xmlns:a="http://schemas.openxmlformats.org/drawingml/2006/main" noGrp="1"/>
          </p:cNvSpPr>
          <p:nvPr/>
        </p:nvSpPr>
        <p:spPr>
          <a:xfrm xmlns:a="http://schemas.openxmlformats.org/drawingml/2006/main">
            <a:off x="745808" y="672465"/>
            <a:ext cx="300038" cy="0"/>
          </a:xfrm>
          <a:prstGeom xmlns:a="http://schemas.openxmlformats.org/drawingml/2006/main" prst="line">
            <a:avLst/>
          </a:prstGeom>
          <a:noFill xmlns:a="http://schemas.openxmlformats.org/drawingml/2006/main"/>
          <a:ln xmlns:a="http://schemas.openxmlformats.org/drawingml/2006/main" w="20003">
            <a:solidFill>
              <a:srgbClr val="FFFFFF"/>
            </a:solidFill>
            <a:prstDash val="solid"/>
          </a:ln>
        </p:spPr>
      </p:sp>
      <p:sp>
        <p:nvSpPr>
          <p:cNvPr id="6" name="">
            <a:extLst xmlns:a="http://schemas.openxmlformats.org/drawingml/2006/main">
              <a:ext uri="{FF2B5EF4-FFF2-40B4-BE49-F238E27FC236}">
                <a16:creationId xmlns:a16="http://schemas.microsoft.com/office/drawing/2014/main" id="{AB019B74-DEA6-4D3F-B4C6-32E600762092}"/>
              </a:ext>
            </a:extLst>
          </p:cNvPr>
          <p:cNvSpPr>
            <a:spLocks xmlns:a="http://schemas.openxmlformats.org/drawingml/2006/main" noGrp="1"/>
          </p:cNvSpPr>
          <p:nvPr/>
        </p:nvSpPr>
        <p:spPr>
          <a:xfrm xmlns:a="http://schemas.openxmlformats.org/drawingml/2006/main">
            <a:off x="685800" y="552450"/>
            <a:ext cx="120015" cy="12001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2B986BD-2E93-4492-B4C1-658AB83B3C92}"/>
              </a:ext>
            </a:extLst>
          </p:cNvPr>
          <p:cNvSpPr>
            <a:spLocks xmlns:a="http://schemas.openxmlformats.org/drawingml/2006/main" noGrp="1"/>
          </p:cNvSpPr>
          <p:nvPr/>
        </p:nvSpPr>
        <p:spPr>
          <a:xfrm xmlns:a="http://schemas.openxmlformats.org/drawingml/2006/main">
            <a:off x="835819" y="702469"/>
            <a:ext cx="120015" cy="12001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1B891B-E53A-46FB-92DD-8B2C69200A5E}"/>
              </a:ext>
            </a:extLst>
          </p:cNvPr>
          <p:cNvSpPr>
            <a:spLocks xmlns:a="http://schemas.openxmlformats.org/drawingml/2006/main" noGrp="1"/>
          </p:cNvSpPr>
          <p:nvPr/>
        </p:nvSpPr>
        <p:spPr>
          <a:xfrm xmlns:a="http://schemas.openxmlformats.org/drawingml/2006/main">
            <a:off x="985838" y="552450"/>
            <a:ext cx="120015" cy="12001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A35B34-C2B1-4579-B665-4747D333D76A}"/>
              </a:ext>
            </a:extLst>
          </p:cNvPr>
          <p:cNvSpPr>
            <a:spLocks xmlns:a="http://schemas.openxmlformats.org/drawingml/2006/main" noGrp="1"/>
          </p:cNvSpPr>
          <p:nvPr/>
        </p:nvSpPr>
        <p:spPr>
          <a:xfrm xmlns:a="http://schemas.openxmlformats.org/drawingml/2006/main">
            <a:off x="1200150" y="5048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FFFFFF"/>
                </a:solidFill>
                <a:latin typeface="Aptos Display"/>
                <a:ea typeface="Aptos Display"/>
                <a:cs typeface="Aptos Display"/>
              </a:defRPr>
            </a:pPr>
            <a:r>
              <a:rPr sz="2250" b="1" i="0">
                <a:solidFill>
                  <a:srgbClr val="FFFFFF"/>
                </a:solidFill>
                <a:latin typeface="Aptos Display"/>
                <a:ea typeface="Aptos Display"/>
                <a:cs typeface="Aptos Display"/>
              </a:rPr>
              <a:t>mohalla</a:t>
            </a:r>
          </a:p>
        </p:txBody>
      </p:sp>
      <p:sp>
        <p:nvSpPr>
          <p:cNvPr id="10" name="">
            <a:extLst xmlns:a="http://schemas.openxmlformats.org/drawingml/2006/main">
              <a:ext uri="{FF2B5EF4-FFF2-40B4-BE49-F238E27FC236}">
                <a16:creationId xmlns:a16="http://schemas.microsoft.com/office/drawing/2014/main" id="{46DF5A83-95FF-4444-B0C5-2BC6CFBA060B}"/>
              </a:ext>
            </a:extLst>
          </p:cNvPr>
          <p:cNvSpPr>
            <a:spLocks xmlns:a="http://schemas.openxmlformats.org/drawingml/2006/main" noGrp="1"/>
          </p:cNvSpPr>
          <p:nvPr/>
        </p:nvSpPr>
        <p:spPr>
          <a:xfrm xmlns:a="http://schemas.openxmlformats.org/drawingml/2006/main">
            <a:off x="685800" y="1200150"/>
            <a:ext cx="321945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1F2709-2890-44B1-A005-86BBB431D9FA}"/>
              </a:ext>
            </a:extLst>
          </p:cNvPr>
          <p:cNvSpPr>
            <a:spLocks xmlns:a="http://schemas.openxmlformats.org/drawingml/2006/main" noGrp="1"/>
          </p:cNvSpPr>
          <p:nvPr/>
        </p:nvSpPr>
        <p:spPr>
          <a:xfrm xmlns:a="http://schemas.openxmlformats.org/drawingml/2006/main">
            <a:off x="800100" y="1238250"/>
            <a:ext cx="29908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i="0">
                <a:solidFill>
                  <a:srgbClr val="121A2C"/>
                </a:solidFill>
                <a:latin typeface="Aptos Display"/>
                <a:ea typeface="Aptos Display"/>
                <a:cs typeface="Aptos Display"/>
              </a:defRPr>
            </a:pPr>
            <a:r>
              <a:rPr sz="975" b="1" i="0">
                <a:solidFill>
                  <a:srgbClr val="121A2C"/>
                </a:solidFill>
                <a:latin typeface="Aptos Display"/>
                <a:ea typeface="Aptos Display"/>
                <a:cs typeface="Aptos Display"/>
              </a:rPr>
              <a:t>INVESTOR + CUSTOMER DECK  •  JULY 2026</a:t>
            </a:r>
          </a:p>
        </p:txBody>
      </p:sp>
      <p:sp>
        <p:nvSpPr>
          <p:cNvPr id="12" name="">
            <a:extLst xmlns:a="http://schemas.openxmlformats.org/drawingml/2006/main">
              <a:ext uri="{FF2B5EF4-FFF2-40B4-BE49-F238E27FC236}">
                <a16:creationId xmlns:a16="http://schemas.microsoft.com/office/drawing/2014/main" id="{6B4FB650-2DB2-413C-8ADB-7559E99ED34F}"/>
              </a:ext>
            </a:extLst>
          </p:cNvPr>
          <p:cNvSpPr>
            <a:spLocks xmlns:a="http://schemas.openxmlformats.org/drawingml/2006/main" noGrp="1"/>
          </p:cNvSpPr>
          <p:nvPr/>
        </p:nvSpPr>
        <p:spPr>
          <a:xfrm xmlns:a="http://schemas.openxmlformats.org/drawingml/2006/main">
            <a:off x="685800" y="1952625"/>
            <a:ext cx="38100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251"/>
          </a:bodyPr>
          <a:lstStyle xmlns:a="http://schemas.openxmlformats.org/drawingml/2006/main"/>
          <a:p xmlns:a="http://schemas.openxmlformats.org/drawingml/2006/main">
            <a:pPr algn="l">
              <a:defRPr sz="4350" b="1" i="0">
                <a:solidFill>
                  <a:srgbClr val="FFFFFF"/>
                </a:solidFill>
                <a:latin typeface="Aptos Display"/>
                <a:ea typeface="Aptos Display"/>
                <a:cs typeface="Aptos Display"/>
              </a:defRPr>
            </a:pPr>
            <a:r>
              <a:rPr sz="4350" b="1" i="0">
                <a:solidFill>
                  <a:srgbClr val="FFFFFF"/>
                </a:solidFill>
                <a:latin typeface="Aptos Display"/>
                <a:ea typeface="Aptos Display"/>
                <a:cs typeface="Aptos Display"/>
              </a:rPr>
              <a:t>Pakistan’s verified</a:t>
            </a:r>
          </a:p>
          <a:p xmlns:a="http://schemas.openxmlformats.org/drawingml/2006/main">
            <a:pPr algn="l">
              <a:defRPr sz="4350" b="1" i="0">
                <a:solidFill>
                  <a:srgbClr val="FFFFFF"/>
                </a:solidFill>
                <a:latin typeface="Aptos Display"/>
                <a:ea typeface="Aptos Display"/>
                <a:cs typeface="Aptos Display"/>
              </a:defRPr>
            </a:pPr>
            <a:r>
              <a:rPr sz="4350" b="1" i="0">
                <a:solidFill>
                  <a:srgbClr val="FFFFFF"/>
                </a:solidFill>
                <a:latin typeface="Aptos Display"/>
                <a:ea typeface="Aptos Display"/>
                <a:cs typeface="Aptos Display"/>
              </a:rPr>
              <a:t>neighborhood</a:t>
            </a:r>
          </a:p>
          <a:p xmlns:a="http://schemas.openxmlformats.org/drawingml/2006/main">
            <a:pPr algn="l">
              <a:defRPr sz="4350" b="1" i="0">
                <a:solidFill>
                  <a:srgbClr val="FFFFFF"/>
                </a:solidFill>
                <a:latin typeface="Aptos Display"/>
                <a:ea typeface="Aptos Display"/>
                <a:cs typeface="Aptos Display"/>
              </a:defRPr>
            </a:pPr>
            <a:r>
              <a:rPr sz="4350" b="1" i="0">
                <a:solidFill>
                  <a:srgbClr val="FFFFFF"/>
                </a:solidFill>
                <a:latin typeface="Aptos Display"/>
                <a:ea typeface="Aptos Display"/>
                <a:cs typeface="Aptos Display"/>
              </a:rPr>
              <a:t>operating system.</a:t>
            </a:r>
          </a:p>
        </p:txBody>
      </p:sp>
      <p:sp>
        <p:nvSpPr>
          <p:cNvPr id="13" name="">
            <a:extLst xmlns:a="http://schemas.openxmlformats.org/drawingml/2006/main">
              <a:ext uri="{FF2B5EF4-FFF2-40B4-BE49-F238E27FC236}">
                <a16:creationId xmlns:a16="http://schemas.microsoft.com/office/drawing/2014/main" id="{723A424E-3451-4CB8-AF04-2E87D07A2A4F}"/>
              </a:ext>
            </a:extLst>
          </p:cNvPr>
          <p:cNvSpPr>
            <a:spLocks xmlns:a="http://schemas.openxmlformats.org/drawingml/2006/main" noGrp="1"/>
          </p:cNvSpPr>
          <p:nvPr/>
        </p:nvSpPr>
        <p:spPr>
          <a:xfrm xmlns:a="http://schemas.openxmlformats.org/drawingml/2006/main">
            <a:off x="685800" y="4695825"/>
            <a:ext cx="895350" cy="66675"/>
          </a:xfrm>
          <a:prstGeom xmlns:a="http://schemas.openxmlformats.org/drawingml/2006/main" prst="roundRect">
            <a:avLst>
              <a:gd name="adj" fmla="val 42857"/>
            </a:avLst>
          </a:prstGeom>
          <a:solidFill xmlns:a="http://schemas.openxmlformats.org/drawingml/2006/main">
            <a:srgbClr val="FF6B5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36B6FB-4112-48AD-AC6C-DDEF440B39A1}"/>
              </a:ext>
            </a:extLst>
          </p:cNvPr>
          <p:cNvSpPr>
            <a:spLocks xmlns:a="http://schemas.openxmlformats.org/drawingml/2006/main" noGrp="1"/>
          </p:cNvSpPr>
          <p:nvPr/>
        </p:nvSpPr>
        <p:spPr>
          <a:xfrm xmlns:a="http://schemas.openxmlformats.org/drawingml/2006/main">
            <a:off x="685800" y="501015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F5F0E7"/>
                </a:solidFill>
                <a:latin typeface="Aptos"/>
                <a:ea typeface="Aptos"/>
                <a:cs typeface="Aptos"/>
              </a:defRPr>
            </a:pPr>
            <a:r>
              <a:rPr sz="1800" b="0" i="0">
                <a:solidFill>
                  <a:srgbClr val="F5F0E7"/>
                </a:solidFill>
                <a:latin typeface="Aptos"/>
                <a:ea typeface="Aptos"/>
                <a:cs typeface="Aptos"/>
              </a:rPr>
              <a:t>Private communities. Public value.</a:t>
            </a:r>
          </a:p>
        </p:txBody>
      </p:sp>
      <p:sp>
        <p:nvSpPr>
          <p:cNvPr id="15" name="">
            <a:extLst xmlns:a="http://schemas.openxmlformats.org/drawingml/2006/main">
              <a:ext uri="{FF2B5EF4-FFF2-40B4-BE49-F238E27FC236}">
                <a16:creationId xmlns:a16="http://schemas.microsoft.com/office/drawing/2014/main" id="{2E611466-D0EB-4FF0-9AE1-82A3430A49F1}"/>
              </a:ext>
            </a:extLst>
          </p:cNvPr>
          <p:cNvSpPr>
            <a:spLocks xmlns:a="http://schemas.openxmlformats.org/drawingml/2006/main" noGrp="1"/>
          </p:cNvSpPr>
          <p:nvPr/>
        </p:nvSpPr>
        <p:spPr>
          <a:xfrm xmlns:a="http://schemas.openxmlformats.org/drawingml/2006/main">
            <a:off x="685800" y="62484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C7D0E1"/>
                </a:solidFill>
                <a:latin typeface="Aptos"/>
                <a:ea typeface="Aptos"/>
                <a:cs typeface="Aptos"/>
              </a:defRPr>
            </a:pPr>
            <a:r>
              <a:rPr sz="900" b="0" i="0">
                <a:solidFill>
                  <a:srgbClr val="C7D0E1"/>
                </a:solidFill>
                <a:latin typeface="Aptos"/>
                <a:ea typeface="Aptos"/>
                <a:cs typeface="Aptos"/>
              </a:rPr>
              <a:t>Illustrative planning scenario • no current traction or financial claims</a:t>
            </a:r>
          </a:p>
        </p:txBody>
      </p:sp>
    </p:spTree>
    <p:extLst>
      <p:ext uri="{BB962C8B-B14F-4D97-AF65-F5344CB8AC3E}">
        <p14:creationId xmlns:p14="http://schemas.microsoft.com/office/powerpoint/2010/main" val="638618699"/>
      </p:ext>
    </p:extLst>
  </p:cSld>
  <p:transition spd="fast" advClick="1">
    <p:fade/>
  </p:transition>
</p:sld>
</file>

<file path=ppt/slides/slide2.xml><?xml version="1.0" encoding="utf-8"?>
<p:sld xmlns:p="http://schemas.openxmlformats.org/presentationml/2006/main">
  <p:cSld>
    <p:bg>
      <p:bgPr>
        <a:solidFill xmlns:a="http://schemas.openxmlformats.org/drawingml/2006/main">
          <a:srgbClr val="121A2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9389B91-C23B-4683-AF56-A6B9FCE31FD4}"/>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THE THESIS</a:t>
            </a:r>
          </a:p>
        </p:txBody>
      </p:sp>
      <p:sp>
        <p:nvSpPr>
          <p:cNvPr id="2" name="">
            <a:extLst xmlns:a="http://schemas.openxmlformats.org/drawingml/2006/main">
              <a:ext uri="{FF2B5EF4-FFF2-40B4-BE49-F238E27FC236}">
                <a16:creationId xmlns:a16="http://schemas.microsoft.com/office/drawing/2014/main" id="{9116186A-5909-474B-914A-28258D4B1B9A}"/>
              </a:ext>
            </a:extLst>
          </p:cNvPr>
          <p:cNvSpPr>
            <a:spLocks xmlns:a="http://schemas.openxmlformats.org/drawingml/2006/main" noGrp="1"/>
          </p:cNvSpPr>
          <p:nvPr/>
        </p:nvSpPr>
        <p:spPr>
          <a:xfrm xmlns:a="http://schemas.openxmlformats.org/drawingml/2006/main">
            <a:off x="685800" y="1009650"/>
            <a:ext cx="108204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l">
              <a:defRPr sz="4800" b="1" i="0">
                <a:solidFill>
                  <a:srgbClr val="FFFFFF"/>
                </a:solidFill>
                <a:latin typeface="Aptos Display"/>
                <a:ea typeface="Aptos Display"/>
                <a:cs typeface="Aptos Display"/>
              </a:defRPr>
            </a:pPr>
            <a:r>
              <a:rPr sz="4800" b="1" i="0">
                <a:solidFill>
                  <a:srgbClr val="FFFFFF"/>
                </a:solidFill>
                <a:latin typeface="Aptos Display"/>
                <a:ea typeface="Aptos Display"/>
                <a:cs typeface="Aptos Display"/>
              </a:rPr>
              <a:t>Pakistan is digitally connected.</a:t>
            </a:r>
          </a:p>
          <a:p xmlns:a="http://schemas.openxmlformats.org/drawingml/2006/main">
            <a:pPr algn="l">
              <a:defRPr sz="4800" b="1" i="0">
                <a:solidFill>
                  <a:srgbClr val="FFFFFF"/>
                </a:solidFill>
                <a:latin typeface="Aptos Display"/>
                <a:ea typeface="Aptos Display"/>
                <a:cs typeface="Aptos Display"/>
              </a:defRPr>
            </a:pPr>
            <a:r>
              <a:rPr sz="4800" b="1" i="0">
                <a:solidFill>
                  <a:srgbClr val="FFFFFF"/>
                </a:solidFill>
                <a:latin typeface="Aptos Display"/>
                <a:ea typeface="Aptos Display"/>
                <a:cs typeface="Aptos Display"/>
              </a:rPr>
              <a:t>Neighborhoods are not.</a:t>
            </a:r>
          </a:p>
        </p:txBody>
      </p:sp>
      <p:sp>
        <p:nvSpPr>
          <p:cNvPr id="3" name="">
            <a:extLst xmlns:a="http://schemas.openxmlformats.org/drawingml/2006/main">
              <a:ext uri="{FF2B5EF4-FFF2-40B4-BE49-F238E27FC236}">
                <a16:creationId xmlns:a16="http://schemas.microsoft.com/office/drawing/2014/main" id="{3D168BD4-ED22-4C35-A260-863BBB05AED5}"/>
              </a:ext>
            </a:extLst>
          </p:cNvPr>
          <p:cNvSpPr>
            <a:spLocks xmlns:a="http://schemas.openxmlformats.org/drawingml/2006/main" noGrp="1"/>
          </p:cNvSpPr>
          <p:nvPr/>
        </p:nvSpPr>
        <p:spPr>
          <a:xfrm xmlns:a="http://schemas.openxmlformats.org/drawingml/2006/main">
            <a:off x="704850" y="2686050"/>
            <a:ext cx="914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i="0">
                <a:solidFill>
                  <a:srgbClr val="C7D0E1"/>
                </a:solidFill>
                <a:latin typeface="Aptos"/>
                <a:ea typeface="Aptos"/>
                <a:cs typeface="Aptos"/>
              </a:defRPr>
            </a:pPr>
            <a:r>
              <a:rPr sz="1950" b="0" i="0">
                <a:solidFill>
                  <a:srgbClr val="C7D0E1"/>
                </a:solidFill>
                <a:latin typeface="Aptos"/>
                <a:ea typeface="Aptos"/>
                <a:cs typeface="Aptos"/>
              </a:rPr>
              <a:t>The infrastructure exists. The trusted local operating layer does not.</a:t>
            </a:r>
          </a:p>
        </p:txBody>
      </p:sp>
      <p:sp>
        <p:nvSpPr>
          <p:cNvPr id="4" name="">
            <a:extLst xmlns:a="http://schemas.openxmlformats.org/drawingml/2006/main">
              <a:ext uri="{FF2B5EF4-FFF2-40B4-BE49-F238E27FC236}">
                <a16:creationId xmlns:a16="http://schemas.microsoft.com/office/drawing/2014/main" id="{61123C7E-9347-496F-9ECC-712208CA42DC}"/>
              </a:ext>
            </a:extLst>
          </p:cNvPr>
          <p:cNvSpPr>
            <a:spLocks xmlns:a="http://schemas.openxmlformats.org/drawingml/2006/main" noGrp="1"/>
          </p:cNvSpPr>
          <p:nvPr/>
        </p:nvSpPr>
        <p:spPr>
          <a:xfrm xmlns:a="http://schemas.openxmlformats.org/drawingml/2006/main">
            <a:off x="685800" y="36195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i="0">
                <a:solidFill>
                  <a:srgbClr val="5BBDE1"/>
                </a:solidFill>
                <a:latin typeface="Aptos Display"/>
                <a:ea typeface="Aptos Display"/>
                <a:cs typeface="Aptos Display"/>
              </a:defRPr>
            </a:pPr>
            <a:r>
              <a:rPr sz="4500" b="1" i="0">
                <a:solidFill>
                  <a:srgbClr val="5BBDE1"/>
                </a:solidFill>
                <a:latin typeface="Aptos Display"/>
                <a:ea typeface="Aptos Display"/>
                <a:cs typeface="Aptos Display"/>
              </a:rPr>
              <a:t>147.2m</a:t>
            </a:r>
          </a:p>
        </p:txBody>
      </p:sp>
      <p:sp>
        <p:nvSpPr>
          <p:cNvPr id="5" name="">
            <a:extLst xmlns:a="http://schemas.openxmlformats.org/drawingml/2006/main">
              <a:ext uri="{FF2B5EF4-FFF2-40B4-BE49-F238E27FC236}">
                <a16:creationId xmlns:a16="http://schemas.microsoft.com/office/drawing/2014/main" id="{506DCDD7-A3A6-4C35-90A2-B8A5CD55E2B4}"/>
              </a:ext>
            </a:extLst>
          </p:cNvPr>
          <p:cNvSpPr>
            <a:spLocks xmlns:a="http://schemas.openxmlformats.org/drawingml/2006/main" noGrp="1"/>
          </p:cNvSpPr>
          <p:nvPr/>
        </p:nvSpPr>
        <p:spPr>
          <a:xfrm xmlns:a="http://schemas.openxmlformats.org/drawingml/2006/main">
            <a:off x="685800" y="45243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FFFFF"/>
                </a:solidFill>
                <a:latin typeface="Aptos Display"/>
                <a:ea typeface="Aptos Display"/>
                <a:cs typeface="Aptos Display"/>
              </a:defRPr>
            </a:pPr>
            <a:r>
              <a:rPr sz="1650" b="1" i="0">
                <a:solidFill>
                  <a:srgbClr val="FFFFFF"/>
                </a:solidFill>
                <a:latin typeface="Aptos Display"/>
                <a:ea typeface="Aptos Display"/>
                <a:cs typeface="Aptos Display"/>
              </a:rPr>
              <a:t>broadband subscribers</a:t>
            </a:r>
          </a:p>
        </p:txBody>
      </p:sp>
      <p:sp>
        <p:nvSpPr>
          <p:cNvPr id="6" name="">
            <a:extLst xmlns:a="http://schemas.openxmlformats.org/drawingml/2006/main">
              <a:ext uri="{FF2B5EF4-FFF2-40B4-BE49-F238E27FC236}">
                <a16:creationId xmlns:a16="http://schemas.microsoft.com/office/drawing/2014/main" id="{EA187BF6-9A5A-4219-A534-83BE5B4D12A9}"/>
              </a:ext>
            </a:extLst>
          </p:cNvPr>
          <p:cNvSpPr>
            <a:spLocks xmlns:a="http://schemas.openxmlformats.org/drawingml/2006/main" noGrp="1"/>
          </p:cNvSpPr>
          <p:nvPr/>
        </p:nvSpPr>
        <p:spPr>
          <a:xfrm xmlns:a="http://schemas.openxmlformats.org/drawingml/2006/main">
            <a:off x="685800" y="50101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9EABC1"/>
                </a:solidFill>
                <a:latin typeface="Aptos"/>
                <a:ea typeface="Aptos"/>
                <a:cs typeface="Aptos"/>
              </a:defRPr>
            </a:pPr>
            <a:r>
              <a:rPr sz="1125" b="0" i="0">
                <a:solidFill>
                  <a:srgbClr val="9EABC1"/>
                </a:solidFill>
                <a:latin typeface="Aptos"/>
                <a:ea typeface="Aptos"/>
                <a:cs typeface="Aptos"/>
              </a:rPr>
              <a:t>March 2025</a:t>
            </a:r>
          </a:p>
        </p:txBody>
      </p:sp>
      <p:sp>
        <p:nvSpPr>
          <p:cNvPr id="7" name="">
            <a:extLst xmlns:a="http://schemas.openxmlformats.org/drawingml/2006/main">
              <a:ext uri="{FF2B5EF4-FFF2-40B4-BE49-F238E27FC236}">
                <a16:creationId xmlns:a16="http://schemas.microsoft.com/office/drawing/2014/main" id="{C13FAC85-EDC8-496B-801F-6F8A8212D815}"/>
              </a:ext>
            </a:extLst>
          </p:cNvPr>
          <p:cNvSpPr>
            <a:spLocks xmlns:a="http://schemas.openxmlformats.org/drawingml/2006/main" noGrp="1"/>
          </p:cNvSpPr>
          <p:nvPr/>
        </p:nvSpPr>
        <p:spPr>
          <a:xfrm xmlns:a="http://schemas.openxmlformats.org/drawingml/2006/main">
            <a:off x="4076700" y="3714750"/>
            <a:ext cx="0" cy="1666875"/>
          </a:xfrm>
          <a:prstGeom xmlns:a="http://schemas.openxmlformats.org/drawingml/2006/main" prst="line">
            <a:avLst/>
          </a:prstGeom>
          <a:noFill xmlns:a="http://schemas.openxmlformats.org/drawingml/2006/main"/>
          <a:ln xmlns:a="http://schemas.openxmlformats.org/drawingml/2006/main" w="19050">
            <a:solidFill>
              <a:srgbClr val="26334E"/>
            </a:solidFill>
            <a:prstDash val="solid"/>
          </a:ln>
        </p:spPr>
      </p:sp>
      <p:sp>
        <p:nvSpPr>
          <p:cNvPr id="8" name="">
            <a:extLst xmlns:a="http://schemas.openxmlformats.org/drawingml/2006/main">
              <a:ext uri="{FF2B5EF4-FFF2-40B4-BE49-F238E27FC236}">
                <a16:creationId xmlns:a16="http://schemas.microsoft.com/office/drawing/2014/main" id="{BA6B9D4E-8565-422B-B2D9-D7B4EA7C611F}"/>
              </a:ext>
            </a:extLst>
          </p:cNvPr>
          <p:cNvSpPr>
            <a:spLocks xmlns:a="http://schemas.openxmlformats.org/drawingml/2006/main" noGrp="1"/>
          </p:cNvSpPr>
          <p:nvPr/>
        </p:nvSpPr>
        <p:spPr>
          <a:xfrm xmlns:a="http://schemas.openxmlformats.org/drawingml/2006/main">
            <a:off x="4324350" y="36195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i="0">
                <a:solidFill>
                  <a:srgbClr val="FF6B5E"/>
                </a:solidFill>
                <a:latin typeface="Aptos Display"/>
                <a:ea typeface="Aptos Display"/>
                <a:cs typeface="Aptos Display"/>
              </a:defRPr>
            </a:pPr>
            <a:r>
              <a:rPr sz="4500" b="1" i="0">
                <a:solidFill>
                  <a:srgbClr val="FF6B5E"/>
                </a:solidFill>
                <a:latin typeface="Aptos Display"/>
                <a:ea typeface="Aptos Display"/>
                <a:cs typeface="Aptos Display"/>
              </a:rPr>
              <a:t>93.8m</a:t>
            </a:r>
          </a:p>
        </p:txBody>
      </p:sp>
      <p:sp>
        <p:nvSpPr>
          <p:cNvPr id="9" name="">
            <a:extLst xmlns:a="http://schemas.openxmlformats.org/drawingml/2006/main">
              <a:ext uri="{FF2B5EF4-FFF2-40B4-BE49-F238E27FC236}">
                <a16:creationId xmlns:a16="http://schemas.microsoft.com/office/drawing/2014/main" id="{DDE0A122-BCF5-433E-9639-B885AFF61C92}"/>
              </a:ext>
            </a:extLst>
          </p:cNvPr>
          <p:cNvSpPr>
            <a:spLocks xmlns:a="http://schemas.openxmlformats.org/drawingml/2006/main" noGrp="1"/>
          </p:cNvSpPr>
          <p:nvPr/>
        </p:nvSpPr>
        <p:spPr>
          <a:xfrm xmlns:a="http://schemas.openxmlformats.org/drawingml/2006/main">
            <a:off x="4324350" y="45243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FFFFF"/>
                </a:solidFill>
                <a:latin typeface="Aptos Display"/>
                <a:ea typeface="Aptos Display"/>
                <a:cs typeface="Aptos Display"/>
              </a:defRPr>
            </a:pPr>
            <a:r>
              <a:rPr sz="1650" b="1" i="0">
                <a:solidFill>
                  <a:srgbClr val="FFFFFF"/>
                </a:solidFill>
                <a:latin typeface="Aptos Display"/>
                <a:ea typeface="Aptos Display"/>
                <a:cs typeface="Aptos Display"/>
              </a:rPr>
              <a:t>urban residents</a:t>
            </a:r>
          </a:p>
        </p:txBody>
      </p:sp>
      <p:sp>
        <p:nvSpPr>
          <p:cNvPr id="10" name="">
            <a:extLst xmlns:a="http://schemas.openxmlformats.org/drawingml/2006/main">
              <a:ext uri="{FF2B5EF4-FFF2-40B4-BE49-F238E27FC236}">
                <a16:creationId xmlns:a16="http://schemas.microsoft.com/office/drawing/2014/main" id="{AA11D4AC-D46D-4FCA-BCCC-E4C5E05E1830}"/>
              </a:ext>
            </a:extLst>
          </p:cNvPr>
          <p:cNvSpPr>
            <a:spLocks xmlns:a="http://schemas.openxmlformats.org/drawingml/2006/main" noGrp="1"/>
          </p:cNvSpPr>
          <p:nvPr/>
        </p:nvSpPr>
        <p:spPr>
          <a:xfrm xmlns:a="http://schemas.openxmlformats.org/drawingml/2006/main">
            <a:off x="4324350" y="50101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9EABC1"/>
                </a:solidFill>
                <a:latin typeface="Aptos"/>
                <a:ea typeface="Aptos"/>
                <a:cs typeface="Aptos"/>
              </a:defRPr>
            </a:pPr>
            <a:r>
              <a:rPr sz="1125" b="0" i="0">
                <a:solidFill>
                  <a:srgbClr val="9EABC1"/>
                </a:solidFill>
                <a:latin typeface="Aptos"/>
                <a:ea typeface="Aptos"/>
                <a:cs typeface="Aptos"/>
              </a:rPr>
              <a:t>2023 census</a:t>
            </a:r>
          </a:p>
        </p:txBody>
      </p:sp>
      <p:sp>
        <p:nvSpPr>
          <p:cNvPr id="11" name="">
            <a:extLst xmlns:a="http://schemas.openxmlformats.org/drawingml/2006/main">
              <a:ext uri="{FF2B5EF4-FFF2-40B4-BE49-F238E27FC236}">
                <a16:creationId xmlns:a16="http://schemas.microsoft.com/office/drawing/2014/main" id="{E8FEED1A-807F-4DA4-BBD7-2CB7F2705EAE}"/>
              </a:ext>
            </a:extLst>
          </p:cNvPr>
          <p:cNvSpPr>
            <a:spLocks xmlns:a="http://schemas.openxmlformats.org/drawingml/2006/main" noGrp="1"/>
          </p:cNvSpPr>
          <p:nvPr/>
        </p:nvSpPr>
        <p:spPr>
          <a:xfrm xmlns:a="http://schemas.openxmlformats.org/drawingml/2006/main">
            <a:off x="7715250" y="3714750"/>
            <a:ext cx="0" cy="1666875"/>
          </a:xfrm>
          <a:prstGeom xmlns:a="http://schemas.openxmlformats.org/drawingml/2006/main" prst="line">
            <a:avLst/>
          </a:prstGeom>
          <a:noFill xmlns:a="http://schemas.openxmlformats.org/drawingml/2006/main"/>
          <a:ln xmlns:a="http://schemas.openxmlformats.org/drawingml/2006/main" w="19050">
            <a:solidFill>
              <a:srgbClr val="26334E"/>
            </a:solidFill>
            <a:prstDash val="solid"/>
          </a:ln>
        </p:spPr>
      </p:sp>
      <p:sp>
        <p:nvSpPr>
          <p:cNvPr id="12" name="">
            <a:extLst xmlns:a="http://schemas.openxmlformats.org/drawingml/2006/main">
              <a:ext uri="{FF2B5EF4-FFF2-40B4-BE49-F238E27FC236}">
                <a16:creationId xmlns:a16="http://schemas.microsoft.com/office/drawing/2014/main" id="{0A4418B8-56EA-4BF4-BB4F-28D26F9AF73F}"/>
              </a:ext>
            </a:extLst>
          </p:cNvPr>
          <p:cNvSpPr>
            <a:spLocks xmlns:a="http://schemas.openxmlformats.org/drawingml/2006/main" noGrp="1"/>
          </p:cNvSpPr>
          <p:nvPr/>
        </p:nvSpPr>
        <p:spPr>
          <a:xfrm xmlns:a="http://schemas.openxmlformats.org/drawingml/2006/main">
            <a:off x="7962900" y="36195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00" b="1" i="0">
                <a:solidFill>
                  <a:srgbClr val="D6B77A"/>
                </a:solidFill>
                <a:latin typeface="Aptos Display"/>
                <a:ea typeface="Aptos Display"/>
                <a:cs typeface="Aptos Display"/>
              </a:defRPr>
            </a:pPr>
            <a:r>
              <a:rPr sz="4500" b="1" i="0">
                <a:solidFill>
                  <a:srgbClr val="D6B77A"/>
                </a:solidFill>
                <a:latin typeface="Aptos Display"/>
                <a:ea typeface="Aptos Display"/>
                <a:cs typeface="Aptos Display"/>
              </a:rPr>
              <a:t>15.0m</a:t>
            </a:r>
          </a:p>
        </p:txBody>
      </p:sp>
      <p:sp>
        <p:nvSpPr>
          <p:cNvPr id="13" name="">
            <a:extLst xmlns:a="http://schemas.openxmlformats.org/drawingml/2006/main">
              <a:ext uri="{FF2B5EF4-FFF2-40B4-BE49-F238E27FC236}">
                <a16:creationId xmlns:a16="http://schemas.microsoft.com/office/drawing/2014/main" id="{588E9B32-9FE5-491A-9578-F217D6A7B541}"/>
              </a:ext>
            </a:extLst>
          </p:cNvPr>
          <p:cNvSpPr>
            <a:spLocks xmlns:a="http://schemas.openxmlformats.org/drawingml/2006/main" noGrp="1"/>
          </p:cNvSpPr>
          <p:nvPr/>
        </p:nvSpPr>
        <p:spPr>
          <a:xfrm xmlns:a="http://schemas.openxmlformats.org/drawingml/2006/main">
            <a:off x="7962900" y="45243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FFFFF"/>
                </a:solidFill>
                <a:latin typeface="Aptos Display"/>
                <a:ea typeface="Aptos Display"/>
                <a:cs typeface="Aptos Display"/>
              </a:defRPr>
            </a:pPr>
            <a:r>
              <a:rPr sz="1650" b="1" i="0">
                <a:solidFill>
                  <a:srgbClr val="FFFFFF"/>
                </a:solidFill>
                <a:latin typeface="Aptos Display"/>
                <a:ea typeface="Aptos Display"/>
                <a:cs typeface="Aptos Display"/>
              </a:rPr>
              <a:t>urban households</a:t>
            </a:r>
          </a:p>
        </p:txBody>
      </p:sp>
      <p:sp>
        <p:nvSpPr>
          <p:cNvPr id="14" name="">
            <a:extLst xmlns:a="http://schemas.openxmlformats.org/drawingml/2006/main">
              <a:ext uri="{FF2B5EF4-FFF2-40B4-BE49-F238E27FC236}">
                <a16:creationId xmlns:a16="http://schemas.microsoft.com/office/drawing/2014/main" id="{1B8D660F-EC99-4DC8-B6CE-EA1B39B386AB}"/>
              </a:ext>
            </a:extLst>
          </p:cNvPr>
          <p:cNvSpPr>
            <a:spLocks xmlns:a="http://schemas.openxmlformats.org/drawingml/2006/main" noGrp="1"/>
          </p:cNvSpPr>
          <p:nvPr/>
        </p:nvSpPr>
        <p:spPr>
          <a:xfrm xmlns:a="http://schemas.openxmlformats.org/drawingml/2006/main">
            <a:off x="7962900" y="50101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9EABC1"/>
                </a:solidFill>
                <a:latin typeface="Aptos"/>
                <a:ea typeface="Aptos"/>
                <a:cs typeface="Aptos"/>
              </a:defRPr>
            </a:pPr>
            <a:r>
              <a:rPr sz="1125" b="0" i="0">
                <a:solidFill>
                  <a:srgbClr val="9EABC1"/>
                </a:solidFill>
                <a:latin typeface="Aptos"/>
                <a:ea typeface="Aptos"/>
                <a:cs typeface="Aptos"/>
              </a:rPr>
              <a:t>2023 census</a:t>
            </a:r>
          </a:p>
        </p:txBody>
      </p:sp>
      <p:sp>
        <p:nvSpPr>
          <p:cNvPr id="15" name="">
            <a:extLst xmlns:a="http://schemas.openxmlformats.org/drawingml/2006/main">
              <a:ext uri="{FF2B5EF4-FFF2-40B4-BE49-F238E27FC236}">
                <a16:creationId xmlns:a16="http://schemas.microsoft.com/office/drawing/2014/main" id="{47CF4144-6313-4EB4-97B3-939345B1B569}"/>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C7D0E1"/>
                </a:solidFill>
                <a:latin typeface="Aptos"/>
                <a:ea typeface="Aptos"/>
                <a:cs typeface="Aptos"/>
              </a:defRPr>
            </a:pPr>
            <a:r>
              <a:rPr sz="825" b="0" i="0">
                <a:solidFill>
                  <a:srgbClr val="C7D0E1"/>
                </a:solidFill>
                <a:latin typeface="Aptos"/>
                <a:ea typeface="Aptos"/>
                <a:cs typeface="Aptos"/>
              </a:rPr>
              <a:t>Sources: Pakistan Economic Survey 2024–25; Pakistan Bureau of Statistics, Census 2023.</a:t>
            </a:r>
          </a:p>
        </p:txBody>
      </p:sp>
      <p:sp>
        <p:nvSpPr>
          <p:cNvPr id="16" name="">
            <a:extLst xmlns:a="http://schemas.openxmlformats.org/drawingml/2006/main">
              <a:ext uri="{FF2B5EF4-FFF2-40B4-BE49-F238E27FC236}">
                <a16:creationId xmlns:a16="http://schemas.microsoft.com/office/drawing/2014/main" id="{0F529B9D-5511-41F1-AED8-D3680DF8D672}"/>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FFFFFF"/>
                </a:solidFill>
                <a:latin typeface="Aptos Display"/>
                <a:ea typeface="Aptos Display"/>
                <a:cs typeface="Aptos Display"/>
              </a:defRPr>
            </a:pPr>
            <a:r>
              <a:rPr sz="900" b="1" i="0">
                <a:solidFill>
                  <a:srgbClr val="FFFFFF"/>
                </a:solidFill>
                <a:latin typeface="Aptos Display"/>
                <a:ea typeface="Aptos Display"/>
                <a:cs typeface="Aptos Display"/>
              </a:rPr>
              <a:t>02</a:t>
            </a:r>
          </a:p>
        </p:txBody>
      </p:sp>
    </p:spTree>
    <p:extLst>
      <p:ext uri="{BB962C8B-B14F-4D97-AF65-F5344CB8AC3E}">
        <p14:creationId xmlns:p14="http://schemas.microsoft.com/office/powerpoint/2010/main" val="2108732091"/>
      </p:ext>
    </p:extLst>
  </p:cSld>
  <p:transition spd="fast" advClick="1">
    <p:fade/>
  </p:transition>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7dfb63cfaf5480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455E771-F9C8-43A7-A70F-C27DCF95E4CF}"/>
              </a:ext>
            </a:extLst>
          </p:cNvPr>
          <p:cNvSpPr>
            <a:spLocks xmlns:a="http://schemas.openxmlformats.org/drawingml/2006/main" noGrp="1"/>
          </p:cNvSpPr>
          <p:nvPr/>
        </p:nvSpPr>
        <p:spPr>
          <a:xfrm xmlns:a="http://schemas.openxmlformats.org/drawingml/2006/main">
            <a:off x="0" y="0"/>
            <a:ext cx="5029200" cy="6858000"/>
          </a:xfrm>
          <a:prstGeom xmlns:a="http://schemas.openxmlformats.org/drawingml/2006/main" prst="rect">
            <a:avLst/>
          </a:prstGeom>
          <a:solidFill xmlns:a="http://schemas.openxmlformats.org/drawingml/2006/main">
            <a:srgbClr val="121A2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1FE24E8-0E41-4B8D-A712-12350EA73592}"/>
              </a:ext>
            </a:extLst>
          </p:cNvPr>
          <p:cNvSpPr>
            <a:spLocks xmlns:a="http://schemas.openxmlformats.org/drawingml/2006/main" noGrp="1"/>
          </p:cNvSpPr>
          <p:nvPr/>
        </p:nvSpPr>
        <p:spPr>
          <a:xfrm xmlns:a="http://schemas.openxmlformats.org/drawingml/2006/main">
            <a:off x="685800" y="4191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THE DAILY REALITY</a:t>
            </a:r>
          </a:p>
        </p:txBody>
      </p:sp>
      <p:sp>
        <p:nvSpPr>
          <p:cNvPr id="4" name="">
            <a:extLst xmlns:a="http://schemas.openxmlformats.org/drawingml/2006/main">
              <a:ext uri="{FF2B5EF4-FFF2-40B4-BE49-F238E27FC236}">
                <a16:creationId xmlns:a16="http://schemas.microsoft.com/office/drawing/2014/main" id="{C3B317EC-E378-43C7-AFD2-09B3C7E851E9}"/>
              </a:ext>
            </a:extLst>
          </p:cNvPr>
          <p:cNvSpPr>
            <a:spLocks xmlns:a="http://schemas.openxmlformats.org/drawingml/2006/main" noGrp="1"/>
          </p:cNvSpPr>
          <p:nvPr/>
        </p:nvSpPr>
        <p:spPr>
          <a:xfrm xmlns:a="http://schemas.openxmlformats.org/drawingml/2006/main">
            <a:off x="685800" y="885825"/>
            <a:ext cx="37338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647"/>
          </a:bodyPr>
          <a:lstStyle xmlns:a="http://schemas.openxmlformats.org/drawingml/2006/main"/>
          <a:p xmlns:a="http://schemas.openxmlformats.org/drawingml/2006/main">
            <a:pPr algn="l">
              <a:defRPr sz="3450" b="1" i="0">
                <a:solidFill>
                  <a:srgbClr val="FFFFFF"/>
                </a:solidFill>
                <a:latin typeface="Aptos Display"/>
                <a:ea typeface="Aptos Display"/>
                <a:cs typeface="Aptos Display"/>
              </a:defRPr>
            </a:pPr>
            <a:r>
              <a:rPr sz="3450" b="1" i="0">
                <a:solidFill>
                  <a:srgbClr val="FFFFFF"/>
                </a:solidFill>
                <a:latin typeface="Aptos Display"/>
                <a:ea typeface="Aptos Display"/>
                <a:cs typeface="Aptos Display"/>
              </a:rPr>
              <a:t>A gated society is</a:t>
            </a:r>
          </a:p>
          <a:p xmlns:a="http://schemas.openxmlformats.org/drawingml/2006/main">
            <a:pPr algn="l">
              <a:defRPr sz="3450" b="1" i="0">
                <a:solidFill>
                  <a:srgbClr val="FFFFFF"/>
                </a:solidFill>
                <a:latin typeface="Aptos Display"/>
                <a:ea typeface="Aptos Display"/>
                <a:cs typeface="Aptos Display"/>
              </a:defRPr>
            </a:pPr>
            <a:r>
              <a:rPr sz="3450" b="1" i="0">
                <a:solidFill>
                  <a:srgbClr val="FFFFFF"/>
                </a:solidFill>
                <a:latin typeface="Aptos Display"/>
                <a:ea typeface="Aptos Display"/>
                <a:cs typeface="Aptos Display"/>
              </a:rPr>
              <a:t>physically organized—</a:t>
            </a:r>
          </a:p>
          <a:p xmlns:a="http://schemas.openxmlformats.org/drawingml/2006/main">
            <a:pPr algn="l">
              <a:defRPr sz="3450" b="1" i="0">
                <a:solidFill>
                  <a:srgbClr val="FFFFFF"/>
                </a:solidFill>
                <a:latin typeface="Aptos Display"/>
                <a:ea typeface="Aptos Display"/>
                <a:cs typeface="Aptos Display"/>
              </a:defRPr>
            </a:pPr>
            <a:r>
              <a:rPr sz="3450" b="1" i="0">
                <a:solidFill>
                  <a:srgbClr val="FFFFFF"/>
                </a:solidFill>
                <a:latin typeface="Aptos Display"/>
                <a:ea typeface="Aptos Display"/>
                <a:cs typeface="Aptos Display"/>
              </a:rPr>
              <a:t>and digitally chaotic.</a:t>
            </a:r>
          </a:p>
        </p:txBody>
      </p:sp>
      <p:sp>
        <p:nvSpPr>
          <p:cNvPr id="5" name="">
            <a:extLst xmlns:a="http://schemas.openxmlformats.org/drawingml/2006/main">
              <a:ext uri="{FF2B5EF4-FFF2-40B4-BE49-F238E27FC236}">
                <a16:creationId xmlns:a16="http://schemas.microsoft.com/office/drawing/2014/main" id="{28822712-5783-49A7-BC06-72DD1A799199}"/>
              </a:ext>
            </a:extLst>
          </p:cNvPr>
          <p:cNvSpPr>
            <a:spLocks xmlns:a="http://schemas.openxmlformats.org/drawingml/2006/main" noGrp="1"/>
          </p:cNvSpPr>
          <p:nvPr/>
        </p:nvSpPr>
        <p:spPr>
          <a:xfrm xmlns:a="http://schemas.openxmlformats.org/drawingml/2006/main">
            <a:off x="685800" y="293370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URGENT</a:t>
            </a:r>
          </a:p>
        </p:txBody>
      </p:sp>
      <p:sp>
        <p:nvSpPr>
          <p:cNvPr id="6" name="">
            <a:extLst xmlns:a="http://schemas.openxmlformats.org/drawingml/2006/main">
              <a:ext uri="{FF2B5EF4-FFF2-40B4-BE49-F238E27FC236}">
                <a16:creationId xmlns:a16="http://schemas.microsoft.com/office/drawing/2014/main" id="{7A101CF0-6F5F-4073-8B9D-B9B920E5FAFA}"/>
              </a:ext>
            </a:extLst>
          </p:cNvPr>
          <p:cNvSpPr>
            <a:spLocks xmlns:a="http://schemas.openxmlformats.org/drawingml/2006/main" noGrp="1"/>
          </p:cNvSpPr>
          <p:nvPr/>
        </p:nvSpPr>
        <p:spPr>
          <a:xfrm xmlns:a="http://schemas.openxmlformats.org/drawingml/2006/main">
            <a:off x="685800" y="3200400"/>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FFFFFF"/>
                </a:solidFill>
                <a:latin typeface="Aptos Display"/>
                <a:ea typeface="Aptos Display"/>
                <a:cs typeface="Aptos Display"/>
              </a:defRPr>
            </a:pPr>
            <a:r>
              <a:rPr sz="1575" b="1" i="0">
                <a:solidFill>
                  <a:srgbClr val="FFFFFF"/>
                </a:solidFill>
                <a:latin typeface="Aptos Display"/>
                <a:ea typeface="Aptos Display"/>
                <a:cs typeface="Aptos Display"/>
              </a:rPr>
              <a:t>Safety alerts vanish inside chat threads.</a:t>
            </a:r>
          </a:p>
        </p:txBody>
      </p:sp>
      <p:sp>
        <p:nvSpPr>
          <p:cNvPr id="7" name="">
            <a:extLst xmlns:a="http://schemas.openxmlformats.org/drawingml/2006/main">
              <a:ext uri="{FF2B5EF4-FFF2-40B4-BE49-F238E27FC236}">
                <a16:creationId xmlns:a16="http://schemas.microsoft.com/office/drawing/2014/main" id="{D21C4032-EF72-4CA9-B86D-CCFC1EBEFBBC}"/>
              </a:ext>
            </a:extLst>
          </p:cNvPr>
          <p:cNvSpPr>
            <a:spLocks xmlns:a="http://schemas.openxmlformats.org/drawingml/2006/main" noGrp="1"/>
          </p:cNvSpPr>
          <p:nvPr/>
        </p:nvSpPr>
        <p:spPr>
          <a:xfrm xmlns:a="http://schemas.openxmlformats.org/drawingml/2006/main">
            <a:off x="685800" y="367665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BDE1"/>
                </a:solidFill>
                <a:latin typeface="Aptos Display"/>
                <a:ea typeface="Aptos Display"/>
                <a:cs typeface="Aptos Display"/>
              </a:defRPr>
            </a:pPr>
            <a:r>
              <a:rPr sz="1050" b="1" i="0">
                <a:solidFill>
                  <a:srgbClr val="5BBDE1"/>
                </a:solidFill>
                <a:latin typeface="Aptos Display"/>
                <a:ea typeface="Aptos Display"/>
                <a:cs typeface="Aptos Display"/>
              </a:rPr>
              <a:t>TRUST</a:t>
            </a:r>
          </a:p>
        </p:txBody>
      </p:sp>
      <p:sp>
        <p:nvSpPr>
          <p:cNvPr id="8" name="">
            <a:extLst xmlns:a="http://schemas.openxmlformats.org/drawingml/2006/main">
              <a:ext uri="{FF2B5EF4-FFF2-40B4-BE49-F238E27FC236}">
                <a16:creationId xmlns:a16="http://schemas.microsoft.com/office/drawing/2014/main" id="{E40AA79F-6E26-443E-B2E1-2868C1C52F3A}"/>
              </a:ext>
            </a:extLst>
          </p:cNvPr>
          <p:cNvSpPr>
            <a:spLocks xmlns:a="http://schemas.openxmlformats.org/drawingml/2006/main" noGrp="1"/>
          </p:cNvSpPr>
          <p:nvPr/>
        </p:nvSpPr>
        <p:spPr>
          <a:xfrm xmlns:a="http://schemas.openxmlformats.org/drawingml/2006/main">
            <a:off x="685800" y="3943350"/>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FFFFFF"/>
                </a:solidFill>
                <a:latin typeface="Aptos Display"/>
                <a:ea typeface="Aptos Display"/>
                <a:cs typeface="Aptos Display"/>
              </a:defRPr>
            </a:pPr>
            <a:r>
              <a:rPr sz="1575" b="1" i="0">
                <a:solidFill>
                  <a:srgbClr val="FFFFFF"/>
                </a:solidFill>
                <a:latin typeface="Aptos Display"/>
                <a:ea typeface="Aptos Display"/>
                <a:cs typeface="Aptos Display"/>
              </a:rPr>
              <a:t>Outsiders, tenants and stale contacts blur access.</a:t>
            </a:r>
          </a:p>
        </p:txBody>
      </p:sp>
      <p:sp>
        <p:nvSpPr>
          <p:cNvPr id="9" name="">
            <a:extLst xmlns:a="http://schemas.openxmlformats.org/drawingml/2006/main">
              <a:ext uri="{FF2B5EF4-FFF2-40B4-BE49-F238E27FC236}">
                <a16:creationId xmlns:a16="http://schemas.microsoft.com/office/drawing/2014/main" id="{62BA1C50-EBD2-4287-9EE9-002FCE4CB7D0}"/>
              </a:ext>
            </a:extLst>
          </p:cNvPr>
          <p:cNvSpPr>
            <a:spLocks xmlns:a="http://schemas.openxmlformats.org/drawingml/2006/main" noGrp="1"/>
          </p:cNvSpPr>
          <p:nvPr/>
        </p:nvSpPr>
        <p:spPr>
          <a:xfrm xmlns:a="http://schemas.openxmlformats.org/drawingml/2006/main">
            <a:off x="685800" y="441960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COMMERCE</a:t>
            </a:r>
          </a:p>
        </p:txBody>
      </p:sp>
      <p:sp>
        <p:nvSpPr>
          <p:cNvPr id="10" name="">
            <a:extLst xmlns:a="http://schemas.openxmlformats.org/drawingml/2006/main">
              <a:ext uri="{FF2B5EF4-FFF2-40B4-BE49-F238E27FC236}">
                <a16:creationId xmlns:a16="http://schemas.microsoft.com/office/drawing/2014/main" id="{CF83A903-0BDD-4D1C-AF02-D7660629538C}"/>
              </a:ext>
            </a:extLst>
          </p:cNvPr>
          <p:cNvSpPr>
            <a:spLocks xmlns:a="http://schemas.openxmlformats.org/drawingml/2006/main" noGrp="1"/>
          </p:cNvSpPr>
          <p:nvPr/>
        </p:nvSpPr>
        <p:spPr>
          <a:xfrm xmlns:a="http://schemas.openxmlformats.org/drawingml/2006/main">
            <a:off x="685800" y="4686300"/>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FFFFFF"/>
                </a:solidFill>
                <a:latin typeface="Aptos Display"/>
                <a:ea typeface="Aptos Display"/>
                <a:cs typeface="Aptos Display"/>
              </a:defRPr>
            </a:pPr>
            <a:r>
              <a:rPr sz="1575" b="1" i="0">
                <a:solidFill>
                  <a:srgbClr val="FFFFFF"/>
                </a:solidFill>
                <a:latin typeface="Aptos Display"/>
                <a:ea typeface="Aptos Display"/>
                <a:cs typeface="Aptos Display"/>
              </a:rPr>
              <a:t>Reliable local services depend on word of mouth.</a:t>
            </a:r>
          </a:p>
        </p:txBody>
      </p:sp>
      <p:sp>
        <p:nvSpPr>
          <p:cNvPr id="11" name="">
            <a:extLst xmlns:a="http://schemas.openxmlformats.org/drawingml/2006/main">
              <a:ext uri="{FF2B5EF4-FFF2-40B4-BE49-F238E27FC236}">
                <a16:creationId xmlns:a16="http://schemas.microsoft.com/office/drawing/2014/main" id="{B64AC6E1-930A-436C-B96A-85F0BD4965FD}"/>
              </a:ext>
            </a:extLst>
          </p:cNvPr>
          <p:cNvSpPr>
            <a:spLocks xmlns:a="http://schemas.openxmlformats.org/drawingml/2006/main" noGrp="1"/>
          </p:cNvSpPr>
          <p:nvPr/>
        </p:nvSpPr>
        <p:spPr>
          <a:xfrm xmlns:a="http://schemas.openxmlformats.org/drawingml/2006/main">
            <a:off x="685800" y="516255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BDE1"/>
                </a:solidFill>
                <a:latin typeface="Aptos Display"/>
                <a:ea typeface="Aptos Display"/>
                <a:cs typeface="Aptos Display"/>
              </a:defRPr>
            </a:pPr>
            <a:r>
              <a:rPr sz="1050" b="1" i="0">
                <a:solidFill>
                  <a:srgbClr val="5BBDE1"/>
                </a:solidFill>
                <a:latin typeface="Aptos Display"/>
                <a:ea typeface="Aptos Display"/>
                <a:cs typeface="Aptos Display"/>
              </a:rPr>
              <a:t>GOVERNANCE</a:t>
            </a:r>
          </a:p>
        </p:txBody>
      </p:sp>
      <p:sp>
        <p:nvSpPr>
          <p:cNvPr id="12" name="">
            <a:extLst xmlns:a="http://schemas.openxmlformats.org/drawingml/2006/main">
              <a:ext uri="{FF2B5EF4-FFF2-40B4-BE49-F238E27FC236}">
                <a16:creationId xmlns:a16="http://schemas.microsoft.com/office/drawing/2014/main" id="{2EF16C07-EC40-4D08-B79A-2595DB319E5B}"/>
              </a:ext>
            </a:extLst>
          </p:cNvPr>
          <p:cNvSpPr>
            <a:spLocks xmlns:a="http://schemas.openxmlformats.org/drawingml/2006/main" noGrp="1"/>
          </p:cNvSpPr>
          <p:nvPr/>
        </p:nvSpPr>
        <p:spPr>
          <a:xfrm xmlns:a="http://schemas.openxmlformats.org/drawingml/2006/main">
            <a:off x="685800" y="5429250"/>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FFFFFF"/>
                </a:solidFill>
                <a:latin typeface="Aptos Display"/>
                <a:ea typeface="Aptos Display"/>
                <a:cs typeface="Aptos Display"/>
              </a:defRPr>
            </a:pPr>
            <a:r>
              <a:rPr sz="1575" b="1" i="0">
                <a:solidFill>
                  <a:srgbClr val="FFFFFF"/>
                </a:solidFill>
                <a:latin typeface="Aptos Display"/>
                <a:ea typeface="Aptos Display"/>
                <a:cs typeface="Aptos Display"/>
              </a:rPr>
              <a:t>Notices, polls and complaints live in separate places.</a:t>
            </a:r>
          </a:p>
        </p:txBody>
      </p:sp>
      <p:sp>
        <p:nvSpPr>
          <p:cNvPr id="13" name="">
            <a:extLst xmlns:a="http://schemas.openxmlformats.org/drawingml/2006/main">
              <a:ext uri="{FF2B5EF4-FFF2-40B4-BE49-F238E27FC236}">
                <a16:creationId xmlns:a16="http://schemas.microsoft.com/office/drawing/2014/main" id="{30982B12-C2DC-453B-BE25-1A1798764FCA}"/>
              </a:ext>
            </a:extLst>
          </p:cNvPr>
          <p:cNvSpPr>
            <a:spLocks xmlns:a="http://schemas.openxmlformats.org/drawingml/2006/main" noGrp="1"/>
          </p:cNvSpPr>
          <p:nvPr/>
        </p:nvSpPr>
        <p:spPr>
          <a:xfrm xmlns:a="http://schemas.openxmlformats.org/drawingml/2006/main">
            <a:off x="685800" y="5981700"/>
            <a:ext cx="3857625" cy="323850"/>
          </a:xfrm>
          <a:prstGeom xmlns:a="http://schemas.openxmlformats.org/drawingml/2006/main" prst="roundRect">
            <a:avLst>
              <a:gd name="adj" fmla="val 50000"/>
            </a:avLst>
          </a:prstGeom>
          <a:solidFill xmlns:a="http://schemas.openxmlformats.org/drawingml/2006/main">
            <a:srgbClr val="F5F0E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119193B-A276-4897-9172-927925E09E6A}"/>
              </a:ext>
            </a:extLst>
          </p:cNvPr>
          <p:cNvSpPr>
            <a:spLocks xmlns:a="http://schemas.openxmlformats.org/drawingml/2006/main" noGrp="1"/>
          </p:cNvSpPr>
          <p:nvPr/>
        </p:nvSpPr>
        <p:spPr>
          <a:xfrm xmlns:a="http://schemas.openxmlformats.org/drawingml/2006/main">
            <a:off x="800100" y="6019800"/>
            <a:ext cx="3629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121A2C"/>
                </a:solidFill>
                <a:latin typeface="Aptos Display"/>
                <a:ea typeface="Aptos Display"/>
                <a:cs typeface="Aptos Display"/>
              </a:defRPr>
            </a:pPr>
            <a:r>
              <a:rPr sz="900" b="1" i="0">
                <a:solidFill>
                  <a:srgbClr val="121A2C"/>
                </a:solidFill>
                <a:latin typeface="Aptos Display"/>
                <a:ea typeface="Aptos Display"/>
                <a:cs typeface="Aptos Display"/>
              </a:rPr>
              <a:t>ONE NEIGHBORHOOD  •  FIVE DISCONNECTED SYSTEMS</a:t>
            </a:r>
          </a:p>
        </p:txBody>
      </p:sp>
    </p:spTree>
    <p:extLst>
      <p:ext uri="{BB962C8B-B14F-4D97-AF65-F5344CB8AC3E}">
        <p14:creationId xmlns:p14="http://schemas.microsoft.com/office/powerpoint/2010/main" val="903590620"/>
      </p:ext>
    </p:extLst>
  </p:cSld>
  <p:transition spd="fast" advClick="1">
    <p:fade/>
  </p:transition>
</p:sld>
</file>

<file path=ppt/slides/slide4.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73D5176E-2FB9-4EEE-824D-4BA2841F2296}"/>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THE COMPARISON</a:t>
            </a:r>
          </a:p>
        </p:txBody>
      </p:sp>
      <p:sp>
        <p:nvSpPr>
          <p:cNvPr id="2" name="">
            <a:extLst xmlns:a="http://schemas.openxmlformats.org/drawingml/2006/main">
              <a:ext uri="{FF2B5EF4-FFF2-40B4-BE49-F238E27FC236}">
                <a16:creationId xmlns:a16="http://schemas.microsoft.com/office/drawing/2014/main" id="{01F07CEF-D66B-478F-8103-9893EC44853E}"/>
              </a:ext>
            </a:extLst>
          </p:cNvPr>
          <p:cNvSpPr>
            <a:spLocks xmlns:a="http://schemas.openxmlformats.org/drawingml/2006/main" noGrp="1"/>
          </p:cNvSpPr>
          <p:nvPr/>
        </p:nvSpPr>
        <p:spPr>
          <a:xfrm xmlns:a="http://schemas.openxmlformats.org/drawingml/2006/main">
            <a:off x="685800" y="74295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182033"/>
                </a:solidFill>
                <a:latin typeface="Aptos Display"/>
                <a:ea typeface="Aptos Display"/>
                <a:cs typeface="Aptos Display"/>
              </a:defRPr>
            </a:pPr>
            <a:r>
              <a:rPr sz="3600" b="1" i="0">
                <a:solidFill>
                  <a:srgbClr val="182033"/>
                </a:solidFill>
                <a:latin typeface="Aptos Display"/>
                <a:ea typeface="Aptos Display"/>
                <a:cs typeface="Aptos Display"/>
              </a:rPr>
              <a:t>WhatsApp is a channel. Mohalla is infrastructure.</a:t>
            </a:r>
          </a:p>
        </p:txBody>
      </p:sp>
      <p:sp>
        <p:nvSpPr>
          <p:cNvPr id="3" name="">
            <a:extLst xmlns:a="http://schemas.openxmlformats.org/drawingml/2006/main">
              <a:ext uri="{FF2B5EF4-FFF2-40B4-BE49-F238E27FC236}">
                <a16:creationId xmlns:a16="http://schemas.microsoft.com/office/drawing/2014/main" id="{85DE6952-36A2-4ABE-B97C-C283EBD8FBBA}"/>
              </a:ext>
            </a:extLst>
          </p:cNvPr>
          <p:cNvSpPr>
            <a:spLocks xmlns:a="http://schemas.openxmlformats.org/drawingml/2006/main" noGrp="1"/>
          </p:cNvSpPr>
          <p:nvPr/>
        </p:nvSpPr>
        <p:spPr>
          <a:xfrm xmlns:a="http://schemas.openxmlformats.org/drawingml/2006/main">
            <a:off x="685800" y="1724025"/>
            <a:ext cx="4953000" cy="3781425"/>
          </a:xfrm>
          <a:prstGeom xmlns:a="http://schemas.openxmlformats.org/drawingml/2006/main" prst="roundRect">
            <a:avLst>
              <a:gd name="adj" fmla="val 6045"/>
            </a:avLst>
          </a:prstGeom>
          <a:solidFill xmlns:a="http://schemas.openxmlformats.org/drawingml/2006/main">
            <a:srgbClr val="FFFFFF"/>
          </a:solidFill>
          <a:ln xmlns:a="http://schemas.openxmlformats.org/drawingml/2006/main" w="9525">
            <a:solidFill>
              <a:srgbClr val="D8D2C8"/>
            </a:solidFill>
            <a:prstDash val="solid"/>
          </a:ln>
        </p:spPr>
      </p:sp>
      <p:sp>
        <p:nvSpPr>
          <p:cNvPr id="4" name="">
            <a:extLst xmlns:a="http://schemas.openxmlformats.org/drawingml/2006/main">
              <a:ext uri="{FF2B5EF4-FFF2-40B4-BE49-F238E27FC236}">
                <a16:creationId xmlns:a16="http://schemas.microsoft.com/office/drawing/2014/main" id="{EC72B1C1-2194-4785-A74C-E1B7863879C7}"/>
              </a:ext>
            </a:extLst>
          </p:cNvPr>
          <p:cNvSpPr>
            <a:spLocks xmlns:a="http://schemas.openxmlformats.org/drawingml/2006/main" noGrp="1"/>
          </p:cNvSpPr>
          <p:nvPr/>
        </p:nvSpPr>
        <p:spPr>
          <a:xfrm xmlns:a="http://schemas.openxmlformats.org/drawingml/2006/main">
            <a:off x="5905500" y="1724025"/>
            <a:ext cx="5600700" cy="3781425"/>
          </a:xfrm>
          <a:prstGeom xmlns:a="http://schemas.openxmlformats.org/drawingml/2006/main" prst="roundRect">
            <a:avLst>
              <a:gd name="adj" fmla="val 6045"/>
            </a:avLst>
          </a:prstGeom>
          <a:solidFill xmlns:a="http://schemas.openxmlformats.org/drawingml/2006/main">
            <a:srgbClr val="121A2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20252A-37D8-4483-894D-CEEC3A407748}"/>
              </a:ext>
            </a:extLst>
          </p:cNvPr>
          <p:cNvSpPr>
            <a:spLocks xmlns:a="http://schemas.openxmlformats.org/drawingml/2006/main" noGrp="1"/>
          </p:cNvSpPr>
          <p:nvPr/>
        </p:nvSpPr>
        <p:spPr>
          <a:xfrm xmlns:a="http://schemas.openxmlformats.org/drawingml/2006/main">
            <a:off x="952500" y="1971675"/>
            <a:ext cx="1352550" cy="323850"/>
          </a:xfrm>
          <a:prstGeom xmlns:a="http://schemas.openxmlformats.org/drawingml/2006/main" prst="roundRect">
            <a:avLst>
              <a:gd name="adj" fmla="val 50000"/>
            </a:avLst>
          </a:prstGeom>
          <a:solidFill xmlns:a="http://schemas.openxmlformats.org/drawingml/2006/main">
            <a:srgbClr val="F9DED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EB07272-B91D-485B-AB22-A0C57EF61F42}"/>
              </a:ext>
            </a:extLst>
          </p:cNvPr>
          <p:cNvSpPr>
            <a:spLocks xmlns:a="http://schemas.openxmlformats.org/drawingml/2006/main" noGrp="1"/>
          </p:cNvSpPr>
          <p:nvPr/>
        </p:nvSpPr>
        <p:spPr>
          <a:xfrm xmlns:a="http://schemas.openxmlformats.org/drawingml/2006/main">
            <a:off x="1066800" y="2009775"/>
            <a:ext cx="1123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i="0">
                <a:solidFill>
                  <a:srgbClr val="FF6B5E"/>
                </a:solidFill>
                <a:latin typeface="Aptos Display"/>
                <a:ea typeface="Aptos Display"/>
                <a:cs typeface="Aptos Display"/>
              </a:defRPr>
            </a:pPr>
            <a:r>
              <a:rPr sz="975" b="1" i="0">
                <a:solidFill>
                  <a:srgbClr val="FF6B5E"/>
                </a:solidFill>
                <a:latin typeface="Aptos Display"/>
                <a:ea typeface="Aptos Display"/>
                <a:cs typeface="Aptos Display"/>
              </a:rPr>
              <a:t>STATUS QUO</a:t>
            </a:r>
          </a:p>
        </p:txBody>
      </p:sp>
      <p:sp>
        <p:nvSpPr>
          <p:cNvPr id="7" name="">
            <a:extLst xmlns:a="http://schemas.openxmlformats.org/drawingml/2006/main">
              <a:ext uri="{FF2B5EF4-FFF2-40B4-BE49-F238E27FC236}">
                <a16:creationId xmlns:a16="http://schemas.microsoft.com/office/drawing/2014/main" id="{17995777-1A47-493C-8407-887183F6C0E3}"/>
              </a:ext>
            </a:extLst>
          </p:cNvPr>
          <p:cNvSpPr>
            <a:spLocks xmlns:a="http://schemas.openxmlformats.org/drawingml/2006/main" noGrp="1"/>
          </p:cNvSpPr>
          <p:nvPr/>
        </p:nvSpPr>
        <p:spPr>
          <a:xfrm xmlns:a="http://schemas.openxmlformats.org/drawingml/2006/main">
            <a:off x="952500" y="242887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182033"/>
                </a:solidFill>
                <a:latin typeface="Aptos Display"/>
                <a:ea typeface="Aptos Display"/>
                <a:cs typeface="Aptos Display"/>
              </a:defRPr>
            </a:pPr>
            <a:r>
              <a:rPr sz="2400" b="1" i="0">
                <a:solidFill>
                  <a:srgbClr val="182033"/>
                </a:solidFill>
                <a:latin typeface="Aptos Display"/>
                <a:ea typeface="Aptos Display"/>
                <a:cs typeface="Aptos Display"/>
              </a:rPr>
              <a:t>WhatsApp group</a:t>
            </a:r>
          </a:p>
        </p:txBody>
      </p:sp>
      <p:sp>
        <p:nvSpPr>
          <p:cNvPr id="8" name="">
            <a:extLst xmlns:a="http://schemas.openxmlformats.org/drawingml/2006/main">
              <a:ext uri="{FF2B5EF4-FFF2-40B4-BE49-F238E27FC236}">
                <a16:creationId xmlns:a16="http://schemas.microsoft.com/office/drawing/2014/main" id="{A765F6C2-CED9-48B3-A098-D4621CBC1480}"/>
              </a:ext>
            </a:extLst>
          </p:cNvPr>
          <p:cNvSpPr>
            <a:spLocks xmlns:a="http://schemas.openxmlformats.org/drawingml/2006/main" noGrp="1"/>
          </p:cNvSpPr>
          <p:nvPr/>
        </p:nvSpPr>
        <p:spPr>
          <a:xfrm xmlns:a="http://schemas.openxmlformats.org/drawingml/2006/main">
            <a:off x="990600" y="3114675"/>
            <a:ext cx="209550" cy="209550"/>
          </a:xfrm>
          <a:prstGeom xmlns:a="http://schemas.openxmlformats.org/drawingml/2006/main" prst="ellipse">
            <a:avLst/>
          </a:prstGeom>
          <a:solidFill xmlns:a="http://schemas.openxmlformats.org/drawingml/2006/main">
            <a:srgbClr val="F9DED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0B649E7-706E-4367-9159-D5C8E3EB30A6}"/>
              </a:ext>
            </a:extLst>
          </p:cNvPr>
          <p:cNvSpPr>
            <a:spLocks xmlns:a="http://schemas.openxmlformats.org/drawingml/2006/main" noGrp="1"/>
          </p:cNvSpPr>
          <p:nvPr/>
        </p:nvSpPr>
        <p:spPr>
          <a:xfrm xmlns:a="http://schemas.openxmlformats.org/drawingml/2006/main">
            <a:off x="990600" y="31051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i="0">
                <a:solidFill>
                  <a:srgbClr val="FF6B5E"/>
                </a:solidFill>
                <a:latin typeface="Aptos Display"/>
                <a:ea typeface="Aptos Display"/>
                <a:cs typeface="Aptos Display"/>
              </a:defRPr>
            </a:pPr>
            <a:r>
              <a:rPr sz="1350" b="1" i="0">
                <a:solidFill>
                  <a:srgbClr val="FF6B5E"/>
                </a:solidFill>
                <a:latin typeface="Aptos Display"/>
                <a:ea typeface="Aptos Display"/>
                <a:cs typeface="Aptos Display"/>
              </a:rPr>
              <a:t>×</a:t>
            </a:r>
          </a:p>
        </p:txBody>
      </p:sp>
      <p:sp>
        <p:nvSpPr>
          <p:cNvPr id="10" name="">
            <a:extLst xmlns:a="http://schemas.openxmlformats.org/drawingml/2006/main">
              <a:ext uri="{FF2B5EF4-FFF2-40B4-BE49-F238E27FC236}">
                <a16:creationId xmlns:a16="http://schemas.microsoft.com/office/drawing/2014/main" id="{B90AA68F-E649-4C42-B8D8-0D064002D463}"/>
              </a:ext>
            </a:extLst>
          </p:cNvPr>
          <p:cNvSpPr>
            <a:spLocks xmlns:a="http://schemas.openxmlformats.org/drawingml/2006/main" noGrp="1"/>
          </p:cNvSpPr>
          <p:nvPr/>
        </p:nvSpPr>
        <p:spPr>
          <a:xfrm xmlns:a="http://schemas.openxmlformats.org/drawingml/2006/main">
            <a:off x="1343025" y="307657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B6474"/>
                </a:solidFill>
                <a:latin typeface="Aptos"/>
                <a:ea typeface="Aptos"/>
                <a:cs typeface="Aptos"/>
              </a:defRPr>
            </a:pPr>
            <a:r>
              <a:rPr sz="1575" b="0" i="0">
                <a:solidFill>
                  <a:srgbClr val="5B6474"/>
                </a:solidFill>
                <a:latin typeface="Aptos"/>
                <a:ea typeface="Aptos"/>
                <a:cs typeface="Aptos"/>
              </a:rPr>
              <a:t>Anyone can join</a:t>
            </a:r>
          </a:p>
        </p:txBody>
      </p:sp>
      <p:sp>
        <p:nvSpPr>
          <p:cNvPr id="11" name="">
            <a:extLst xmlns:a="http://schemas.openxmlformats.org/drawingml/2006/main">
              <a:ext uri="{FF2B5EF4-FFF2-40B4-BE49-F238E27FC236}">
                <a16:creationId xmlns:a16="http://schemas.microsoft.com/office/drawing/2014/main" id="{DFDCBD00-EA45-4F79-A4A6-8EDE8B65954C}"/>
              </a:ext>
            </a:extLst>
          </p:cNvPr>
          <p:cNvSpPr>
            <a:spLocks xmlns:a="http://schemas.openxmlformats.org/drawingml/2006/main" noGrp="1"/>
          </p:cNvSpPr>
          <p:nvPr/>
        </p:nvSpPr>
        <p:spPr>
          <a:xfrm xmlns:a="http://schemas.openxmlformats.org/drawingml/2006/main">
            <a:off x="990600" y="3552825"/>
            <a:ext cx="209550" cy="209550"/>
          </a:xfrm>
          <a:prstGeom xmlns:a="http://schemas.openxmlformats.org/drawingml/2006/main" prst="ellipse">
            <a:avLst/>
          </a:prstGeom>
          <a:solidFill xmlns:a="http://schemas.openxmlformats.org/drawingml/2006/main">
            <a:srgbClr val="F9DED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5407395-0582-44A6-9BCF-D006F4AC75E3}"/>
              </a:ext>
            </a:extLst>
          </p:cNvPr>
          <p:cNvSpPr>
            <a:spLocks xmlns:a="http://schemas.openxmlformats.org/drawingml/2006/main" noGrp="1"/>
          </p:cNvSpPr>
          <p:nvPr/>
        </p:nvSpPr>
        <p:spPr>
          <a:xfrm xmlns:a="http://schemas.openxmlformats.org/drawingml/2006/main">
            <a:off x="990600" y="354330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i="0">
                <a:solidFill>
                  <a:srgbClr val="FF6B5E"/>
                </a:solidFill>
                <a:latin typeface="Aptos Display"/>
                <a:ea typeface="Aptos Display"/>
                <a:cs typeface="Aptos Display"/>
              </a:defRPr>
            </a:pPr>
            <a:r>
              <a:rPr sz="1350" b="1" i="0">
                <a:solidFill>
                  <a:srgbClr val="FF6B5E"/>
                </a:solidFill>
                <a:latin typeface="Aptos Display"/>
                <a:ea typeface="Aptos Display"/>
                <a:cs typeface="Aptos Display"/>
              </a:rPr>
              <a:t>×</a:t>
            </a:r>
          </a:p>
        </p:txBody>
      </p:sp>
      <p:sp>
        <p:nvSpPr>
          <p:cNvPr id="13" name="">
            <a:extLst xmlns:a="http://schemas.openxmlformats.org/drawingml/2006/main">
              <a:ext uri="{FF2B5EF4-FFF2-40B4-BE49-F238E27FC236}">
                <a16:creationId xmlns:a16="http://schemas.microsoft.com/office/drawing/2014/main" id="{BC573E20-CE65-419E-8F1D-0EA6561233CC}"/>
              </a:ext>
            </a:extLst>
          </p:cNvPr>
          <p:cNvSpPr>
            <a:spLocks xmlns:a="http://schemas.openxmlformats.org/drawingml/2006/main" noGrp="1"/>
          </p:cNvSpPr>
          <p:nvPr/>
        </p:nvSpPr>
        <p:spPr>
          <a:xfrm xmlns:a="http://schemas.openxmlformats.org/drawingml/2006/main">
            <a:off x="1343025" y="351472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B6474"/>
                </a:solidFill>
                <a:latin typeface="Aptos"/>
                <a:ea typeface="Aptos"/>
                <a:cs typeface="Aptos"/>
              </a:defRPr>
            </a:pPr>
            <a:r>
              <a:rPr sz="1575" b="0" i="0">
                <a:solidFill>
                  <a:srgbClr val="5B6474"/>
                </a:solidFill>
                <a:latin typeface="Aptos"/>
                <a:ea typeface="Aptos"/>
                <a:cs typeface="Aptos"/>
              </a:rPr>
              <a:t>Messages get buried</a:t>
            </a:r>
          </a:p>
        </p:txBody>
      </p:sp>
      <p:sp>
        <p:nvSpPr>
          <p:cNvPr id="14" name="">
            <a:extLst xmlns:a="http://schemas.openxmlformats.org/drawingml/2006/main">
              <a:ext uri="{FF2B5EF4-FFF2-40B4-BE49-F238E27FC236}">
                <a16:creationId xmlns:a16="http://schemas.microsoft.com/office/drawing/2014/main" id="{863A71B9-9B22-45CC-9348-F413165714F5}"/>
              </a:ext>
            </a:extLst>
          </p:cNvPr>
          <p:cNvSpPr>
            <a:spLocks xmlns:a="http://schemas.openxmlformats.org/drawingml/2006/main" noGrp="1"/>
          </p:cNvSpPr>
          <p:nvPr/>
        </p:nvSpPr>
        <p:spPr>
          <a:xfrm xmlns:a="http://schemas.openxmlformats.org/drawingml/2006/main">
            <a:off x="990600" y="3990975"/>
            <a:ext cx="209550" cy="209550"/>
          </a:xfrm>
          <a:prstGeom xmlns:a="http://schemas.openxmlformats.org/drawingml/2006/main" prst="ellipse">
            <a:avLst/>
          </a:prstGeom>
          <a:solidFill xmlns:a="http://schemas.openxmlformats.org/drawingml/2006/main">
            <a:srgbClr val="F9DED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D576122-CD1F-4432-9A0F-D731C0C7E037}"/>
              </a:ext>
            </a:extLst>
          </p:cNvPr>
          <p:cNvSpPr>
            <a:spLocks xmlns:a="http://schemas.openxmlformats.org/drawingml/2006/main" noGrp="1"/>
          </p:cNvSpPr>
          <p:nvPr/>
        </p:nvSpPr>
        <p:spPr>
          <a:xfrm xmlns:a="http://schemas.openxmlformats.org/drawingml/2006/main">
            <a:off x="990600" y="39814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i="0">
                <a:solidFill>
                  <a:srgbClr val="FF6B5E"/>
                </a:solidFill>
                <a:latin typeface="Aptos Display"/>
                <a:ea typeface="Aptos Display"/>
                <a:cs typeface="Aptos Display"/>
              </a:defRPr>
            </a:pPr>
            <a:r>
              <a:rPr sz="1350" b="1" i="0">
                <a:solidFill>
                  <a:srgbClr val="FF6B5E"/>
                </a:solidFill>
                <a:latin typeface="Aptos Display"/>
                <a:ea typeface="Aptos Display"/>
                <a:cs typeface="Aptos Display"/>
              </a:rPr>
              <a:t>×</a:t>
            </a:r>
          </a:p>
        </p:txBody>
      </p:sp>
      <p:sp>
        <p:nvSpPr>
          <p:cNvPr id="16" name="">
            <a:extLst xmlns:a="http://schemas.openxmlformats.org/drawingml/2006/main">
              <a:ext uri="{FF2B5EF4-FFF2-40B4-BE49-F238E27FC236}">
                <a16:creationId xmlns:a16="http://schemas.microsoft.com/office/drawing/2014/main" id="{4A530DBC-537B-48A7-BE50-8D03238379DD}"/>
              </a:ext>
            </a:extLst>
          </p:cNvPr>
          <p:cNvSpPr>
            <a:spLocks xmlns:a="http://schemas.openxmlformats.org/drawingml/2006/main" noGrp="1"/>
          </p:cNvSpPr>
          <p:nvPr/>
        </p:nvSpPr>
        <p:spPr>
          <a:xfrm xmlns:a="http://schemas.openxmlformats.org/drawingml/2006/main">
            <a:off x="1343025" y="395287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B6474"/>
                </a:solidFill>
                <a:latin typeface="Aptos"/>
                <a:ea typeface="Aptos"/>
                <a:cs typeface="Aptos"/>
              </a:defRPr>
            </a:pPr>
            <a:r>
              <a:rPr sz="1575" b="0" i="0">
                <a:solidFill>
                  <a:srgbClr val="5B6474"/>
                </a:solidFill>
                <a:latin typeface="Aptos"/>
                <a:ea typeface="Aptos"/>
                <a:cs typeface="Aptos"/>
              </a:rPr>
              <a:t>No emergency workflow</a:t>
            </a:r>
          </a:p>
        </p:txBody>
      </p:sp>
      <p:sp>
        <p:nvSpPr>
          <p:cNvPr id="17" name="">
            <a:extLst xmlns:a="http://schemas.openxmlformats.org/drawingml/2006/main">
              <a:ext uri="{FF2B5EF4-FFF2-40B4-BE49-F238E27FC236}">
                <a16:creationId xmlns:a16="http://schemas.microsoft.com/office/drawing/2014/main" id="{3C981563-2CD9-4FE5-9E60-ECD7603CC36F}"/>
              </a:ext>
            </a:extLst>
          </p:cNvPr>
          <p:cNvSpPr>
            <a:spLocks xmlns:a="http://schemas.openxmlformats.org/drawingml/2006/main" noGrp="1"/>
          </p:cNvSpPr>
          <p:nvPr/>
        </p:nvSpPr>
        <p:spPr>
          <a:xfrm xmlns:a="http://schemas.openxmlformats.org/drawingml/2006/main">
            <a:off x="990600" y="4429125"/>
            <a:ext cx="209550" cy="209550"/>
          </a:xfrm>
          <a:prstGeom xmlns:a="http://schemas.openxmlformats.org/drawingml/2006/main" prst="ellipse">
            <a:avLst/>
          </a:prstGeom>
          <a:solidFill xmlns:a="http://schemas.openxmlformats.org/drawingml/2006/main">
            <a:srgbClr val="F9DED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386CD1A-C353-45B4-84C0-ED54D910129C}"/>
              </a:ext>
            </a:extLst>
          </p:cNvPr>
          <p:cNvSpPr>
            <a:spLocks xmlns:a="http://schemas.openxmlformats.org/drawingml/2006/main" noGrp="1"/>
          </p:cNvSpPr>
          <p:nvPr/>
        </p:nvSpPr>
        <p:spPr>
          <a:xfrm xmlns:a="http://schemas.openxmlformats.org/drawingml/2006/main">
            <a:off x="990600" y="441960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i="0">
                <a:solidFill>
                  <a:srgbClr val="FF6B5E"/>
                </a:solidFill>
                <a:latin typeface="Aptos Display"/>
                <a:ea typeface="Aptos Display"/>
                <a:cs typeface="Aptos Display"/>
              </a:defRPr>
            </a:pPr>
            <a:r>
              <a:rPr sz="1350" b="1" i="0">
                <a:solidFill>
                  <a:srgbClr val="FF6B5E"/>
                </a:solidFill>
                <a:latin typeface="Aptos Display"/>
                <a:ea typeface="Aptos Display"/>
                <a:cs typeface="Aptos Display"/>
              </a:rPr>
              <a:t>×</a:t>
            </a:r>
          </a:p>
        </p:txBody>
      </p:sp>
      <p:sp>
        <p:nvSpPr>
          <p:cNvPr id="19" name="">
            <a:extLst xmlns:a="http://schemas.openxmlformats.org/drawingml/2006/main">
              <a:ext uri="{FF2B5EF4-FFF2-40B4-BE49-F238E27FC236}">
                <a16:creationId xmlns:a16="http://schemas.microsoft.com/office/drawing/2014/main" id="{502AA82B-13C8-429D-8D62-D4CEEE9F1C38}"/>
              </a:ext>
            </a:extLst>
          </p:cNvPr>
          <p:cNvSpPr>
            <a:spLocks xmlns:a="http://schemas.openxmlformats.org/drawingml/2006/main" noGrp="1"/>
          </p:cNvSpPr>
          <p:nvPr/>
        </p:nvSpPr>
        <p:spPr>
          <a:xfrm xmlns:a="http://schemas.openxmlformats.org/drawingml/2006/main">
            <a:off x="1343025" y="439102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B6474"/>
                </a:solidFill>
                <a:latin typeface="Aptos"/>
                <a:ea typeface="Aptos"/>
                <a:cs typeface="Aptos"/>
              </a:defRPr>
            </a:pPr>
            <a:r>
              <a:rPr sz="1575" b="0" i="0">
                <a:solidFill>
                  <a:srgbClr val="5B6474"/>
                </a:solidFill>
                <a:latin typeface="Aptos"/>
                <a:ea typeface="Aptos"/>
                <a:cs typeface="Aptos"/>
              </a:rPr>
              <a:t>No structured marketplace</a:t>
            </a:r>
          </a:p>
        </p:txBody>
      </p:sp>
      <p:sp>
        <p:nvSpPr>
          <p:cNvPr id="20" name="">
            <a:extLst xmlns:a="http://schemas.openxmlformats.org/drawingml/2006/main">
              <a:ext uri="{FF2B5EF4-FFF2-40B4-BE49-F238E27FC236}">
                <a16:creationId xmlns:a16="http://schemas.microsoft.com/office/drawing/2014/main" id="{3D71BE02-61C8-401B-87D5-19099F6C656D}"/>
              </a:ext>
            </a:extLst>
          </p:cNvPr>
          <p:cNvSpPr>
            <a:spLocks xmlns:a="http://schemas.openxmlformats.org/drawingml/2006/main" noGrp="1"/>
          </p:cNvSpPr>
          <p:nvPr/>
        </p:nvSpPr>
        <p:spPr>
          <a:xfrm xmlns:a="http://schemas.openxmlformats.org/drawingml/2006/main">
            <a:off x="990600" y="4867275"/>
            <a:ext cx="209550" cy="209550"/>
          </a:xfrm>
          <a:prstGeom xmlns:a="http://schemas.openxmlformats.org/drawingml/2006/main" prst="ellipse">
            <a:avLst/>
          </a:prstGeom>
          <a:solidFill xmlns:a="http://schemas.openxmlformats.org/drawingml/2006/main">
            <a:srgbClr val="F9DED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5BA6ECD-AD59-4241-A2AB-37D9BA5DE68C}"/>
              </a:ext>
            </a:extLst>
          </p:cNvPr>
          <p:cNvSpPr>
            <a:spLocks xmlns:a="http://schemas.openxmlformats.org/drawingml/2006/main" noGrp="1"/>
          </p:cNvSpPr>
          <p:nvPr/>
        </p:nvSpPr>
        <p:spPr>
          <a:xfrm xmlns:a="http://schemas.openxmlformats.org/drawingml/2006/main">
            <a:off x="990600" y="48577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i="0">
                <a:solidFill>
                  <a:srgbClr val="FF6B5E"/>
                </a:solidFill>
                <a:latin typeface="Aptos Display"/>
                <a:ea typeface="Aptos Display"/>
                <a:cs typeface="Aptos Display"/>
              </a:defRPr>
            </a:pPr>
            <a:r>
              <a:rPr sz="1350" b="1" i="0">
                <a:solidFill>
                  <a:srgbClr val="FF6B5E"/>
                </a:solidFill>
                <a:latin typeface="Aptos Display"/>
                <a:ea typeface="Aptos Display"/>
                <a:cs typeface="Aptos Display"/>
              </a:rPr>
              <a:t>×</a:t>
            </a:r>
          </a:p>
        </p:txBody>
      </p:sp>
      <p:sp>
        <p:nvSpPr>
          <p:cNvPr id="22" name="">
            <a:extLst xmlns:a="http://schemas.openxmlformats.org/drawingml/2006/main">
              <a:ext uri="{FF2B5EF4-FFF2-40B4-BE49-F238E27FC236}">
                <a16:creationId xmlns:a16="http://schemas.microsoft.com/office/drawing/2014/main" id="{09915B01-36DB-4B29-BBF7-78CDA932E805}"/>
              </a:ext>
            </a:extLst>
          </p:cNvPr>
          <p:cNvSpPr>
            <a:spLocks xmlns:a="http://schemas.openxmlformats.org/drawingml/2006/main" noGrp="1"/>
          </p:cNvSpPr>
          <p:nvPr/>
        </p:nvSpPr>
        <p:spPr>
          <a:xfrm xmlns:a="http://schemas.openxmlformats.org/drawingml/2006/main">
            <a:off x="1343025" y="482917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B6474"/>
                </a:solidFill>
                <a:latin typeface="Aptos"/>
                <a:ea typeface="Aptos"/>
                <a:cs typeface="Aptos"/>
              </a:defRPr>
            </a:pPr>
            <a:r>
              <a:rPr sz="1575" b="0" i="0">
                <a:solidFill>
                  <a:srgbClr val="5B6474"/>
                </a:solidFill>
                <a:latin typeface="Aptos"/>
                <a:ea typeface="Aptos"/>
                <a:cs typeface="Aptos"/>
              </a:rPr>
              <a:t>No community-wide safety alerts</a:t>
            </a:r>
          </a:p>
        </p:txBody>
      </p:sp>
      <p:sp>
        <p:nvSpPr>
          <p:cNvPr id="23" name="">
            <a:extLst xmlns:a="http://schemas.openxmlformats.org/drawingml/2006/main">
              <a:ext uri="{FF2B5EF4-FFF2-40B4-BE49-F238E27FC236}">
                <a16:creationId xmlns:a16="http://schemas.microsoft.com/office/drawing/2014/main" id="{16A5C20B-6292-482A-BF78-835FFDF6E42E}"/>
              </a:ext>
            </a:extLst>
          </p:cNvPr>
          <p:cNvSpPr>
            <a:spLocks xmlns:a="http://schemas.openxmlformats.org/drawingml/2006/main" noGrp="1"/>
          </p:cNvSpPr>
          <p:nvPr/>
        </p:nvSpPr>
        <p:spPr>
          <a:xfrm xmlns:a="http://schemas.openxmlformats.org/drawingml/2006/main">
            <a:off x="6191250" y="1971675"/>
            <a:ext cx="198120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6C56FAA-CF86-4D57-8BFA-14D82489D6BD}"/>
              </a:ext>
            </a:extLst>
          </p:cNvPr>
          <p:cNvSpPr>
            <a:spLocks xmlns:a="http://schemas.openxmlformats.org/drawingml/2006/main" noGrp="1"/>
          </p:cNvSpPr>
          <p:nvPr/>
        </p:nvSpPr>
        <p:spPr>
          <a:xfrm xmlns:a="http://schemas.openxmlformats.org/drawingml/2006/main">
            <a:off x="6305550" y="20097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i="0">
                <a:solidFill>
                  <a:srgbClr val="121A2C"/>
                </a:solidFill>
                <a:latin typeface="Aptos Display"/>
                <a:ea typeface="Aptos Display"/>
                <a:cs typeface="Aptos Display"/>
              </a:defRPr>
            </a:pPr>
            <a:r>
              <a:rPr sz="975" b="1" i="0">
                <a:solidFill>
                  <a:srgbClr val="121A2C"/>
                </a:solidFill>
                <a:latin typeface="Aptos Display"/>
                <a:ea typeface="Aptos Display"/>
                <a:cs typeface="Aptos Display"/>
              </a:rPr>
              <a:t>COORDINATED OUTCOMES</a:t>
            </a:r>
          </a:p>
        </p:txBody>
      </p:sp>
      <p:sp>
        <p:nvSpPr>
          <p:cNvPr id="25" name="">
            <a:extLst xmlns:a="http://schemas.openxmlformats.org/drawingml/2006/main">
              <a:ext uri="{FF2B5EF4-FFF2-40B4-BE49-F238E27FC236}">
                <a16:creationId xmlns:a16="http://schemas.microsoft.com/office/drawing/2014/main" id="{80DB3B06-2000-4900-9C58-5737D18FC6FC}"/>
              </a:ext>
            </a:extLst>
          </p:cNvPr>
          <p:cNvSpPr>
            <a:spLocks xmlns:a="http://schemas.openxmlformats.org/drawingml/2006/main" noGrp="1"/>
          </p:cNvSpPr>
          <p:nvPr/>
        </p:nvSpPr>
        <p:spPr>
          <a:xfrm xmlns:a="http://schemas.openxmlformats.org/drawingml/2006/main">
            <a:off x="6191250" y="242887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FFFFFF"/>
                </a:solidFill>
                <a:latin typeface="Aptos Display"/>
                <a:ea typeface="Aptos Display"/>
                <a:cs typeface="Aptos Display"/>
              </a:defRPr>
            </a:pPr>
            <a:r>
              <a:rPr sz="2400" b="1" i="0">
                <a:solidFill>
                  <a:srgbClr val="FFFFFF"/>
                </a:solidFill>
                <a:latin typeface="Aptos Display"/>
                <a:ea typeface="Aptos Display"/>
                <a:cs typeface="Aptos Display"/>
              </a:rPr>
              <a:t>Mohalla</a:t>
            </a:r>
          </a:p>
        </p:txBody>
      </p:sp>
      <p:sp>
        <p:nvSpPr>
          <p:cNvPr id="26" name="">
            <a:extLst xmlns:a="http://schemas.openxmlformats.org/drawingml/2006/main">
              <a:ext uri="{FF2B5EF4-FFF2-40B4-BE49-F238E27FC236}">
                <a16:creationId xmlns:a16="http://schemas.microsoft.com/office/drawing/2014/main" id="{B7B5B184-4B23-4AC6-8E76-279A6A9465C1}"/>
              </a:ext>
            </a:extLst>
          </p:cNvPr>
          <p:cNvSpPr>
            <a:spLocks xmlns:a="http://schemas.openxmlformats.org/drawingml/2006/main" noGrp="1"/>
          </p:cNvSpPr>
          <p:nvPr/>
        </p:nvSpPr>
        <p:spPr>
          <a:xfrm xmlns:a="http://schemas.openxmlformats.org/drawingml/2006/main">
            <a:off x="6229350" y="3114675"/>
            <a:ext cx="209550" cy="20955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EEFBDE1-8E73-4730-AA65-22976D6209D4}"/>
              </a:ext>
            </a:extLst>
          </p:cNvPr>
          <p:cNvSpPr>
            <a:spLocks xmlns:a="http://schemas.openxmlformats.org/drawingml/2006/main" noGrp="1"/>
          </p:cNvSpPr>
          <p:nvPr/>
        </p:nvSpPr>
        <p:spPr>
          <a:xfrm xmlns:a="http://schemas.openxmlformats.org/drawingml/2006/main">
            <a:off x="6229350" y="31051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ptos Display"/>
                <a:ea typeface="Aptos Display"/>
                <a:cs typeface="Aptos Display"/>
              </a:defRPr>
            </a:pPr>
            <a:r>
              <a:rPr sz="1125" b="1" i="0">
                <a:solidFill>
                  <a:srgbClr val="FFFFFF"/>
                </a:solidFill>
                <a:latin typeface="Aptos Display"/>
                <a:ea typeface="Aptos Display"/>
                <a:cs typeface="Aptos Display"/>
              </a:rPr>
              <a:t>✓</a:t>
            </a:r>
          </a:p>
        </p:txBody>
      </p:sp>
      <p:sp>
        <p:nvSpPr>
          <p:cNvPr id="28" name="">
            <a:extLst xmlns:a="http://schemas.openxmlformats.org/drawingml/2006/main">
              <a:ext uri="{FF2B5EF4-FFF2-40B4-BE49-F238E27FC236}">
                <a16:creationId xmlns:a16="http://schemas.microsoft.com/office/drawing/2014/main" id="{8338D294-214A-4CFA-ADEB-1972DB386F7A}"/>
              </a:ext>
            </a:extLst>
          </p:cNvPr>
          <p:cNvSpPr>
            <a:spLocks xmlns:a="http://schemas.openxmlformats.org/drawingml/2006/main" noGrp="1"/>
          </p:cNvSpPr>
          <p:nvPr/>
        </p:nvSpPr>
        <p:spPr>
          <a:xfrm xmlns:a="http://schemas.openxmlformats.org/drawingml/2006/main">
            <a:off x="6581775" y="3076575"/>
            <a:ext cx="433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FFFFFF"/>
                </a:solidFill>
                <a:latin typeface="Aptos"/>
                <a:ea typeface="Aptos"/>
                <a:cs typeface="Aptos"/>
              </a:defRPr>
            </a:pPr>
            <a:r>
              <a:rPr sz="1575" b="0" i="0">
                <a:solidFill>
                  <a:srgbClr val="FFFFFF"/>
                </a:solidFill>
                <a:latin typeface="Aptos"/>
                <a:ea typeface="Aptos"/>
                <a:cs typeface="Aptos"/>
              </a:rPr>
              <a:t>Verified residents only</a:t>
            </a:r>
          </a:p>
        </p:txBody>
      </p:sp>
      <p:sp>
        <p:nvSpPr>
          <p:cNvPr id="29" name="">
            <a:extLst xmlns:a="http://schemas.openxmlformats.org/drawingml/2006/main">
              <a:ext uri="{FF2B5EF4-FFF2-40B4-BE49-F238E27FC236}">
                <a16:creationId xmlns:a16="http://schemas.microsoft.com/office/drawing/2014/main" id="{E727D671-9529-46F2-991B-7BBC414755FC}"/>
              </a:ext>
            </a:extLst>
          </p:cNvPr>
          <p:cNvSpPr>
            <a:spLocks xmlns:a="http://schemas.openxmlformats.org/drawingml/2006/main" noGrp="1"/>
          </p:cNvSpPr>
          <p:nvPr/>
        </p:nvSpPr>
        <p:spPr>
          <a:xfrm xmlns:a="http://schemas.openxmlformats.org/drawingml/2006/main">
            <a:off x="6229350" y="3552825"/>
            <a:ext cx="209550" cy="20955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9D4EFCA-6E5E-4F65-9492-59E421FD8D0B}"/>
              </a:ext>
            </a:extLst>
          </p:cNvPr>
          <p:cNvSpPr>
            <a:spLocks xmlns:a="http://schemas.openxmlformats.org/drawingml/2006/main" noGrp="1"/>
          </p:cNvSpPr>
          <p:nvPr/>
        </p:nvSpPr>
        <p:spPr>
          <a:xfrm xmlns:a="http://schemas.openxmlformats.org/drawingml/2006/main">
            <a:off x="6229350" y="354330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ptos Display"/>
                <a:ea typeface="Aptos Display"/>
                <a:cs typeface="Aptos Display"/>
              </a:defRPr>
            </a:pPr>
            <a:r>
              <a:rPr sz="1125" b="1" i="0">
                <a:solidFill>
                  <a:srgbClr val="FFFFFF"/>
                </a:solidFill>
                <a:latin typeface="Aptos Display"/>
                <a:ea typeface="Aptos Display"/>
                <a:cs typeface="Aptos Display"/>
              </a:rPr>
              <a:t>✓</a:t>
            </a:r>
          </a:p>
        </p:txBody>
      </p:sp>
      <p:sp>
        <p:nvSpPr>
          <p:cNvPr id="31" name="">
            <a:extLst xmlns:a="http://schemas.openxmlformats.org/drawingml/2006/main">
              <a:ext uri="{FF2B5EF4-FFF2-40B4-BE49-F238E27FC236}">
                <a16:creationId xmlns:a16="http://schemas.microsoft.com/office/drawing/2014/main" id="{E3BD73CF-AEE7-4D53-BC36-51697B3CCB50}"/>
              </a:ext>
            </a:extLst>
          </p:cNvPr>
          <p:cNvSpPr>
            <a:spLocks xmlns:a="http://schemas.openxmlformats.org/drawingml/2006/main" noGrp="1"/>
          </p:cNvSpPr>
          <p:nvPr/>
        </p:nvSpPr>
        <p:spPr>
          <a:xfrm xmlns:a="http://schemas.openxmlformats.org/drawingml/2006/main">
            <a:off x="6581775" y="3514725"/>
            <a:ext cx="433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FFFFFF"/>
                </a:solidFill>
                <a:latin typeface="Aptos"/>
                <a:ea typeface="Aptos"/>
                <a:cs typeface="Aptos"/>
              </a:defRPr>
            </a:pPr>
            <a:r>
              <a:rPr sz="1575" b="0" i="0">
                <a:solidFill>
                  <a:srgbClr val="FFFFFF"/>
                </a:solidFill>
                <a:latin typeface="Aptos"/>
                <a:ea typeface="Aptos"/>
                <a:cs typeface="Aptos"/>
              </a:rPr>
              <a:t>Organized by category</a:t>
            </a:r>
          </a:p>
        </p:txBody>
      </p:sp>
      <p:sp>
        <p:nvSpPr>
          <p:cNvPr id="32" name="">
            <a:extLst xmlns:a="http://schemas.openxmlformats.org/drawingml/2006/main">
              <a:ext uri="{FF2B5EF4-FFF2-40B4-BE49-F238E27FC236}">
                <a16:creationId xmlns:a16="http://schemas.microsoft.com/office/drawing/2014/main" id="{F93C8464-B098-42CB-A7BB-725394FB9C13}"/>
              </a:ext>
            </a:extLst>
          </p:cNvPr>
          <p:cNvSpPr>
            <a:spLocks xmlns:a="http://schemas.openxmlformats.org/drawingml/2006/main" noGrp="1"/>
          </p:cNvSpPr>
          <p:nvPr/>
        </p:nvSpPr>
        <p:spPr>
          <a:xfrm xmlns:a="http://schemas.openxmlformats.org/drawingml/2006/main">
            <a:off x="6229350" y="3990975"/>
            <a:ext cx="209550" cy="20955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255C924-C084-43F7-A1CF-6ABBE5A4A257}"/>
              </a:ext>
            </a:extLst>
          </p:cNvPr>
          <p:cNvSpPr>
            <a:spLocks xmlns:a="http://schemas.openxmlformats.org/drawingml/2006/main" noGrp="1"/>
          </p:cNvSpPr>
          <p:nvPr/>
        </p:nvSpPr>
        <p:spPr>
          <a:xfrm xmlns:a="http://schemas.openxmlformats.org/drawingml/2006/main">
            <a:off x="6229350" y="39814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ptos Display"/>
                <a:ea typeface="Aptos Display"/>
                <a:cs typeface="Aptos Display"/>
              </a:defRPr>
            </a:pPr>
            <a:r>
              <a:rPr sz="1125" b="1" i="0">
                <a:solidFill>
                  <a:srgbClr val="FFFFFF"/>
                </a:solidFill>
                <a:latin typeface="Aptos Display"/>
                <a:ea typeface="Aptos Display"/>
                <a:cs typeface="Aptos Display"/>
              </a:rPr>
              <a:t>✓</a:t>
            </a:r>
          </a:p>
        </p:txBody>
      </p:sp>
      <p:sp>
        <p:nvSpPr>
          <p:cNvPr id="34" name="">
            <a:extLst xmlns:a="http://schemas.openxmlformats.org/drawingml/2006/main">
              <a:ext uri="{FF2B5EF4-FFF2-40B4-BE49-F238E27FC236}">
                <a16:creationId xmlns:a16="http://schemas.microsoft.com/office/drawing/2014/main" id="{1FB9A1D6-9ED5-493D-8088-7557EAD6C4E9}"/>
              </a:ext>
            </a:extLst>
          </p:cNvPr>
          <p:cNvSpPr>
            <a:spLocks xmlns:a="http://schemas.openxmlformats.org/drawingml/2006/main" noGrp="1"/>
          </p:cNvSpPr>
          <p:nvPr/>
        </p:nvSpPr>
        <p:spPr>
          <a:xfrm xmlns:a="http://schemas.openxmlformats.org/drawingml/2006/main">
            <a:off x="6581775" y="3952875"/>
            <a:ext cx="433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FFFFFF"/>
                </a:solidFill>
                <a:latin typeface="Aptos"/>
                <a:ea typeface="Aptos"/>
                <a:cs typeface="Aptos"/>
              </a:defRPr>
            </a:pPr>
            <a:r>
              <a:rPr sz="1575" b="0" i="0">
                <a:solidFill>
                  <a:srgbClr val="FFFFFF"/>
                </a:solidFill>
                <a:latin typeface="Aptos"/>
                <a:ea typeface="Aptos"/>
                <a:cs typeface="Aptos"/>
              </a:rPr>
              <a:t>One-tap emergency access</a:t>
            </a:r>
          </a:p>
        </p:txBody>
      </p:sp>
      <p:sp>
        <p:nvSpPr>
          <p:cNvPr id="35" name="">
            <a:extLst xmlns:a="http://schemas.openxmlformats.org/drawingml/2006/main">
              <a:ext uri="{FF2B5EF4-FFF2-40B4-BE49-F238E27FC236}">
                <a16:creationId xmlns:a16="http://schemas.microsoft.com/office/drawing/2014/main" id="{9B9B05F2-60C0-4C4D-95C5-2F25D3A64232}"/>
              </a:ext>
            </a:extLst>
          </p:cNvPr>
          <p:cNvSpPr>
            <a:spLocks xmlns:a="http://schemas.openxmlformats.org/drawingml/2006/main" noGrp="1"/>
          </p:cNvSpPr>
          <p:nvPr/>
        </p:nvSpPr>
        <p:spPr>
          <a:xfrm xmlns:a="http://schemas.openxmlformats.org/drawingml/2006/main">
            <a:off x="6229350" y="4429125"/>
            <a:ext cx="209550" cy="20955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C79EFF9-BD61-497E-8859-3C3281453DC4}"/>
              </a:ext>
            </a:extLst>
          </p:cNvPr>
          <p:cNvSpPr>
            <a:spLocks xmlns:a="http://schemas.openxmlformats.org/drawingml/2006/main" noGrp="1"/>
          </p:cNvSpPr>
          <p:nvPr/>
        </p:nvSpPr>
        <p:spPr>
          <a:xfrm xmlns:a="http://schemas.openxmlformats.org/drawingml/2006/main">
            <a:off x="6229350" y="441960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ptos Display"/>
                <a:ea typeface="Aptos Display"/>
                <a:cs typeface="Aptos Display"/>
              </a:defRPr>
            </a:pPr>
            <a:r>
              <a:rPr sz="1125" b="1" i="0">
                <a:solidFill>
                  <a:srgbClr val="FFFFFF"/>
                </a:solidFill>
                <a:latin typeface="Aptos Display"/>
                <a:ea typeface="Aptos Display"/>
                <a:cs typeface="Aptos Display"/>
              </a:rPr>
              <a:t>✓</a:t>
            </a:r>
          </a:p>
        </p:txBody>
      </p:sp>
      <p:sp>
        <p:nvSpPr>
          <p:cNvPr id="37" name="">
            <a:extLst xmlns:a="http://schemas.openxmlformats.org/drawingml/2006/main">
              <a:ext uri="{FF2B5EF4-FFF2-40B4-BE49-F238E27FC236}">
                <a16:creationId xmlns:a16="http://schemas.microsoft.com/office/drawing/2014/main" id="{60F0DEB2-671F-4A6A-A663-16F3C17AC3BA}"/>
              </a:ext>
            </a:extLst>
          </p:cNvPr>
          <p:cNvSpPr>
            <a:spLocks xmlns:a="http://schemas.openxmlformats.org/drawingml/2006/main" noGrp="1"/>
          </p:cNvSpPr>
          <p:nvPr/>
        </p:nvSpPr>
        <p:spPr>
          <a:xfrm xmlns:a="http://schemas.openxmlformats.org/drawingml/2006/main">
            <a:off x="6581775" y="4391025"/>
            <a:ext cx="433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FFFFFF"/>
                </a:solidFill>
                <a:latin typeface="Aptos"/>
                <a:ea typeface="Aptos"/>
                <a:cs typeface="Aptos"/>
              </a:defRPr>
            </a:pPr>
            <a:r>
              <a:rPr sz="1575" b="0" i="0">
                <a:solidFill>
                  <a:srgbClr val="FFFFFF"/>
                </a:solidFill>
                <a:latin typeface="Aptos"/>
                <a:ea typeface="Aptos"/>
                <a:cs typeface="Aptos"/>
              </a:rPr>
              <a:t>Buy and sell locally</a:t>
            </a:r>
          </a:p>
        </p:txBody>
      </p:sp>
      <p:sp>
        <p:nvSpPr>
          <p:cNvPr id="38" name="">
            <a:extLst xmlns:a="http://schemas.openxmlformats.org/drawingml/2006/main">
              <a:ext uri="{FF2B5EF4-FFF2-40B4-BE49-F238E27FC236}">
                <a16:creationId xmlns:a16="http://schemas.microsoft.com/office/drawing/2014/main" id="{95DA0A1C-4694-4683-A693-F09CD49AC6D9}"/>
              </a:ext>
            </a:extLst>
          </p:cNvPr>
          <p:cNvSpPr>
            <a:spLocks xmlns:a="http://schemas.openxmlformats.org/drawingml/2006/main" noGrp="1"/>
          </p:cNvSpPr>
          <p:nvPr/>
        </p:nvSpPr>
        <p:spPr>
          <a:xfrm xmlns:a="http://schemas.openxmlformats.org/drawingml/2006/main">
            <a:off x="6229350" y="4867275"/>
            <a:ext cx="209550" cy="20955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AB457FE-BAB2-47C0-A8A1-F9B98C3B24FB}"/>
              </a:ext>
            </a:extLst>
          </p:cNvPr>
          <p:cNvSpPr>
            <a:spLocks xmlns:a="http://schemas.openxmlformats.org/drawingml/2006/main" noGrp="1"/>
          </p:cNvSpPr>
          <p:nvPr/>
        </p:nvSpPr>
        <p:spPr>
          <a:xfrm xmlns:a="http://schemas.openxmlformats.org/drawingml/2006/main">
            <a:off x="6229350" y="4857750"/>
            <a:ext cx="209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ptos Display"/>
                <a:ea typeface="Aptos Display"/>
                <a:cs typeface="Aptos Display"/>
              </a:defRPr>
            </a:pPr>
            <a:r>
              <a:rPr sz="1125" b="1" i="0">
                <a:solidFill>
                  <a:srgbClr val="FFFFFF"/>
                </a:solidFill>
                <a:latin typeface="Aptos Display"/>
                <a:ea typeface="Aptos Display"/>
                <a:cs typeface="Aptos Display"/>
              </a:rPr>
              <a:t>✓</a:t>
            </a:r>
          </a:p>
        </p:txBody>
      </p:sp>
      <p:sp>
        <p:nvSpPr>
          <p:cNvPr id="40" name="">
            <a:extLst xmlns:a="http://schemas.openxmlformats.org/drawingml/2006/main">
              <a:ext uri="{FF2B5EF4-FFF2-40B4-BE49-F238E27FC236}">
                <a16:creationId xmlns:a16="http://schemas.microsoft.com/office/drawing/2014/main" id="{6F4ECE26-E691-4625-AF15-FEED810D4E96}"/>
              </a:ext>
            </a:extLst>
          </p:cNvPr>
          <p:cNvSpPr>
            <a:spLocks xmlns:a="http://schemas.openxmlformats.org/drawingml/2006/main" noGrp="1"/>
          </p:cNvSpPr>
          <p:nvPr/>
        </p:nvSpPr>
        <p:spPr>
          <a:xfrm xmlns:a="http://schemas.openxmlformats.org/drawingml/2006/main">
            <a:off x="6581775" y="4829175"/>
            <a:ext cx="433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FFFFFF"/>
                </a:solidFill>
                <a:latin typeface="Aptos"/>
                <a:ea typeface="Aptos"/>
                <a:cs typeface="Aptos"/>
              </a:defRPr>
            </a:pPr>
            <a:r>
              <a:rPr sz="1575" b="0" i="0">
                <a:solidFill>
                  <a:srgbClr val="FFFFFF"/>
                </a:solidFill>
                <a:latin typeface="Aptos"/>
                <a:ea typeface="Aptos"/>
                <a:cs typeface="Aptos"/>
              </a:rPr>
              <a:t>Safety alerts delivered to all</a:t>
            </a:r>
          </a:p>
        </p:txBody>
      </p:sp>
      <p:sp>
        <p:nvSpPr>
          <p:cNvPr id="41" name="">
            <a:extLst xmlns:a="http://schemas.openxmlformats.org/drawingml/2006/main">
              <a:ext uri="{FF2B5EF4-FFF2-40B4-BE49-F238E27FC236}">
                <a16:creationId xmlns:a16="http://schemas.microsoft.com/office/drawing/2014/main" id="{1FA0B838-9F34-4A4E-9CED-8ED8B3810784}"/>
              </a:ext>
            </a:extLst>
          </p:cNvPr>
          <p:cNvSpPr>
            <a:spLocks xmlns:a="http://schemas.openxmlformats.org/drawingml/2006/main" noGrp="1"/>
          </p:cNvSpPr>
          <p:nvPr/>
        </p:nvSpPr>
        <p:spPr>
          <a:xfrm xmlns:a="http://schemas.openxmlformats.org/drawingml/2006/main">
            <a:off x="685800" y="5781675"/>
            <a:ext cx="10820400" cy="438150"/>
          </a:xfrm>
          <a:prstGeom xmlns:a="http://schemas.openxmlformats.org/drawingml/2006/main" prst="roundRect">
            <a:avLst>
              <a:gd name="adj" fmla="val 26087"/>
            </a:avLst>
          </a:prstGeom>
          <a:solidFill xmlns:a="http://schemas.openxmlformats.org/drawingml/2006/main">
            <a:srgbClr val="DCE7FF"/>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4461C07-BF2C-41C0-A414-F0E7B5EFC642}"/>
              </a:ext>
            </a:extLst>
          </p:cNvPr>
          <p:cNvSpPr>
            <a:spLocks xmlns:a="http://schemas.openxmlformats.org/drawingml/2006/main" noGrp="1"/>
          </p:cNvSpPr>
          <p:nvPr/>
        </p:nvSpPr>
        <p:spPr>
          <a:xfrm xmlns:a="http://schemas.openxmlformats.org/drawingml/2006/main">
            <a:off x="914400" y="5876925"/>
            <a:ext cx="1036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2E6BFF"/>
                </a:solidFill>
                <a:latin typeface="Aptos Display"/>
                <a:ea typeface="Aptos Display"/>
                <a:cs typeface="Aptos Display"/>
              </a:defRPr>
            </a:pPr>
            <a:r>
              <a:rPr sz="1650" b="1" i="0">
                <a:solidFill>
                  <a:srgbClr val="2E6BFF"/>
                </a:solidFill>
                <a:latin typeface="Aptos Display"/>
                <a:ea typeface="Aptos Display"/>
                <a:cs typeface="Aptos Display"/>
              </a:rPr>
              <a:t>Chat optimizes for conversation. Mohalla optimizes for coordinated outcomes.</a:t>
            </a:r>
          </a:p>
        </p:txBody>
      </p:sp>
      <p:sp>
        <p:nvSpPr>
          <p:cNvPr id="43" name="">
            <a:extLst xmlns:a="http://schemas.openxmlformats.org/drawingml/2006/main">
              <a:ext uri="{FF2B5EF4-FFF2-40B4-BE49-F238E27FC236}">
                <a16:creationId xmlns:a16="http://schemas.microsoft.com/office/drawing/2014/main" id="{67C39130-B1E1-406F-B2C2-59DA56C06E19}"/>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Comparison reflects product architecture, not a claim about WhatsApp’s broader capabilities.</a:t>
            </a:r>
          </a:p>
        </p:txBody>
      </p:sp>
      <p:sp>
        <p:nvSpPr>
          <p:cNvPr id="44" name="">
            <a:extLst xmlns:a="http://schemas.openxmlformats.org/drawingml/2006/main">
              <a:ext uri="{FF2B5EF4-FFF2-40B4-BE49-F238E27FC236}">
                <a16:creationId xmlns:a16="http://schemas.microsoft.com/office/drawing/2014/main" id="{7B1E196A-465A-4963-BF7D-FF559F4ED87E}"/>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04</a:t>
            </a:r>
          </a:p>
        </p:txBody>
      </p:sp>
    </p:spTree>
    <p:extLst>
      <p:ext uri="{BB962C8B-B14F-4D97-AF65-F5344CB8AC3E}">
        <p14:creationId xmlns:p14="http://schemas.microsoft.com/office/powerpoint/2010/main" val="241448588"/>
      </p:ext>
    </p:extLst>
  </p:cSld>
  <p:transition spd="fast" advClick="1">
    <p:fade/>
  </p:transition>
</p:sld>
</file>

<file path=ppt/slides/slide5.xml><?xml version="1.0" encoding="utf-8"?>
<p:sld xmlns:p="http://schemas.openxmlformats.org/presentationml/2006/main">
  <p:cSld>
    <p:bg>
      <p:bgPr>
        <a:solidFill xmlns:a="http://schemas.openxmlformats.org/drawingml/2006/main">
          <a:srgbClr val="121A2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F319B70-ED03-484F-B55A-F504F1B68BF5}"/>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THE SOLUTION</a:t>
            </a:r>
          </a:p>
        </p:txBody>
      </p:sp>
      <p:sp>
        <p:nvSpPr>
          <p:cNvPr id="2" name="">
            <a:extLst xmlns:a="http://schemas.openxmlformats.org/drawingml/2006/main">
              <a:ext uri="{FF2B5EF4-FFF2-40B4-BE49-F238E27FC236}">
                <a16:creationId xmlns:a16="http://schemas.microsoft.com/office/drawing/2014/main" id="{9BE49AD3-784D-4D3A-9BF4-CA4BD6579D1A}"/>
              </a:ext>
            </a:extLst>
          </p:cNvPr>
          <p:cNvSpPr>
            <a:spLocks xmlns:a="http://schemas.openxmlformats.org/drawingml/2006/main" noGrp="1"/>
          </p:cNvSpPr>
          <p:nvPr/>
        </p:nvSpPr>
        <p:spPr>
          <a:xfrm xmlns:a="http://schemas.openxmlformats.org/drawingml/2006/main">
            <a:off x="685800" y="990600"/>
            <a:ext cx="37147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3900" b="1" i="0">
                <a:solidFill>
                  <a:srgbClr val="FFFFFF"/>
                </a:solidFill>
                <a:latin typeface="Aptos Display"/>
                <a:ea typeface="Aptos Display"/>
                <a:cs typeface="Aptos Display"/>
              </a:defRPr>
            </a:pPr>
            <a:r>
              <a:rPr sz="3900" b="1" i="0">
                <a:solidFill>
                  <a:srgbClr val="FFFFFF"/>
                </a:solidFill>
                <a:latin typeface="Aptos Display"/>
                <a:ea typeface="Aptos Display"/>
                <a:cs typeface="Aptos Display"/>
              </a:rPr>
              <a:t>One verified layer</a:t>
            </a:r>
          </a:p>
          <a:p xmlns:a="http://schemas.openxmlformats.org/drawingml/2006/main">
            <a:pPr algn="l">
              <a:defRPr sz="3900" b="1" i="0">
                <a:solidFill>
                  <a:srgbClr val="FFFFFF"/>
                </a:solidFill>
                <a:latin typeface="Aptos Display"/>
                <a:ea typeface="Aptos Display"/>
                <a:cs typeface="Aptos Display"/>
              </a:defRPr>
            </a:pPr>
            <a:r>
              <a:rPr sz="3900" b="1" i="0">
                <a:solidFill>
                  <a:srgbClr val="FFFFFF"/>
                </a:solidFill>
                <a:latin typeface="Aptos Display"/>
                <a:ea typeface="Aptos Display"/>
                <a:cs typeface="Aptos Display"/>
              </a:rPr>
              <a:t>for the entire</a:t>
            </a:r>
          </a:p>
          <a:p xmlns:a="http://schemas.openxmlformats.org/drawingml/2006/main">
            <a:pPr algn="l">
              <a:defRPr sz="3900" b="1" i="0">
                <a:solidFill>
                  <a:srgbClr val="FFFFFF"/>
                </a:solidFill>
                <a:latin typeface="Aptos Display"/>
                <a:ea typeface="Aptos Display"/>
                <a:cs typeface="Aptos Display"/>
              </a:defRPr>
            </a:pPr>
            <a:r>
              <a:rPr sz="3900" b="1" i="0">
                <a:solidFill>
                  <a:srgbClr val="FFFFFF"/>
                </a:solidFill>
                <a:latin typeface="Aptos Display"/>
                <a:ea typeface="Aptos Display"/>
                <a:cs typeface="Aptos Display"/>
              </a:rPr>
              <a:t>neighborhood.</a:t>
            </a:r>
          </a:p>
        </p:txBody>
      </p:sp>
      <p:sp>
        <p:nvSpPr>
          <p:cNvPr id="3" name="">
            <a:extLst xmlns:a="http://schemas.openxmlformats.org/drawingml/2006/main">
              <a:ext uri="{FF2B5EF4-FFF2-40B4-BE49-F238E27FC236}">
                <a16:creationId xmlns:a16="http://schemas.microsoft.com/office/drawing/2014/main" id="{5B137A08-253C-4A71-826A-14C3A33D7155}"/>
              </a:ext>
            </a:extLst>
          </p:cNvPr>
          <p:cNvSpPr>
            <a:spLocks xmlns:a="http://schemas.openxmlformats.org/drawingml/2006/main" noGrp="1"/>
          </p:cNvSpPr>
          <p:nvPr/>
        </p:nvSpPr>
        <p:spPr>
          <a:xfrm xmlns:a="http://schemas.openxmlformats.org/drawingml/2006/main">
            <a:off x="685800" y="3209925"/>
            <a:ext cx="95250" cy="95250"/>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48B97C9-3096-4DD5-8887-35D50FF72DF0}"/>
              </a:ext>
            </a:extLst>
          </p:cNvPr>
          <p:cNvSpPr>
            <a:spLocks xmlns:a="http://schemas.openxmlformats.org/drawingml/2006/main" noGrp="1"/>
          </p:cNvSpPr>
          <p:nvPr/>
        </p:nvSpPr>
        <p:spPr>
          <a:xfrm xmlns:a="http://schemas.openxmlformats.org/drawingml/2006/main">
            <a:off x="895350" y="3143250"/>
            <a:ext cx="331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FFFFFF"/>
                </a:solidFill>
                <a:latin typeface="Aptos"/>
                <a:ea typeface="Aptos"/>
                <a:cs typeface="Aptos"/>
              </a:defRPr>
            </a:pPr>
            <a:r>
              <a:rPr sz="1500" b="0" i="0">
                <a:solidFill>
                  <a:srgbClr val="FFFFFF"/>
                </a:solidFill>
                <a:latin typeface="Aptos"/>
                <a:ea typeface="Aptos"/>
                <a:cs typeface="Aptos"/>
              </a:rPr>
              <a:t>Relevant local updates—not message overload.</a:t>
            </a:r>
          </a:p>
        </p:txBody>
      </p:sp>
      <p:sp>
        <p:nvSpPr>
          <p:cNvPr id="5" name="">
            <a:extLst xmlns:a="http://schemas.openxmlformats.org/drawingml/2006/main">
              <a:ext uri="{FF2B5EF4-FFF2-40B4-BE49-F238E27FC236}">
                <a16:creationId xmlns:a16="http://schemas.microsoft.com/office/drawing/2014/main" id="{5D4E18B6-F607-4E30-AF22-81F4AA13BFDA}"/>
              </a:ext>
            </a:extLst>
          </p:cNvPr>
          <p:cNvSpPr>
            <a:spLocks xmlns:a="http://schemas.openxmlformats.org/drawingml/2006/main" noGrp="1"/>
          </p:cNvSpPr>
          <p:nvPr/>
        </p:nvSpPr>
        <p:spPr>
          <a:xfrm xmlns:a="http://schemas.openxmlformats.org/drawingml/2006/main">
            <a:off x="685800" y="3895725"/>
            <a:ext cx="95250" cy="95250"/>
          </a:xfrm>
          <a:prstGeom xmlns:a="http://schemas.openxmlformats.org/drawingml/2006/main" prst="ellipse">
            <a:avLst/>
          </a:prstGeom>
          <a:solidFill xmlns:a="http://schemas.openxmlformats.org/drawingml/2006/main">
            <a:srgbClr val="5BBDE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996F745-6B2C-49CD-8DF6-99983D881E97}"/>
              </a:ext>
            </a:extLst>
          </p:cNvPr>
          <p:cNvSpPr>
            <a:spLocks xmlns:a="http://schemas.openxmlformats.org/drawingml/2006/main" noGrp="1"/>
          </p:cNvSpPr>
          <p:nvPr/>
        </p:nvSpPr>
        <p:spPr>
          <a:xfrm xmlns:a="http://schemas.openxmlformats.org/drawingml/2006/main">
            <a:off x="895350" y="3829050"/>
            <a:ext cx="3314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FFFFFF"/>
                </a:solidFill>
                <a:latin typeface="Aptos"/>
                <a:ea typeface="Aptos"/>
                <a:cs typeface="Aptos"/>
              </a:defRPr>
            </a:pPr>
            <a:r>
              <a:rPr sz="1500" b="0" i="0">
                <a:solidFill>
                  <a:srgbClr val="FFFFFF"/>
                </a:solidFill>
                <a:latin typeface="Aptos"/>
                <a:ea typeface="Aptos"/>
                <a:cs typeface="Aptos"/>
              </a:rPr>
              <a:t>Safety, events, commerce and conversations in context.</a:t>
            </a:r>
          </a:p>
        </p:txBody>
      </p:sp>
      <p:sp>
        <p:nvSpPr>
          <p:cNvPr id="7" name="">
            <a:extLst xmlns:a="http://schemas.openxmlformats.org/drawingml/2006/main">
              <a:ext uri="{FF2B5EF4-FFF2-40B4-BE49-F238E27FC236}">
                <a16:creationId xmlns:a16="http://schemas.microsoft.com/office/drawing/2014/main" id="{4292098A-97FE-4A04-8A62-EC853E75B0E2}"/>
              </a:ext>
            </a:extLst>
          </p:cNvPr>
          <p:cNvSpPr>
            <a:spLocks xmlns:a="http://schemas.openxmlformats.org/drawingml/2006/main" noGrp="1"/>
          </p:cNvSpPr>
          <p:nvPr/>
        </p:nvSpPr>
        <p:spPr>
          <a:xfrm xmlns:a="http://schemas.openxmlformats.org/drawingml/2006/main">
            <a:off x="685800" y="4695825"/>
            <a:ext cx="95250" cy="95250"/>
          </a:xfrm>
          <a:prstGeom xmlns:a="http://schemas.openxmlformats.org/drawingml/2006/main" prst="ellipse">
            <a:avLst/>
          </a:prstGeom>
          <a:solidFill xmlns:a="http://schemas.openxmlformats.org/drawingml/2006/main">
            <a:srgbClr val="D6B77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2DBD09-C47D-413B-9B75-DCED96E2A311}"/>
              </a:ext>
            </a:extLst>
          </p:cNvPr>
          <p:cNvSpPr>
            <a:spLocks xmlns:a="http://schemas.openxmlformats.org/drawingml/2006/main" noGrp="1"/>
          </p:cNvSpPr>
          <p:nvPr/>
        </p:nvSpPr>
        <p:spPr>
          <a:xfrm xmlns:a="http://schemas.openxmlformats.org/drawingml/2006/main">
            <a:off x="895350" y="4629150"/>
            <a:ext cx="331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FFFFFF"/>
                </a:solidFill>
                <a:latin typeface="Aptos"/>
                <a:ea typeface="Aptos"/>
                <a:cs typeface="Aptos"/>
              </a:defRPr>
            </a:pPr>
            <a:r>
              <a:rPr sz="1500" b="0" i="0">
                <a:solidFill>
                  <a:srgbClr val="FFFFFF"/>
                </a:solidFill>
                <a:latin typeface="Aptos"/>
                <a:ea typeface="Aptos"/>
                <a:cs typeface="Aptos"/>
              </a:rPr>
              <a:t>Admins keep control; residents gain everyday utility.</a:t>
            </a:r>
          </a:p>
        </p:txBody>
      </p:sp>
      <p:sp>
        <p:nvSpPr>
          <p:cNvPr id="9" name="">
            <a:extLst xmlns:a="http://schemas.openxmlformats.org/drawingml/2006/main">
              <a:ext uri="{FF2B5EF4-FFF2-40B4-BE49-F238E27FC236}">
                <a16:creationId xmlns:a16="http://schemas.microsoft.com/office/drawing/2014/main" id="{6E23A61E-1F78-4189-9900-958B716AC052}"/>
              </a:ext>
            </a:extLst>
          </p:cNvPr>
          <p:cNvSpPr>
            <a:spLocks xmlns:a="http://schemas.openxmlformats.org/drawingml/2006/main" noGrp="1"/>
          </p:cNvSpPr>
          <p:nvPr/>
        </p:nvSpPr>
        <p:spPr>
          <a:xfrm xmlns:a="http://schemas.openxmlformats.org/drawingml/2006/main">
            <a:off x="685800" y="5676900"/>
            <a:ext cx="161925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82F6F80-207E-4C2A-AFE4-295395D7A829}"/>
              </a:ext>
            </a:extLst>
          </p:cNvPr>
          <p:cNvSpPr>
            <a:spLocks xmlns:a="http://schemas.openxmlformats.org/drawingml/2006/main" noGrp="1"/>
          </p:cNvSpPr>
          <p:nvPr/>
        </p:nvSpPr>
        <p:spPr>
          <a:xfrm xmlns:a="http://schemas.openxmlformats.org/drawingml/2006/main">
            <a:off x="800100" y="5715000"/>
            <a:ext cx="1390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121A2C"/>
                </a:solidFill>
                <a:latin typeface="Aptos Display"/>
                <a:ea typeface="Aptos Display"/>
                <a:cs typeface="Aptos Display"/>
              </a:defRPr>
            </a:pPr>
            <a:r>
              <a:rPr sz="900" b="1" i="0">
                <a:solidFill>
                  <a:srgbClr val="121A2C"/>
                </a:solidFill>
                <a:latin typeface="Aptos Display"/>
                <a:ea typeface="Aptos Display"/>
                <a:cs typeface="Aptos Display"/>
              </a:rPr>
              <a:t>WORKING PRODUCT</a:t>
            </a:r>
          </a:p>
        </p:txBody>
      </p:sp>
      <p:sp>
        <p:nvSpPr>
          <p:cNvPr id="11" name="">
            <a:extLst xmlns:a="http://schemas.openxmlformats.org/drawingml/2006/main">
              <a:ext uri="{FF2B5EF4-FFF2-40B4-BE49-F238E27FC236}">
                <a16:creationId xmlns:a16="http://schemas.microsoft.com/office/drawing/2014/main" id="{E768A941-F390-4FD8-9C25-D06C331FA93A}"/>
              </a:ext>
            </a:extLst>
          </p:cNvPr>
          <p:cNvSpPr>
            <a:spLocks xmlns:a="http://schemas.openxmlformats.org/drawingml/2006/main" noGrp="1"/>
          </p:cNvSpPr>
          <p:nvPr/>
        </p:nvSpPr>
        <p:spPr>
          <a:xfrm xmlns:a="http://schemas.openxmlformats.org/drawingml/2006/main">
            <a:off x="4629150" y="514350"/>
            <a:ext cx="3143250" cy="5810250"/>
          </a:xfrm>
          <a:prstGeom xmlns:a="http://schemas.openxmlformats.org/drawingml/2006/main" prst="roundRect">
            <a:avLst>
              <a:gd name="adj" fmla="val 8485"/>
            </a:avLst>
          </a:prstGeom>
          <a:solidFill xmlns:a="http://schemas.openxmlformats.org/drawingml/2006/main">
            <a:srgbClr val="F5F0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C7393F1-CF9D-4345-83DE-C84B9B2D3818}"/>
              </a:ext>
            </a:extLst>
          </p:cNvPr>
          <p:cNvSpPr>
            <a:spLocks xmlns:a="http://schemas.openxmlformats.org/drawingml/2006/main" noGrp="1"/>
          </p:cNvSpPr>
          <p:nvPr/>
        </p:nvSpPr>
        <p:spPr>
          <a:xfrm xmlns:a="http://schemas.openxmlformats.org/drawingml/2006/main">
            <a:off x="7905750" y="876300"/>
            <a:ext cx="3600450" cy="5067300"/>
          </a:xfrm>
          <a:prstGeom xmlns:a="http://schemas.openxmlformats.org/drawingml/2006/main" prst="roundRect">
            <a:avLst>
              <a:gd name="adj" fmla="val 7407"/>
            </a:avLst>
          </a:prstGeom>
          <a:solidFill xmlns:a="http://schemas.openxmlformats.org/drawingml/2006/main">
            <a:srgbClr val="F5F0E7"/>
          </a:solidFill>
          <a:ln xmlns:a="http://schemas.openxmlformats.org/drawingml/2006/main" w="0">
            <a:no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9c2ba7f1f4b4317"/>
          <a:stretch xmlns:a="http://schemas.openxmlformats.org/drawingml/2006/main"/>
        </p:blipFill>
        <p:spPr>
          <a:xfrm xmlns:a="http://schemas.openxmlformats.org/drawingml/2006/main">
            <a:off x="4839324" y="647700"/>
            <a:ext cx="2722902" cy="554355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0e26915f07a4f6f"/>
          <a:stretch xmlns:a="http://schemas.openxmlformats.org/drawingml/2006/main"/>
        </p:blipFill>
        <p:spPr>
          <a:xfrm xmlns:a="http://schemas.openxmlformats.org/drawingml/2006/main">
            <a:off x="8543965" y="1009650"/>
            <a:ext cx="2324019" cy="48006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7AEA660-15F9-4A16-A434-18240EF9981F}"/>
              </a:ext>
            </a:extLst>
          </p:cNvPr>
          <p:cNvSpPr>
            <a:spLocks xmlns:a="http://schemas.openxmlformats.org/drawingml/2006/main" noGrp="1"/>
          </p:cNvSpPr>
          <p:nvPr/>
        </p:nvSpPr>
        <p:spPr>
          <a:xfrm xmlns:a="http://schemas.openxmlformats.org/drawingml/2006/main">
            <a:off x="5638800" y="5981700"/>
            <a:ext cx="1143000" cy="26670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039F1F1-807D-436A-A3C1-96BDF204DD28}"/>
              </a:ext>
            </a:extLst>
          </p:cNvPr>
          <p:cNvSpPr>
            <a:spLocks xmlns:a="http://schemas.openxmlformats.org/drawingml/2006/main" noGrp="1"/>
          </p:cNvSpPr>
          <p:nvPr/>
        </p:nvSpPr>
        <p:spPr>
          <a:xfrm xmlns:a="http://schemas.openxmlformats.org/drawingml/2006/main">
            <a:off x="5753100" y="60198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121A2C"/>
                </a:solidFill>
                <a:latin typeface="Aptos Display"/>
                <a:ea typeface="Aptos Display"/>
                <a:cs typeface="Aptos Display"/>
              </a:defRPr>
            </a:pPr>
            <a:r>
              <a:rPr sz="825" b="1" i="0">
                <a:solidFill>
                  <a:srgbClr val="121A2C"/>
                </a:solidFill>
                <a:latin typeface="Aptos Display"/>
                <a:ea typeface="Aptos Display"/>
                <a:cs typeface="Aptos Display"/>
              </a:rPr>
              <a:t>EVENTS</a:t>
            </a:r>
          </a:p>
        </p:txBody>
      </p:sp>
      <p:sp>
        <p:nvSpPr>
          <p:cNvPr id="17" name="">
            <a:extLst xmlns:a="http://schemas.openxmlformats.org/drawingml/2006/main">
              <a:ext uri="{FF2B5EF4-FFF2-40B4-BE49-F238E27FC236}">
                <a16:creationId xmlns:a16="http://schemas.microsoft.com/office/drawing/2014/main" id="{DC76AEC6-4C33-4282-8E48-32EDE1571EE1}"/>
              </a:ext>
            </a:extLst>
          </p:cNvPr>
          <p:cNvSpPr>
            <a:spLocks xmlns:a="http://schemas.openxmlformats.org/drawingml/2006/main" noGrp="1"/>
          </p:cNvSpPr>
          <p:nvPr/>
        </p:nvSpPr>
        <p:spPr>
          <a:xfrm xmlns:a="http://schemas.openxmlformats.org/drawingml/2006/main">
            <a:off x="8991600" y="5610225"/>
            <a:ext cx="1333500" cy="26670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97810C8-F17D-4473-A67B-4DF9D4D84C00}"/>
              </a:ext>
            </a:extLst>
          </p:cNvPr>
          <p:cNvSpPr>
            <a:spLocks xmlns:a="http://schemas.openxmlformats.org/drawingml/2006/main" noGrp="1"/>
          </p:cNvSpPr>
          <p:nvPr/>
        </p:nvSpPr>
        <p:spPr>
          <a:xfrm xmlns:a="http://schemas.openxmlformats.org/drawingml/2006/main">
            <a:off x="9105900" y="564832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CITY FEED</a:t>
            </a:r>
          </a:p>
        </p:txBody>
      </p:sp>
      <p:sp>
        <p:nvSpPr>
          <p:cNvPr id="19" name="">
            <a:extLst xmlns:a="http://schemas.openxmlformats.org/drawingml/2006/main">
              <a:ext uri="{FF2B5EF4-FFF2-40B4-BE49-F238E27FC236}">
                <a16:creationId xmlns:a16="http://schemas.microsoft.com/office/drawing/2014/main" id="{910105E1-C5E9-49BC-AF04-74F1FDE219E0}"/>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C7D0E1"/>
                </a:solidFill>
                <a:latin typeface="Aptos"/>
                <a:ea typeface="Aptos"/>
                <a:cs typeface="Aptos"/>
              </a:defRPr>
            </a:pPr>
            <a:r>
              <a:rPr sz="825" b="0" i="0">
                <a:solidFill>
                  <a:srgbClr val="C7D0E1"/>
                </a:solidFill>
                <a:latin typeface="Aptos"/>
                <a:ea typeface="Aptos"/>
                <a:cs typeface="Aptos"/>
              </a:rPr>
              <a:t>Screens from the current Mohalla product: Events and City Feed.</a:t>
            </a:r>
          </a:p>
        </p:txBody>
      </p:sp>
      <p:sp>
        <p:nvSpPr>
          <p:cNvPr id="20" name="">
            <a:extLst xmlns:a="http://schemas.openxmlformats.org/drawingml/2006/main">
              <a:ext uri="{FF2B5EF4-FFF2-40B4-BE49-F238E27FC236}">
                <a16:creationId xmlns:a16="http://schemas.microsoft.com/office/drawing/2014/main" id="{75FEC22E-DE77-48E8-A4BE-8FA72FB8813D}"/>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FFFFFF"/>
                </a:solidFill>
                <a:latin typeface="Aptos Display"/>
                <a:ea typeface="Aptos Display"/>
                <a:cs typeface="Aptos Display"/>
              </a:defRPr>
            </a:pPr>
            <a:r>
              <a:rPr sz="900" b="1" i="0">
                <a:solidFill>
                  <a:srgbClr val="FFFFFF"/>
                </a:solidFill>
                <a:latin typeface="Aptos Display"/>
                <a:ea typeface="Aptos Display"/>
                <a:cs typeface="Aptos Display"/>
              </a:rPr>
              <a:t>05</a:t>
            </a:r>
          </a:p>
        </p:txBody>
      </p:sp>
    </p:spTree>
    <p:extLst>
      <p:ext uri="{BB962C8B-B14F-4D97-AF65-F5344CB8AC3E}">
        <p14:creationId xmlns:p14="http://schemas.microsoft.com/office/powerpoint/2010/main" val="425701189"/>
      </p:ext>
    </p:extLst>
  </p:cSld>
  <p:transition spd="fast" advClick="1">
    <p:push dir="l"/>
  </p:transition>
</p:sld>
</file>

<file path=ppt/slides/slide6.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0C4C7D5-5AC8-4ABC-979F-F0DB9267A6F2}"/>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THE PRODUCT SYSTEM</a:t>
            </a:r>
          </a:p>
        </p:txBody>
      </p:sp>
      <p:sp>
        <p:nvSpPr>
          <p:cNvPr id="2" name="">
            <a:extLst xmlns:a="http://schemas.openxmlformats.org/drawingml/2006/main">
              <a:ext uri="{FF2B5EF4-FFF2-40B4-BE49-F238E27FC236}">
                <a16:creationId xmlns:a16="http://schemas.microsoft.com/office/drawing/2014/main" id="{F56CC51A-DA91-4660-8D44-F347B272BA19}"/>
              </a:ext>
            </a:extLst>
          </p:cNvPr>
          <p:cNvSpPr>
            <a:spLocks xmlns:a="http://schemas.openxmlformats.org/drawingml/2006/main" noGrp="1"/>
          </p:cNvSpPr>
          <p:nvPr/>
        </p:nvSpPr>
        <p:spPr>
          <a:xfrm xmlns:a="http://schemas.openxmlformats.org/drawingml/2006/main">
            <a:off x="685800" y="74295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750" b="1" i="0">
                <a:solidFill>
                  <a:srgbClr val="182033"/>
                </a:solidFill>
                <a:latin typeface="Aptos Display"/>
                <a:ea typeface="Aptos Display"/>
                <a:cs typeface="Aptos Display"/>
              </a:defRPr>
            </a:pPr>
            <a:r>
              <a:rPr sz="3750" b="1" i="0">
                <a:solidFill>
                  <a:srgbClr val="182033"/>
                </a:solidFill>
                <a:latin typeface="Aptos Display"/>
                <a:ea typeface="Aptos Display"/>
                <a:cs typeface="Aptos Display"/>
              </a:rPr>
              <a:t>Six everyday loops. One trusted identity.</a:t>
            </a:r>
          </a:p>
        </p:txBody>
      </p:sp>
      <p:sp>
        <p:nvSpPr>
          <p:cNvPr id="3" name="">
            <a:extLst xmlns:a="http://schemas.openxmlformats.org/drawingml/2006/main">
              <a:ext uri="{FF2B5EF4-FFF2-40B4-BE49-F238E27FC236}">
                <a16:creationId xmlns:a16="http://schemas.microsoft.com/office/drawing/2014/main" id="{4FBBF5E9-9C11-4ADF-89D4-E20F948D2377}"/>
              </a:ext>
            </a:extLst>
          </p:cNvPr>
          <p:cNvSpPr>
            <a:spLocks xmlns:a="http://schemas.openxmlformats.org/drawingml/2006/main" noGrp="1"/>
          </p:cNvSpPr>
          <p:nvPr/>
        </p:nvSpPr>
        <p:spPr>
          <a:xfrm xmlns:a="http://schemas.openxmlformats.org/drawingml/2006/main">
            <a:off x="685800" y="1752600"/>
            <a:ext cx="3314700" cy="1581150"/>
          </a:xfrm>
          <a:prstGeom xmlns:a="http://schemas.openxmlformats.org/drawingml/2006/main" prst="roundRect">
            <a:avLst>
              <a:gd name="adj" fmla="val 12048"/>
            </a:avLst>
          </a:prstGeom>
          <a:solidFill xmlns:a="http://schemas.openxmlformats.org/drawingml/2006/main">
            <a:srgbClr val="FFFFFF"/>
          </a:solidFill>
          <a:ln xmlns:a="http://schemas.openxmlformats.org/drawingml/2006/main" w="9525">
            <a:solidFill>
              <a:srgbClr val="D8D2C8"/>
            </a:solidFill>
            <a:prstDash val="solid"/>
          </a:ln>
        </p:spPr>
      </p:sp>
      <p:sp>
        <p:nvSpPr>
          <p:cNvPr id="4" name="">
            <a:extLst xmlns:a="http://schemas.openxmlformats.org/drawingml/2006/main">
              <a:ext uri="{FF2B5EF4-FFF2-40B4-BE49-F238E27FC236}">
                <a16:creationId xmlns:a16="http://schemas.microsoft.com/office/drawing/2014/main" id="{7D98CD96-5818-4466-A35B-C1C910BD49BF}"/>
              </a:ext>
            </a:extLst>
          </p:cNvPr>
          <p:cNvSpPr>
            <a:spLocks xmlns:a="http://schemas.openxmlformats.org/drawingml/2006/main" noGrp="1"/>
          </p:cNvSpPr>
          <p:nvPr/>
        </p:nvSpPr>
        <p:spPr>
          <a:xfrm xmlns:a="http://schemas.openxmlformats.org/drawingml/2006/main">
            <a:off x="685800" y="1752600"/>
            <a:ext cx="3314700" cy="7620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9455FE-6055-4EEB-AF2E-2D3A114B8D9C}"/>
              </a:ext>
            </a:extLst>
          </p:cNvPr>
          <p:cNvSpPr>
            <a:spLocks xmlns:a="http://schemas.openxmlformats.org/drawingml/2006/main" noGrp="1"/>
          </p:cNvSpPr>
          <p:nvPr/>
        </p:nvSpPr>
        <p:spPr>
          <a:xfrm xmlns:a="http://schemas.openxmlformats.org/drawingml/2006/main">
            <a:off x="914400" y="2009775"/>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FF6B5E"/>
                </a:solidFill>
                <a:latin typeface="Aptos Display"/>
                <a:ea typeface="Aptos Display"/>
                <a:cs typeface="Aptos Display"/>
              </a:defRPr>
            </a:pPr>
            <a:r>
              <a:rPr sz="1500" b="1" i="0">
                <a:solidFill>
                  <a:srgbClr val="FF6B5E"/>
                </a:solidFill>
                <a:latin typeface="Aptos Display"/>
                <a:ea typeface="Aptos Display"/>
                <a:cs typeface="Aptos Display"/>
              </a:rPr>
              <a:t>01</a:t>
            </a:r>
          </a:p>
        </p:txBody>
      </p:sp>
      <p:sp>
        <p:nvSpPr>
          <p:cNvPr id="6" name="">
            <a:extLst xmlns:a="http://schemas.openxmlformats.org/drawingml/2006/main">
              <a:ext uri="{FF2B5EF4-FFF2-40B4-BE49-F238E27FC236}">
                <a16:creationId xmlns:a16="http://schemas.microsoft.com/office/drawing/2014/main" id="{399223CB-5870-449E-9A82-C932C66D11E9}"/>
              </a:ext>
            </a:extLst>
          </p:cNvPr>
          <p:cNvSpPr>
            <a:spLocks xmlns:a="http://schemas.openxmlformats.org/drawingml/2006/main" noGrp="1"/>
          </p:cNvSpPr>
          <p:nvPr/>
        </p:nvSpPr>
        <p:spPr>
          <a:xfrm xmlns:a="http://schemas.openxmlformats.org/drawingml/2006/main">
            <a:off x="1428750" y="1990725"/>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Feed</a:t>
            </a:r>
          </a:p>
        </p:txBody>
      </p:sp>
      <p:sp>
        <p:nvSpPr>
          <p:cNvPr id="7" name="">
            <a:extLst xmlns:a="http://schemas.openxmlformats.org/drawingml/2006/main">
              <a:ext uri="{FF2B5EF4-FFF2-40B4-BE49-F238E27FC236}">
                <a16:creationId xmlns:a16="http://schemas.microsoft.com/office/drawing/2014/main" id="{257EF801-C9EC-4FDA-9B3D-5CE94C1A3F08}"/>
              </a:ext>
            </a:extLst>
          </p:cNvPr>
          <p:cNvSpPr>
            <a:spLocks xmlns:a="http://schemas.openxmlformats.org/drawingml/2006/main" noGrp="1"/>
          </p:cNvSpPr>
          <p:nvPr/>
        </p:nvSpPr>
        <p:spPr>
          <a:xfrm xmlns:a="http://schemas.openxmlformats.org/drawingml/2006/main">
            <a:off x="914400" y="25336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B6474"/>
                </a:solidFill>
                <a:latin typeface="Aptos"/>
                <a:ea typeface="Aptos"/>
                <a:cs typeface="Aptos"/>
              </a:defRPr>
            </a:pPr>
            <a:r>
              <a:rPr sz="1425" b="0" i="0">
                <a:solidFill>
                  <a:srgbClr val="5B6474"/>
                </a:solidFill>
                <a:latin typeface="Aptos"/>
                <a:ea typeface="Aptos"/>
                <a:cs typeface="Aptos"/>
              </a:rPr>
              <a:t>Relevant local updates and city-level discovery.</a:t>
            </a:r>
          </a:p>
        </p:txBody>
      </p:sp>
      <p:sp>
        <p:nvSpPr>
          <p:cNvPr id="8" name="">
            <a:extLst xmlns:a="http://schemas.openxmlformats.org/drawingml/2006/main">
              <a:ext uri="{FF2B5EF4-FFF2-40B4-BE49-F238E27FC236}">
                <a16:creationId xmlns:a16="http://schemas.microsoft.com/office/drawing/2014/main" id="{60B150E1-784E-40C8-8A06-D07A4C4DCC83}"/>
              </a:ext>
            </a:extLst>
          </p:cNvPr>
          <p:cNvSpPr>
            <a:spLocks xmlns:a="http://schemas.openxmlformats.org/drawingml/2006/main" noGrp="1"/>
          </p:cNvSpPr>
          <p:nvPr/>
        </p:nvSpPr>
        <p:spPr>
          <a:xfrm xmlns:a="http://schemas.openxmlformats.org/drawingml/2006/main">
            <a:off x="4267200" y="1752600"/>
            <a:ext cx="3314700" cy="1581150"/>
          </a:xfrm>
          <a:prstGeom xmlns:a="http://schemas.openxmlformats.org/drawingml/2006/main" prst="roundRect">
            <a:avLst>
              <a:gd name="adj" fmla="val 12048"/>
            </a:avLst>
          </a:prstGeom>
          <a:solidFill xmlns:a="http://schemas.openxmlformats.org/drawingml/2006/main">
            <a:srgbClr val="FFFFFF"/>
          </a:solidFill>
          <a:ln xmlns:a="http://schemas.openxmlformats.org/drawingml/2006/main" w="9525">
            <a:solidFill>
              <a:srgbClr val="D8D2C8"/>
            </a:solidFill>
            <a:prstDash val="solid"/>
          </a:ln>
        </p:spPr>
      </p:sp>
      <p:sp>
        <p:nvSpPr>
          <p:cNvPr id="9" name="">
            <a:extLst xmlns:a="http://schemas.openxmlformats.org/drawingml/2006/main">
              <a:ext uri="{FF2B5EF4-FFF2-40B4-BE49-F238E27FC236}">
                <a16:creationId xmlns:a16="http://schemas.microsoft.com/office/drawing/2014/main" id="{5F696994-4BE5-46D6-ACD7-15F7D066F27C}"/>
              </a:ext>
            </a:extLst>
          </p:cNvPr>
          <p:cNvSpPr>
            <a:spLocks xmlns:a="http://schemas.openxmlformats.org/drawingml/2006/main" noGrp="1"/>
          </p:cNvSpPr>
          <p:nvPr/>
        </p:nvSpPr>
        <p:spPr>
          <a:xfrm xmlns:a="http://schemas.openxmlformats.org/drawingml/2006/main">
            <a:off x="4267200" y="1752600"/>
            <a:ext cx="3314700" cy="7620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67286E6-4E11-4FB9-9242-E1607AAB38FE}"/>
              </a:ext>
            </a:extLst>
          </p:cNvPr>
          <p:cNvSpPr>
            <a:spLocks xmlns:a="http://schemas.openxmlformats.org/drawingml/2006/main" noGrp="1"/>
          </p:cNvSpPr>
          <p:nvPr/>
        </p:nvSpPr>
        <p:spPr>
          <a:xfrm xmlns:a="http://schemas.openxmlformats.org/drawingml/2006/main">
            <a:off x="4495800" y="2009775"/>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2E6BFF"/>
                </a:solidFill>
                <a:latin typeface="Aptos Display"/>
                <a:ea typeface="Aptos Display"/>
                <a:cs typeface="Aptos Display"/>
              </a:defRPr>
            </a:pPr>
            <a:r>
              <a:rPr sz="1500" b="1" i="0">
                <a:solidFill>
                  <a:srgbClr val="2E6BFF"/>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F8D8928D-5A1C-43CE-B2B4-E752E7C6A639}"/>
              </a:ext>
            </a:extLst>
          </p:cNvPr>
          <p:cNvSpPr>
            <a:spLocks xmlns:a="http://schemas.openxmlformats.org/drawingml/2006/main" noGrp="1"/>
          </p:cNvSpPr>
          <p:nvPr/>
        </p:nvSpPr>
        <p:spPr>
          <a:xfrm xmlns:a="http://schemas.openxmlformats.org/drawingml/2006/main">
            <a:off x="5010150" y="1990725"/>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Safety</a:t>
            </a:r>
          </a:p>
        </p:txBody>
      </p:sp>
      <p:sp>
        <p:nvSpPr>
          <p:cNvPr id="12" name="">
            <a:extLst xmlns:a="http://schemas.openxmlformats.org/drawingml/2006/main">
              <a:ext uri="{FF2B5EF4-FFF2-40B4-BE49-F238E27FC236}">
                <a16:creationId xmlns:a16="http://schemas.microsoft.com/office/drawing/2014/main" id="{0370C0E3-9794-4E25-B455-DB5865DA09DC}"/>
              </a:ext>
            </a:extLst>
          </p:cNvPr>
          <p:cNvSpPr>
            <a:spLocks xmlns:a="http://schemas.openxmlformats.org/drawingml/2006/main" noGrp="1"/>
          </p:cNvSpPr>
          <p:nvPr/>
        </p:nvSpPr>
        <p:spPr>
          <a:xfrm xmlns:a="http://schemas.openxmlformats.org/drawingml/2006/main">
            <a:off x="4495800" y="25336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B6474"/>
                </a:solidFill>
                <a:latin typeface="Aptos"/>
                <a:ea typeface="Aptos"/>
                <a:cs typeface="Aptos"/>
              </a:defRPr>
            </a:pPr>
            <a:r>
              <a:rPr sz="1425" b="0" i="0">
                <a:solidFill>
                  <a:srgbClr val="5B6474"/>
                </a:solidFill>
                <a:latin typeface="Aptos"/>
                <a:ea typeface="Aptos"/>
                <a:cs typeface="Aptos"/>
              </a:rPr>
              <a:t>Alerts, emergency contacts and push delivery.</a:t>
            </a:r>
          </a:p>
        </p:txBody>
      </p:sp>
      <p:sp>
        <p:nvSpPr>
          <p:cNvPr id="13" name="">
            <a:extLst xmlns:a="http://schemas.openxmlformats.org/drawingml/2006/main">
              <a:ext uri="{FF2B5EF4-FFF2-40B4-BE49-F238E27FC236}">
                <a16:creationId xmlns:a16="http://schemas.microsoft.com/office/drawing/2014/main" id="{E475F7A5-8206-402F-86AB-17958C1BA704}"/>
              </a:ext>
            </a:extLst>
          </p:cNvPr>
          <p:cNvSpPr>
            <a:spLocks xmlns:a="http://schemas.openxmlformats.org/drawingml/2006/main" noGrp="1"/>
          </p:cNvSpPr>
          <p:nvPr/>
        </p:nvSpPr>
        <p:spPr>
          <a:xfrm xmlns:a="http://schemas.openxmlformats.org/drawingml/2006/main">
            <a:off x="7848600" y="1752600"/>
            <a:ext cx="3314700" cy="1581150"/>
          </a:xfrm>
          <a:prstGeom xmlns:a="http://schemas.openxmlformats.org/drawingml/2006/main" prst="roundRect">
            <a:avLst>
              <a:gd name="adj" fmla="val 12048"/>
            </a:avLst>
          </a:prstGeom>
          <a:solidFill xmlns:a="http://schemas.openxmlformats.org/drawingml/2006/main">
            <a:srgbClr val="FFFFFF"/>
          </a:solidFill>
          <a:ln xmlns:a="http://schemas.openxmlformats.org/drawingml/2006/main" w="9525">
            <a:solidFill>
              <a:srgbClr val="D8D2C8"/>
            </a:solidFill>
            <a:prstDash val="solid"/>
          </a:ln>
        </p:spPr>
      </p:sp>
      <p:sp>
        <p:nvSpPr>
          <p:cNvPr id="14" name="">
            <a:extLst xmlns:a="http://schemas.openxmlformats.org/drawingml/2006/main">
              <a:ext uri="{FF2B5EF4-FFF2-40B4-BE49-F238E27FC236}">
                <a16:creationId xmlns:a16="http://schemas.microsoft.com/office/drawing/2014/main" id="{B04649A8-CA41-44C3-BCD6-9D24EF86A7CB}"/>
              </a:ext>
            </a:extLst>
          </p:cNvPr>
          <p:cNvSpPr>
            <a:spLocks xmlns:a="http://schemas.openxmlformats.org/drawingml/2006/main" noGrp="1"/>
          </p:cNvSpPr>
          <p:nvPr/>
        </p:nvSpPr>
        <p:spPr>
          <a:xfrm xmlns:a="http://schemas.openxmlformats.org/drawingml/2006/main">
            <a:off x="7848600" y="1752600"/>
            <a:ext cx="3314700" cy="76200"/>
          </a:xfrm>
          <a:prstGeom xmlns:a="http://schemas.openxmlformats.org/drawingml/2006/main" prst="roundRect">
            <a:avLst>
              <a:gd name="adj" fmla="val 50000"/>
            </a:avLst>
          </a:prstGeom>
          <a:solidFill xmlns:a="http://schemas.openxmlformats.org/drawingml/2006/main">
            <a:srgbClr val="D6B77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2E2A748-9383-4895-8267-EE7391A2D86B}"/>
              </a:ext>
            </a:extLst>
          </p:cNvPr>
          <p:cNvSpPr>
            <a:spLocks xmlns:a="http://schemas.openxmlformats.org/drawingml/2006/main" noGrp="1"/>
          </p:cNvSpPr>
          <p:nvPr/>
        </p:nvSpPr>
        <p:spPr>
          <a:xfrm xmlns:a="http://schemas.openxmlformats.org/drawingml/2006/main">
            <a:off x="8077200" y="2009775"/>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D6B77A"/>
                </a:solidFill>
                <a:latin typeface="Aptos Display"/>
                <a:ea typeface="Aptos Display"/>
                <a:cs typeface="Aptos Display"/>
              </a:defRPr>
            </a:pPr>
            <a:r>
              <a:rPr sz="1500" b="1" i="0">
                <a:solidFill>
                  <a:srgbClr val="D6B77A"/>
                </a:solidFill>
                <a:latin typeface="Aptos Display"/>
                <a:ea typeface="Aptos Display"/>
                <a:cs typeface="Aptos Display"/>
              </a:rPr>
              <a:t>03</a:t>
            </a:r>
          </a:p>
        </p:txBody>
      </p:sp>
      <p:sp>
        <p:nvSpPr>
          <p:cNvPr id="16" name="">
            <a:extLst xmlns:a="http://schemas.openxmlformats.org/drawingml/2006/main">
              <a:ext uri="{FF2B5EF4-FFF2-40B4-BE49-F238E27FC236}">
                <a16:creationId xmlns:a16="http://schemas.microsoft.com/office/drawing/2014/main" id="{205F39BA-EC5B-495D-9F3D-29644749374B}"/>
              </a:ext>
            </a:extLst>
          </p:cNvPr>
          <p:cNvSpPr>
            <a:spLocks xmlns:a="http://schemas.openxmlformats.org/drawingml/2006/main" noGrp="1"/>
          </p:cNvSpPr>
          <p:nvPr/>
        </p:nvSpPr>
        <p:spPr>
          <a:xfrm xmlns:a="http://schemas.openxmlformats.org/drawingml/2006/main">
            <a:off x="8591550" y="1990725"/>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Participate</a:t>
            </a:r>
          </a:p>
        </p:txBody>
      </p:sp>
      <p:sp>
        <p:nvSpPr>
          <p:cNvPr id="17" name="">
            <a:extLst xmlns:a="http://schemas.openxmlformats.org/drawingml/2006/main">
              <a:ext uri="{FF2B5EF4-FFF2-40B4-BE49-F238E27FC236}">
                <a16:creationId xmlns:a16="http://schemas.microsoft.com/office/drawing/2014/main" id="{067FEDD7-AC6D-424C-8048-B8E85BFB4221}"/>
              </a:ext>
            </a:extLst>
          </p:cNvPr>
          <p:cNvSpPr>
            <a:spLocks xmlns:a="http://schemas.openxmlformats.org/drawingml/2006/main" noGrp="1"/>
          </p:cNvSpPr>
          <p:nvPr/>
        </p:nvSpPr>
        <p:spPr>
          <a:xfrm xmlns:a="http://schemas.openxmlformats.org/drawingml/2006/main">
            <a:off x="8077200" y="25336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B6474"/>
                </a:solidFill>
                <a:latin typeface="Aptos"/>
                <a:ea typeface="Aptos"/>
                <a:cs typeface="Aptos"/>
              </a:defRPr>
            </a:pPr>
            <a:r>
              <a:rPr sz="1425" b="0" i="0">
                <a:solidFill>
                  <a:srgbClr val="5B6474"/>
                </a:solidFill>
                <a:latin typeface="Aptos"/>
                <a:ea typeface="Aptos"/>
                <a:cs typeface="Aptos"/>
              </a:rPr>
              <a:t>Events, polls, announcements and volunteering.</a:t>
            </a:r>
          </a:p>
        </p:txBody>
      </p:sp>
      <p:sp>
        <p:nvSpPr>
          <p:cNvPr id="18" name="">
            <a:extLst xmlns:a="http://schemas.openxmlformats.org/drawingml/2006/main">
              <a:ext uri="{FF2B5EF4-FFF2-40B4-BE49-F238E27FC236}">
                <a16:creationId xmlns:a16="http://schemas.microsoft.com/office/drawing/2014/main" id="{ECEE910C-5CDF-42B0-A313-D358BCDA18FD}"/>
              </a:ext>
            </a:extLst>
          </p:cNvPr>
          <p:cNvSpPr>
            <a:spLocks xmlns:a="http://schemas.openxmlformats.org/drawingml/2006/main" noGrp="1"/>
          </p:cNvSpPr>
          <p:nvPr/>
        </p:nvSpPr>
        <p:spPr>
          <a:xfrm xmlns:a="http://schemas.openxmlformats.org/drawingml/2006/main">
            <a:off x="685800" y="3600450"/>
            <a:ext cx="3314700" cy="1581150"/>
          </a:xfrm>
          <a:prstGeom xmlns:a="http://schemas.openxmlformats.org/drawingml/2006/main" prst="roundRect">
            <a:avLst>
              <a:gd name="adj" fmla="val 12048"/>
            </a:avLst>
          </a:prstGeom>
          <a:solidFill xmlns:a="http://schemas.openxmlformats.org/drawingml/2006/main">
            <a:srgbClr val="FFFFFF"/>
          </a:solidFill>
          <a:ln xmlns:a="http://schemas.openxmlformats.org/drawingml/2006/main" w="9525">
            <a:solidFill>
              <a:srgbClr val="D8D2C8"/>
            </a:solidFill>
            <a:prstDash val="solid"/>
          </a:ln>
        </p:spPr>
      </p:sp>
      <p:sp>
        <p:nvSpPr>
          <p:cNvPr id="19" name="">
            <a:extLst xmlns:a="http://schemas.openxmlformats.org/drawingml/2006/main">
              <a:ext uri="{FF2B5EF4-FFF2-40B4-BE49-F238E27FC236}">
                <a16:creationId xmlns:a16="http://schemas.microsoft.com/office/drawing/2014/main" id="{3C44ADC7-0876-4254-9722-19916F525937}"/>
              </a:ext>
            </a:extLst>
          </p:cNvPr>
          <p:cNvSpPr>
            <a:spLocks xmlns:a="http://schemas.openxmlformats.org/drawingml/2006/main" noGrp="1"/>
          </p:cNvSpPr>
          <p:nvPr/>
        </p:nvSpPr>
        <p:spPr>
          <a:xfrm xmlns:a="http://schemas.openxmlformats.org/drawingml/2006/main">
            <a:off x="685800" y="3600450"/>
            <a:ext cx="3314700" cy="76200"/>
          </a:xfrm>
          <a:prstGeom xmlns:a="http://schemas.openxmlformats.org/drawingml/2006/main" prst="roundRect">
            <a:avLst>
              <a:gd name="adj" fmla="val 50000"/>
            </a:avLst>
          </a:prstGeom>
          <a:solidFill xmlns:a="http://schemas.openxmlformats.org/drawingml/2006/main">
            <a:srgbClr val="5BBD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C2D4326-231D-4EA9-B655-3AEF8310F1D0}"/>
              </a:ext>
            </a:extLst>
          </p:cNvPr>
          <p:cNvSpPr>
            <a:spLocks xmlns:a="http://schemas.openxmlformats.org/drawingml/2006/main" noGrp="1"/>
          </p:cNvSpPr>
          <p:nvPr/>
        </p:nvSpPr>
        <p:spPr>
          <a:xfrm xmlns:a="http://schemas.openxmlformats.org/drawingml/2006/main">
            <a:off x="914400" y="3857625"/>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5BBDE1"/>
                </a:solidFill>
                <a:latin typeface="Aptos Display"/>
                <a:ea typeface="Aptos Display"/>
                <a:cs typeface="Aptos Display"/>
              </a:defRPr>
            </a:pPr>
            <a:r>
              <a:rPr sz="1500" b="1" i="0">
                <a:solidFill>
                  <a:srgbClr val="5BBDE1"/>
                </a:solidFill>
                <a:latin typeface="Aptos Display"/>
                <a:ea typeface="Aptos Display"/>
                <a:cs typeface="Aptos Display"/>
              </a:rPr>
              <a:t>04</a:t>
            </a:r>
          </a:p>
        </p:txBody>
      </p:sp>
      <p:sp>
        <p:nvSpPr>
          <p:cNvPr id="21" name="">
            <a:extLst xmlns:a="http://schemas.openxmlformats.org/drawingml/2006/main">
              <a:ext uri="{FF2B5EF4-FFF2-40B4-BE49-F238E27FC236}">
                <a16:creationId xmlns:a16="http://schemas.microsoft.com/office/drawing/2014/main" id="{6CCA74AD-6A2E-4B65-9961-077AA916C4DA}"/>
              </a:ext>
            </a:extLst>
          </p:cNvPr>
          <p:cNvSpPr>
            <a:spLocks xmlns:a="http://schemas.openxmlformats.org/drawingml/2006/main" noGrp="1"/>
          </p:cNvSpPr>
          <p:nvPr/>
        </p:nvSpPr>
        <p:spPr>
          <a:xfrm xmlns:a="http://schemas.openxmlformats.org/drawingml/2006/main">
            <a:off x="1428750" y="3838575"/>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Trade</a:t>
            </a:r>
          </a:p>
        </p:txBody>
      </p:sp>
      <p:sp>
        <p:nvSpPr>
          <p:cNvPr id="22" name="">
            <a:extLst xmlns:a="http://schemas.openxmlformats.org/drawingml/2006/main">
              <a:ext uri="{FF2B5EF4-FFF2-40B4-BE49-F238E27FC236}">
                <a16:creationId xmlns:a16="http://schemas.microsoft.com/office/drawing/2014/main" id="{6DB4D03E-3D39-4476-9233-647FB5858AF9}"/>
              </a:ext>
            </a:extLst>
          </p:cNvPr>
          <p:cNvSpPr>
            <a:spLocks xmlns:a="http://schemas.openxmlformats.org/drawingml/2006/main" noGrp="1"/>
          </p:cNvSpPr>
          <p:nvPr/>
        </p:nvSpPr>
        <p:spPr>
          <a:xfrm xmlns:a="http://schemas.openxmlformats.org/drawingml/2006/main">
            <a:off x="9144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B6474"/>
                </a:solidFill>
                <a:latin typeface="Aptos"/>
                <a:ea typeface="Aptos"/>
                <a:cs typeface="Aptos"/>
              </a:defRPr>
            </a:pPr>
            <a:r>
              <a:rPr sz="1425" b="0" i="0">
                <a:solidFill>
                  <a:srgbClr val="5B6474"/>
                </a:solidFill>
                <a:latin typeface="Aptos"/>
                <a:ea typeface="Aptos"/>
                <a:cs typeface="Aptos"/>
              </a:rPr>
              <a:t>Local marketplace, shops and service discovery.</a:t>
            </a:r>
          </a:p>
        </p:txBody>
      </p:sp>
      <p:sp>
        <p:nvSpPr>
          <p:cNvPr id="23" name="">
            <a:extLst xmlns:a="http://schemas.openxmlformats.org/drawingml/2006/main">
              <a:ext uri="{FF2B5EF4-FFF2-40B4-BE49-F238E27FC236}">
                <a16:creationId xmlns:a16="http://schemas.microsoft.com/office/drawing/2014/main" id="{38653B0D-64BC-4785-99E0-9660F4912AC6}"/>
              </a:ext>
            </a:extLst>
          </p:cNvPr>
          <p:cNvSpPr>
            <a:spLocks xmlns:a="http://schemas.openxmlformats.org/drawingml/2006/main" noGrp="1"/>
          </p:cNvSpPr>
          <p:nvPr/>
        </p:nvSpPr>
        <p:spPr>
          <a:xfrm xmlns:a="http://schemas.openxmlformats.org/drawingml/2006/main">
            <a:off x="4267200" y="3600450"/>
            <a:ext cx="3314700" cy="1581150"/>
          </a:xfrm>
          <a:prstGeom xmlns:a="http://schemas.openxmlformats.org/drawingml/2006/main" prst="roundRect">
            <a:avLst>
              <a:gd name="adj" fmla="val 12048"/>
            </a:avLst>
          </a:prstGeom>
          <a:solidFill xmlns:a="http://schemas.openxmlformats.org/drawingml/2006/main">
            <a:srgbClr val="FFFFFF"/>
          </a:solidFill>
          <a:ln xmlns:a="http://schemas.openxmlformats.org/drawingml/2006/main" w="9525">
            <a:solidFill>
              <a:srgbClr val="D8D2C8"/>
            </a:solidFill>
            <a:prstDash val="solid"/>
          </a:ln>
        </p:spPr>
      </p:sp>
      <p:sp>
        <p:nvSpPr>
          <p:cNvPr id="24" name="">
            <a:extLst xmlns:a="http://schemas.openxmlformats.org/drawingml/2006/main">
              <a:ext uri="{FF2B5EF4-FFF2-40B4-BE49-F238E27FC236}">
                <a16:creationId xmlns:a16="http://schemas.microsoft.com/office/drawing/2014/main" id="{D9B558F5-2248-473C-8B22-43C3013140B3}"/>
              </a:ext>
            </a:extLst>
          </p:cNvPr>
          <p:cNvSpPr>
            <a:spLocks xmlns:a="http://schemas.openxmlformats.org/drawingml/2006/main" noGrp="1"/>
          </p:cNvSpPr>
          <p:nvPr/>
        </p:nvSpPr>
        <p:spPr>
          <a:xfrm xmlns:a="http://schemas.openxmlformats.org/drawingml/2006/main">
            <a:off x="4267200" y="3600450"/>
            <a:ext cx="3314700" cy="7620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30A686B-E688-4724-824E-533F4C3393F8}"/>
              </a:ext>
            </a:extLst>
          </p:cNvPr>
          <p:cNvSpPr>
            <a:spLocks xmlns:a="http://schemas.openxmlformats.org/drawingml/2006/main" noGrp="1"/>
          </p:cNvSpPr>
          <p:nvPr/>
        </p:nvSpPr>
        <p:spPr>
          <a:xfrm xmlns:a="http://schemas.openxmlformats.org/drawingml/2006/main">
            <a:off x="4495800" y="3857625"/>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FF6B5E"/>
                </a:solidFill>
                <a:latin typeface="Aptos Display"/>
                <a:ea typeface="Aptos Display"/>
                <a:cs typeface="Aptos Display"/>
              </a:defRPr>
            </a:pPr>
            <a:r>
              <a:rPr sz="1500" b="1" i="0">
                <a:solidFill>
                  <a:srgbClr val="FF6B5E"/>
                </a:solidFill>
                <a:latin typeface="Aptos Display"/>
                <a:ea typeface="Aptos Display"/>
                <a:cs typeface="Aptos Display"/>
              </a:rPr>
              <a:t>05</a:t>
            </a:r>
          </a:p>
        </p:txBody>
      </p:sp>
      <p:sp>
        <p:nvSpPr>
          <p:cNvPr id="26" name="">
            <a:extLst xmlns:a="http://schemas.openxmlformats.org/drawingml/2006/main">
              <a:ext uri="{FF2B5EF4-FFF2-40B4-BE49-F238E27FC236}">
                <a16:creationId xmlns:a16="http://schemas.microsoft.com/office/drawing/2014/main" id="{003915B1-F2A1-42F4-9FDA-04F703932CB5}"/>
              </a:ext>
            </a:extLst>
          </p:cNvPr>
          <p:cNvSpPr>
            <a:spLocks xmlns:a="http://schemas.openxmlformats.org/drawingml/2006/main" noGrp="1"/>
          </p:cNvSpPr>
          <p:nvPr/>
        </p:nvSpPr>
        <p:spPr>
          <a:xfrm xmlns:a="http://schemas.openxmlformats.org/drawingml/2006/main">
            <a:off x="5010150" y="3838575"/>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Connect</a:t>
            </a:r>
          </a:p>
        </p:txBody>
      </p:sp>
      <p:sp>
        <p:nvSpPr>
          <p:cNvPr id="27" name="">
            <a:extLst xmlns:a="http://schemas.openxmlformats.org/drawingml/2006/main">
              <a:ext uri="{FF2B5EF4-FFF2-40B4-BE49-F238E27FC236}">
                <a16:creationId xmlns:a16="http://schemas.microsoft.com/office/drawing/2014/main" id="{EDA0119A-920E-46CA-9549-E9D1FEF70E19}"/>
              </a:ext>
            </a:extLst>
          </p:cNvPr>
          <p:cNvSpPr>
            <a:spLocks xmlns:a="http://schemas.openxmlformats.org/drawingml/2006/main" noGrp="1"/>
          </p:cNvSpPr>
          <p:nvPr/>
        </p:nvSpPr>
        <p:spPr>
          <a:xfrm xmlns:a="http://schemas.openxmlformats.org/drawingml/2006/main">
            <a:off x="44958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B6474"/>
                </a:solidFill>
                <a:latin typeface="Aptos"/>
                <a:ea typeface="Aptos"/>
                <a:cs typeface="Aptos"/>
              </a:defRPr>
            </a:pPr>
            <a:r>
              <a:rPr sz="1425" b="0" i="0">
                <a:solidFill>
                  <a:srgbClr val="5B6474"/>
                </a:solidFill>
                <a:latin typeface="Aptos"/>
                <a:ea typeface="Aptos"/>
                <a:cs typeface="Aptos"/>
              </a:rPr>
              <a:t>Private messages and contextual notifications.</a:t>
            </a:r>
          </a:p>
        </p:txBody>
      </p:sp>
      <p:sp>
        <p:nvSpPr>
          <p:cNvPr id="28" name="">
            <a:extLst xmlns:a="http://schemas.openxmlformats.org/drawingml/2006/main">
              <a:ext uri="{FF2B5EF4-FFF2-40B4-BE49-F238E27FC236}">
                <a16:creationId xmlns:a16="http://schemas.microsoft.com/office/drawing/2014/main" id="{93EA3286-7B16-47A1-9B84-9CE2CA85711F}"/>
              </a:ext>
            </a:extLst>
          </p:cNvPr>
          <p:cNvSpPr>
            <a:spLocks xmlns:a="http://schemas.openxmlformats.org/drawingml/2006/main" noGrp="1"/>
          </p:cNvSpPr>
          <p:nvPr/>
        </p:nvSpPr>
        <p:spPr>
          <a:xfrm xmlns:a="http://schemas.openxmlformats.org/drawingml/2006/main">
            <a:off x="7848600" y="3600450"/>
            <a:ext cx="3314700" cy="1581150"/>
          </a:xfrm>
          <a:prstGeom xmlns:a="http://schemas.openxmlformats.org/drawingml/2006/main" prst="roundRect">
            <a:avLst>
              <a:gd name="adj" fmla="val 12048"/>
            </a:avLst>
          </a:prstGeom>
          <a:solidFill xmlns:a="http://schemas.openxmlformats.org/drawingml/2006/main">
            <a:srgbClr val="FFFFFF"/>
          </a:solidFill>
          <a:ln xmlns:a="http://schemas.openxmlformats.org/drawingml/2006/main" w="9525">
            <a:solidFill>
              <a:srgbClr val="D8D2C8"/>
            </a:solidFill>
            <a:prstDash val="solid"/>
          </a:ln>
        </p:spPr>
      </p:sp>
      <p:sp>
        <p:nvSpPr>
          <p:cNvPr id="29" name="">
            <a:extLst xmlns:a="http://schemas.openxmlformats.org/drawingml/2006/main">
              <a:ext uri="{FF2B5EF4-FFF2-40B4-BE49-F238E27FC236}">
                <a16:creationId xmlns:a16="http://schemas.microsoft.com/office/drawing/2014/main" id="{5B7B63DE-8DEC-4C36-AC47-F19E467D1F63}"/>
              </a:ext>
            </a:extLst>
          </p:cNvPr>
          <p:cNvSpPr>
            <a:spLocks xmlns:a="http://schemas.openxmlformats.org/drawingml/2006/main" noGrp="1"/>
          </p:cNvSpPr>
          <p:nvPr/>
        </p:nvSpPr>
        <p:spPr>
          <a:xfrm xmlns:a="http://schemas.openxmlformats.org/drawingml/2006/main">
            <a:off x="7848600" y="3600450"/>
            <a:ext cx="3314700" cy="7620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A40571C-9102-4704-8705-E823A59AFE31}"/>
              </a:ext>
            </a:extLst>
          </p:cNvPr>
          <p:cNvSpPr>
            <a:spLocks xmlns:a="http://schemas.openxmlformats.org/drawingml/2006/main" noGrp="1"/>
          </p:cNvSpPr>
          <p:nvPr/>
        </p:nvSpPr>
        <p:spPr>
          <a:xfrm xmlns:a="http://schemas.openxmlformats.org/drawingml/2006/main">
            <a:off x="8077200" y="3857625"/>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2E6BFF"/>
                </a:solidFill>
                <a:latin typeface="Aptos Display"/>
                <a:ea typeface="Aptos Display"/>
                <a:cs typeface="Aptos Display"/>
              </a:defRPr>
            </a:pPr>
            <a:r>
              <a:rPr sz="1500" b="1" i="0">
                <a:solidFill>
                  <a:srgbClr val="2E6BFF"/>
                </a:solidFill>
                <a:latin typeface="Aptos Display"/>
                <a:ea typeface="Aptos Display"/>
                <a:cs typeface="Aptos Display"/>
              </a:rPr>
              <a:t>06</a:t>
            </a:r>
          </a:p>
        </p:txBody>
      </p:sp>
      <p:sp>
        <p:nvSpPr>
          <p:cNvPr id="31" name="">
            <a:extLst xmlns:a="http://schemas.openxmlformats.org/drawingml/2006/main">
              <a:ext uri="{FF2B5EF4-FFF2-40B4-BE49-F238E27FC236}">
                <a16:creationId xmlns:a16="http://schemas.microsoft.com/office/drawing/2014/main" id="{E6FDFFDB-5064-46DF-B2ED-4B2F542C6725}"/>
              </a:ext>
            </a:extLst>
          </p:cNvPr>
          <p:cNvSpPr>
            <a:spLocks xmlns:a="http://schemas.openxmlformats.org/drawingml/2006/main" noGrp="1"/>
          </p:cNvSpPr>
          <p:nvPr/>
        </p:nvSpPr>
        <p:spPr>
          <a:xfrm xmlns:a="http://schemas.openxmlformats.org/drawingml/2006/main">
            <a:off x="8591550" y="3838575"/>
            <a:ext cx="220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Operate</a:t>
            </a:r>
          </a:p>
        </p:txBody>
      </p:sp>
      <p:sp>
        <p:nvSpPr>
          <p:cNvPr id="32" name="">
            <a:extLst xmlns:a="http://schemas.openxmlformats.org/drawingml/2006/main">
              <a:ext uri="{FF2B5EF4-FFF2-40B4-BE49-F238E27FC236}">
                <a16:creationId xmlns:a16="http://schemas.microsoft.com/office/drawing/2014/main" id="{F933C9B1-652E-4B1A-AE64-B47FF398A805}"/>
              </a:ext>
            </a:extLst>
          </p:cNvPr>
          <p:cNvSpPr>
            <a:spLocks xmlns:a="http://schemas.openxmlformats.org/drawingml/2006/main" noGrp="1"/>
          </p:cNvSpPr>
          <p:nvPr/>
        </p:nvSpPr>
        <p:spPr>
          <a:xfrm xmlns:a="http://schemas.openxmlformats.org/drawingml/2006/main">
            <a:off x="80772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B6474"/>
                </a:solidFill>
                <a:latin typeface="Aptos"/>
                <a:ea typeface="Aptos"/>
                <a:cs typeface="Aptos"/>
              </a:defRPr>
            </a:pPr>
            <a:r>
              <a:rPr sz="1425" b="0" i="0">
                <a:solidFill>
                  <a:srgbClr val="5B6474"/>
                </a:solidFill>
                <a:latin typeface="Aptos"/>
                <a:ea typeface="Aptos"/>
                <a:cs typeface="Aptos"/>
              </a:rPr>
              <a:t>Approvals, roles, moderation and admin controls.</a:t>
            </a:r>
          </a:p>
        </p:txBody>
      </p:sp>
      <p:sp>
        <p:nvSpPr>
          <p:cNvPr id="33" name="">
            <a:extLst xmlns:a="http://schemas.openxmlformats.org/drawingml/2006/main">
              <a:ext uri="{FF2B5EF4-FFF2-40B4-BE49-F238E27FC236}">
                <a16:creationId xmlns:a16="http://schemas.microsoft.com/office/drawing/2014/main" id="{86D145A0-80B3-4CFA-9C1F-2B08BDB6F476}"/>
              </a:ext>
            </a:extLst>
          </p:cNvPr>
          <p:cNvSpPr>
            <a:spLocks xmlns:a="http://schemas.openxmlformats.org/drawingml/2006/main" noGrp="1"/>
          </p:cNvSpPr>
          <p:nvPr/>
        </p:nvSpPr>
        <p:spPr>
          <a:xfrm xmlns:a="http://schemas.openxmlformats.org/drawingml/2006/main">
            <a:off x="2133600" y="5715000"/>
            <a:ext cx="7924800" cy="323850"/>
          </a:xfrm>
          <a:prstGeom xmlns:a="http://schemas.openxmlformats.org/drawingml/2006/main" prst="roundRect">
            <a:avLst>
              <a:gd name="adj" fmla="val 50000"/>
            </a:avLst>
          </a:prstGeom>
          <a:solidFill xmlns:a="http://schemas.openxmlformats.org/drawingml/2006/main">
            <a:srgbClr val="121A2C"/>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0FC669A-C5F2-4461-A6BE-A097D78FB5E7}"/>
              </a:ext>
            </a:extLst>
          </p:cNvPr>
          <p:cNvSpPr>
            <a:spLocks xmlns:a="http://schemas.openxmlformats.org/drawingml/2006/main" noGrp="1"/>
          </p:cNvSpPr>
          <p:nvPr/>
        </p:nvSpPr>
        <p:spPr>
          <a:xfrm xmlns:a="http://schemas.openxmlformats.org/drawingml/2006/main">
            <a:off x="2247900" y="5753100"/>
            <a:ext cx="7696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FFFFFF"/>
                </a:solidFill>
                <a:latin typeface="Aptos Display"/>
                <a:ea typeface="Aptos Display"/>
                <a:cs typeface="Aptos Display"/>
              </a:defRPr>
            </a:pPr>
            <a:r>
              <a:rPr sz="1050" b="1" i="0">
                <a:solidFill>
                  <a:srgbClr val="FFFFFF"/>
                </a:solidFill>
                <a:latin typeface="Aptos Display"/>
                <a:ea typeface="Aptos Display"/>
                <a:cs typeface="Aptos Display"/>
              </a:rPr>
              <a:t>DAILY UTILITY FOR RESIDENTS  •  OPERATIONAL CONTROL FOR ADMINISTRATORS</a:t>
            </a:r>
          </a:p>
        </p:txBody>
      </p:sp>
      <p:sp>
        <p:nvSpPr>
          <p:cNvPr id="35" name="">
            <a:extLst xmlns:a="http://schemas.openxmlformats.org/drawingml/2006/main">
              <a:ext uri="{FF2B5EF4-FFF2-40B4-BE49-F238E27FC236}">
                <a16:creationId xmlns:a16="http://schemas.microsoft.com/office/drawing/2014/main" id="{DB3F4265-8C9B-4FF0-9937-9F956936F738}"/>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Source: current Mohalla application routes and product audit, July 2026.</a:t>
            </a:r>
          </a:p>
        </p:txBody>
      </p:sp>
      <p:sp>
        <p:nvSpPr>
          <p:cNvPr id="36" name="">
            <a:extLst xmlns:a="http://schemas.openxmlformats.org/drawingml/2006/main">
              <a:ext uri="{FF2B5EF4-FFF2-40B4-BE49-F238E27FC236}">
                <a16:creationId xmlns:a16="http://schemas.microsoft.com/office/drawing/2014/main" id="{847BB875-0CDB-4F03-A024-605D14153B5C}"/>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06</a:t>
            </a:r>
          </a:p>
        </p:txBody>
      </p:sp>
    </p:spTree>
    <p:extLst>
      <p:ext uri="{BB962C8B-B14F-4D97-AF65-F5344CB8AC3E}">
        <p14:creationId xmlns:p14="http://schemas.microsoft.com/office/powerpoint/2010/main" val="211965751"/>
      </p:ext>
    </p:extLst>
  </p:cSld>
  <p:transition spd="fast" advClick="1">
    <p:fade/>
  </p:transition>
</p:sld>
</file>

<file path=ppt/slides/slide7.xml><?xml version="1.0" encoding="utf-8"?>
<p:sld xmlns:p="http://schemas.openxmlformats.org/presentationml/2006/main">
  <p:cSld>
    <p:bg>
      <p:bgPr>
        <a:solidFill xmlns:a="http://schemas.openxmlformats.org/drawingml/2006/main">
          <a:srgbClr val="121A2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0492146-623B-4753-91A2-69FFC0D1B1CD}"/>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TRUST ARCHITECTURE</a:t>
            </a:r>
          </a:p>
        </p:txBody>
      </p:sp>
      <p:sp>
        <p:nvSpPr>
          <p:cNvPr id="2" name="">
            <a:extLst xmlns:a="http://schemas.openxmlformats.org/drawingml/2006/main">
              <a:ext uri="{FF2B5EF4-FFF2-40B4-BE49-F238E27FC236}">
                <a16:creationId xmlns:a16="http://schemas.microsoft.com/office/drawing/2014/main" id="{610E9121-C2BD-4E59-9BBA-89F23CFD5B1E}"/>
              </a:ext>
            </a:extLst>
          </p:cNvPr>
          <p:cNvSpPr>
            <a:spLocks xmlns:a="http://schemas.openxmlformats.org/drawingml/2006/main" noGrp="1"/>
          </p:cNvSpPr>
          <p:nvPr/>
        </p:nvSpPr>
        <p:spPr>
          <a:xfrm xmlns:a="http://schemas.openxmlformats.org/drawingml/2006/main">
            <a:off x="685800" y="1076325"/>
            <a:ext cx="40957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719"/>
          </a:bodyPr>
          <a:lstStyle xmlns:a="http://schemas.openxmlformats.org/drawingml/2006/main"/>
          <a:p xmlns:a="http://schemas.openxmlformats.org/drawingml/2006/main">
            <a:pPr algn="l">
              <a:defRPr sz="3975" b="1" i="0">
                <a:solidFill>
                  <a:srgbClr val="FFFFFF"/>
                </a:solidFill>
                <a:latin typeface="Aptos Display"/>
                <a:ea typeface="Aptos Display"/>
                <a:cs typeface="Aptos Display"/>
              </a:defRPr>
            </a:pPr>
            <a:r>
              <a:rPr sz="3975" b="1" i="0">
                <a:solidFill>
                  <a:srgbClr val="FFFFFF"/>
                </a:solidFill>
                <a:latin typeface="Aptos Display"/>
                <a:ea typeface="Aptos Display"/>
                <a:cs typeface="Aptos Display"/>
              </a:rPr>
              <a:t>Trust is not a badge.</a:t>
            </a:r>
          </a:p>
          <a:p xmlns:a="http://schemas.openxmlformats.org/drawingml/2006/main">
            <a:pPr algn="l">
              <a:defRPr sz="3975" b="1" i="0">
                <a:solidFill>
                  <a:srgbClr val="FFFFFF"/>
                </a:solidFill>
                <a:latin typeface="Aptos Display"/>
                <a:ea typeface="Aptos Display"/>
                <a:cs typeface="Aptos Display"/>
              </a:defRPr>
            </a:pPr>
            <a:r>
              <a:rPr sz="3975" b="1" i="0">
                <a:solidFill>
                  <a:srgbClr val="FFFFFF"/>
                </a:solidFill>
                <a:latin typeface="Aptos Display"/>
                <a:ea typeface="Aptos Display"/>
                <a:cs typeface="Aptos Display"/>
              </a:rPr>
              <a:t>It is the product</a:t>
            </a:r>
          </a:p>
          <a:p xmlns:a="http://schemas.openxmlformats.org/drawingml/2006/main">
            <a:pPr algn="l">
              <a:defRPr sz="3975" b="1" i="0">
                <a:solidFill>
                  <a:srgbClr val="FFFFFF"/>
                </a:solidFill>
                <a:latin typeface="Aptos Display"/>
                <a:ea typeface="Aptos Display"/>
                <a:cs typeface="Aptos Display"/>
              </a:defRPr>
            </a:pPr>
            <a:r>
              <a:rPr sz="3975" b="1" i="0">
                <a:solidFill>
                  <a:srgbClr val="FFFFFF"/>
                </a:solidFill>
                <a:latin typeface="Aptos Display"/>
                <a:ea typeface="Aptos Display"/>
                <a:cs typeface="Aptos Display"/>
              </a:rPr>
              <a:t>architecture.</a:t>
            </a:r>
          </a:p>
        </p:txBody>
      </p:sp>
      <p:sp>
        <p:nvSpPr>
          <p:cNvPr id="3" name="">
            <a:extLst xmlns:a="http://schemas.openxmlformats.org/drawingml/2006/main">
              <a:ext uri="{FF2B5EF4-FFF2-40B4-BE49-F238E27FC236}">
                <a16:creationId xmlns:a16="http://schemas.microsoft.com/office/drawing/2014/main" id="{B49495EE-4766-49DF-9FCA-7BBBA7011CE1}"/>
              </a:ext>
            </a:extLst>
          </p:cNvPr>
          <p:cNvSpPr>
            <a:spLocks xmlns:a="http://schemas.openxmlformats.org/drawingml/2006/main" noGrp="1"/>
          </p:cNvSpPr>
          <p:nvPr/>
        </p:nvSpPr>
        <p:spPr>
          <a:xfrm xmlns:a="http://schemas.openxmlformats.org/drawingml/2006/main">
            <a:off x="685800" y="3048000"/>
            <a:ext cx="3714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C7D0E1"/>
                </a:solidFill>
                <a:latin typeface="Aptos"/>
                <a:ea typeface="Aptos"/>
                <a:cs typeface="Aptos"/>
              </a:defRPr>
            </a:pPr>
            <a:r>
              <a:rPr sz="1800" b="0" i="0">
                <a:solidFill>
                  <a:srgbClr val="C7D0E1"/>
                </a:solidFill>
                <a:latin typeface="Aptos"/>
                <a:ea typeface="Aptos"/>
                <a:cs typeface="Aptos"/>
              </a:rPr>
              <a:t>The network becomes valuable because access, context and accountability are designed in.</a:t>
            </a:r>
          </a:p>
        </p:txBody>
      </p:sp>
      <p:sp>
        <p:nvSpPr>
          <p:cNvPr id="4" name="">
            <a:extLst xmlns:a="http://schemas.openxmlformats.org/drawingml/2006/main">
              <a:ext uri="{FF2B5EF4-FFF2-40B4-BE49-F238E27FC236}">
                <a16:creationId xmlns:a16="http://schemas.microsoft.com/office/drawing/2014/main" id="{DF0967C5-8FF7-472D-801E-17BFEB4A3848}"/>
              </a:ext>
            </a:extLst>
          </p:cNvPr>
          <p:cNvSpPr>
            <a:spLocks xmlns:a="http://schemas.openxmlformats.org/drawingml/2006/main" noGrp="1"/>
          </p:cNvSpPr>
          <p:nvPr/>
        </p:nvSpPr>
        <p:spPr>
          <a:xfrm xmlns:a="http://schemas.openxmlformats.org/drawingml/2006/main">
            <a:off x="685800" y="4448175"/>
            <a:ext cx="198120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85F881-7889-412E-BE70-68819CF27011}"/>
              </a:ext>
            </a:extLst>
          </p:cNvPr>
          <p:cNvSpPr>
            <a:spLocks xmlns:a="http://schemas.openxmlformats.org/drawingml/2006/main" noGrp="1"/>
          </p:cNvSpPr>
          <p:nvPr/>
        </p:nvSpPr>
        <p:spPr>
          <a:xfrm xmlns:a="http://schemas.openxmlformats.org/drawingml/2006/main">
            <a:off x="800100" y="44862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121A2C"/>
                </a:solidFill>
                <a:latin typeface="Aptos Display"/>
                <a:ea typeface="Aptos Display"/>
                <a:cs typeface="Aptos Display"/>
              </a:defRPr>
            </a:pPr>
            <a:r>
              <a:rPr sz="900" b="1" i="0">
                <a:solidFill>
                  <a:srgbClr val="121A2C"/>
                </a:solidFill>
                <a:latin typeface="Aptos Display"/>
                <a:ea typeface="Aptos Display"/>
                <a:cs typeface="Aptos Display"/>
              </a:rPr>
              <a:t>PRIVATE BY COMMUNITY</a:t>
            </a:r>
          </a:p>
        </p:txBody>
      </p:sp>
      <p:sp>
        <p:nvSpPr>
          <p:cNvPr id="6" name="">
            <a:extLst xmlns:a="http://schemas.openxmlformats.org/drawingml/2006/main">
              <a:ext uri="{FF2B5EF4-FFF2-40B4-BE49-F238E27FC236}">
                <a16:creationId xmlns:a16="http://schemas.microsoft.com/office/drawing/2014/main" id="{169D7E0F-165B-456C-8145-675C04C0A2A9}"/>
              </a:ext>
            </a:extLst>
          </p:cNvPr>
          <p:cNvSpPr>
            <a:spLocks xmlns:a="http://schemas.openxmlformats.org/drawingml/2006/main" noGrp="1"/>
          </p:cNvSpPr>
          <p:nvPr/>
        </p:nvSpPr>
        <p:spPr>
          <a:xfrm xmlns:a="http://schemas.openxmlformats.org/drawingml/2006/main">
            <a:off x="2781300" y="4448175"/>
            <a:ext cx="1428750" cy="32385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3B7AC6-9860-4C4A-8099-DA354640ECC1}"/>
              </a:ext>
            </a:extLst>
          </p:cNvPr>
          <p:cNvSpPr>
            <a:spLocks xmlns:a="http://schemas.openxmlformats.org/drawingml/2006/main" noGrp="1"/>
          </p:cNvSpPr>
          <p:nvPr/>
        </p:nvSpPr>
        <p:spPr>
          <a:xfrm xmlns:a="http://schemas.openxmlformats.org/drawingml/2006/main">
            <a:off x="2895600" y="4486275"/>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FFFFFF"/>
                </a:solidFill>
                <a:latin typeface="Aptos Display"/>
                <a:ea typeface="Aptos Display"/>
                <a:cs typeface="Aptos Display"/>
              </a:defRPr>
            </a:pPr>
            <a:r>
              <a:rPr sz="900" b="1" i="0">
                <a:solidFill>
                  <a:srgbClr val="FFFFFF"/>
                </a:solidFill>
                <a:latin typeface="Aptos Display"/>
                <a:ea typeface="Aptos Display"/>
                <a:cs typeface="Aptos Display"/>
              </a:rPr>
              <a:t>ROLE-BASED</a:t>
            </a:r>
          </a:p>
        </p:txBody>
      </p:sp>
      <p:sp>
        <p:nvSpPr>
          <p:cNvPr id="8" name="">
            <a:extLst xmlns:a="http://schemas.openxmlformats.org/drawingml/2006/main">
              <a:ext uri="{FF2B5EF4-FFF2-40B4-BE49-F238E27FC236}">
                <a16:creationId xmlns:a16="http://schemas.microsoft.com/office/drawing/2014/main" id="{36506EC3-A9DE-43BE-922D-7E1CCFC29FA0}"/>
              </a:ext>
            </a:extLst>
          </p:cNvPr>
          <p:cNvSpPr>
            <a:spLocks xmlns:a="http://schemas.openxmlformats.org/drawingml/2006/main" noGrp="1"/>
          </p:cNvSpPr>
          <p:nvPr/>
        </p:nvSpPr>
        <p:spPr>
          <a:xfrm xmlns:a="http://schemas.openxmlformats.org/drawingml/2006/main">
            <a:off x="685800" y="4895850"/>
            <a:ext cx="1257300" cy="323850"/>
          </a:xfrm>
          <a:prstGeom xmlns:a="http://schemas.openxmlformats.org/drawingml/2006/main" prst="roundRect">
            <a:avLst>
              <a:gd name="adj" fmla="val 50000"/>
            </a:avLst>
          </a:prstGeom>
          <a:solidFill xmlns:a="http://schemas.openxmlformats.org/drawingml/2006/main">
            <a:srgbClr val="D6B77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EE9ABFC-4D1F-459D-88E4-9C5DD66AC16B}"/>
              </a:ext>
            </a:extLst>
          </p:cNvPr>
          <p:cNvSpPr>
            <a:spLocks xmlns:a="http://schemas.openxmlformats.org/drawingml/2006/main" noGrp="1"/>
          </p:cNvSpPr>
          <p:nvPr/>
        </p:nvSpPr>
        <p:spPr>
          <a:xfrm xmlns:a="http://schemas.openxmlformats.org/drawingml/2006/main">
            <a:off x="800100" y="4933950"/>
            <a:ext cx="1028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121A2C"/>
                </a:solidFill>
                <a:latin typeface="Aptos Display"/>
                <a:ea typeface="Aptos Display"/>
                <a:cs typeface="Aptos Display"/>
              </a:defRPr>
            </a:pPr>
            <a:r>
              <a:rPr sz="900" b="1" i="0">
                <a:solidFill>
                  <a:srgbClr val="121A2C"/>
                </a:solidFill>
                <a:latin typeface="Aptos Display"/>
                <a:ea typeface="Aptos Display"/>
                <a:cs typeface="Aptos Display"/>
              </a:rPr>
              <a:t>AUDITABLE</a:t>
            </a:r>
          </a:p>
        </p:txBody>
      </p:sp>
      <p:sp>
        <p:nvSpPr>
          <p:cNvPr id="10" name="">
            <a:extLst xmlns:a="http://schemas.openxmlformats.org/drawingml/2006/main">
              <a:ext uri="{FF2B5EF4-FFF2-40B4-BE49-F238E27FC236}">
                <a16:creationId xmlns:a16="http://schemas.microsoft.com/office/drawing/2014/main" id="{1BBE2AED-2BF7-4B1A-B7EA-62438530B3A1}"/>
              </a:ext>
            </a:extLst>
          </p:cNvPr>
          <p:cNvSpPr>
            <a:spLocks xmlns:a="http://schemas.openxmlformats.org/drawingml/2006/main" noGrp="1"/>
          </p:cNvSpPr>
          <p:nvPr/>
        </p:nvSpPr>
        <p:spPr>
          <a:xfrm xmlns:a="http://schemas.openxmlformats.org/drawingml/2006/main">
            <a:off x="5381625" y="876300"/>
            <a:ext cx="514350" cy="514350"/>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48BA01-DB4C-44EE-AC88-3FF6B5D68E3D}"/>
              </a:ext>
            </a:extLst>
          </p:cNvPr>
          <p:cNvSpPr>
            <a:spLocks xmlns:a="http://schemas.openxmlformats.org/drawingml/2006/main" noGrp="1"/>
          </p:cNvSpPr>
          <p:nvPr/>
        </p:nvSpPr>
        <p:spPr>
          <a:xfrm xmlns:a="http://schemas.openxmlformats.org/drawingml/2006/main">
            <a:off x="5381625" y="9525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i="0">
                <a:solidFill>
                  <a:srgbClr val="FFFFFF"/>
                </a:solidFill>
                <a:latin typeface="Aptos Display"/>
                <a:ea typeface="Aptos Display"/>
                <a:cs typeface="Aptos Display"/>
              </a:defRPr>
            </a:pPr>
            <a:r>
              <a:rPr sz="1800" b="1" i="0">
                <a:solidFill>
                  <a:srgbClr val="FFFFFF"/>
                </a:solidFill>
                <a:latin typeface="Aptos Display"/>
                <a:ea typeface="Aptos Display"/>
                <a:cs typeface="Aptos Display"/>
              </a:rPr>
              <a:t>1</a:t>
            </a:r>
          </a:p>
        </p:txBody>
      </p:sp>
      <p:sp>
        <p:nvSpPr>
          <p:cNvPr id="12" name="">
            <a:extLst xmlns:a="http://schemas.openxmlformats.org/drawingml/2006/main">
              <a:ext uri="{FF2B5EF4-FFF2-40B4-BE49-F238E27FC236}">
                <a16:creationId xmlns:a16="http://schemas.microsoft.com/office/drawing/2014/main" id="{6F79E68C-0EAD-4F97-A47E-E65E372B136C}"/>
              </a:ext>
            </a:extLst>
          </p:cNvPr>
          <p:cNvSpPr>
            <a:spLocks xmlns:a="http://schemas.openxmlformats.org/drawingml/2006/main" noGrp="1"/>
          </p:cNvSpPr>
          <p:nvPr/>
        </p:nvSpPr>
        <p:spPr>
          <a:xfrm xmlns:a="http://schemas.openxmlformats.org/drawingml/2006/main">
            <a:off x="5638800" y="1390650"/>
            <a:ext cx="0" cy="790575"/>
          </a:xfrm>
          <a:prstGeom xmlns:a="http://schemas.openxmlformats.org/drawingml/2006/main" prst="line">
            <a:avLst/>
          </a:prstGeom>
          <a:noFill xmlns:a="http://schemas.openxmlformats.org/drawingml/2006/main"/>
          <a:ln xmlns:a="http://schemas.openxmlformats.org/drawingml/2006/main" w="28575">
            <a:solidFill>
              <a:srgbClr val="26334E"/>
            </a:solidFill>
            <a:prstDash val="solid"/>
          </a:ln>
        </p:spPr>
      </p:sp>
      <p:sp>
        <p:nvSpPr>
          <p:cNvPr id="13" name="">
            <a:extLst xmlns:a="http://schemas.openxmlformats.org/drawingml/2006/main">
              <a:ext uri="{FF2B5EF4-FFF2-40B4-BE49-F238E27FC236}">
                <a16:creationId xmlns:a16="http://schemas.microsoft.com/office/drawing/2014/main" id="{B1548FA4-0DE5-4484-A41F-D8396025B8F1}"/>
              </a:ext>
            </a:extLst>
          </p:cNvPr>
          <p:cNvSpPr>
            <a:spLocks xmlns:a="http://schemas.openxmlformats.org/drawingml/2006/main" noGrp="1"/>
          </p:cNvSpPr>
          <p:nvPr/>
        </p:nvSpPr>
        <p:spPr>
          <a:xfrm xmlns:a="http://schemas.openxmlformats.org/drawingml/2006/main">
            <a:off x="6191250" y="866775"/>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FFFFFF"/>
                </a:solidFill>
                <a:latin typeface="Aptos Display"/>
                <a:ea typeface="Aptos Display"/>
                <a:cs typeface="Aptos Display"/>
              </a:defRPr>
            </a:pPr>
            <a:r>
              <a:rPr sz="2100" b="1" i="0">
                <a:solidFill>
                  <a:srgbClr val="FFFFFF"/>
                </a:solidFill>
                <a:latin typeface="Aptos Display"/>
                <a:ea typeface="Aptos Display"/>
                <a:cs typeface="Aptos Display"/>
              </a:rPr>
              <a:t>Resident verification</a:t>
            </a:r>
          </a:p>
        </p:txBody>
      </p:sp>
      <p:sp>
        <p:nvSpPr>
          <p:cNvPr id="14" name="">
            <a:extLst xmlns:a="http://schemas.openxmlformats.org/drawingml/2006/main">
              <a:ext uri="{FF2B5EF4-FFF2-40B4-BE49-F238E27FC236}">
                <a16:creationId xmlns:a16="http://schemas.microsoft.com/office/drawing/2014/main" id="{A34BA9C8-C81B-401A-8E30-E8B7D42329C5}"/>
              </a:ext>
            </a:extLst>
          </p:cNvPr>
          <p:cNvSpPr>
            <a:spLocks xmlns:a="http://schemas.openxmlformats.org/drawingml/2006/main" noGrp="1"/>
          </p:cNvSpPr>
          <p:nvPr/>
        </p:nvSpPr>
        <p:spPr>
          <a:xfrm xmlns:a="http://schemas.openxmlformats.org/drawingml/2006/main">
            <a:off x="6191250" y="127635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B8C2D6"/>
                </a:solidFill>
                <a:latin typeface="Aptos"/>
                <a:ea typeface="Aptos"/>
                <a:cs typeface="Aptos"/>
              </a:defRPr>
            </a:pPr>
            <a:r>
              <a:rPr sz="1500" b="0" i="0">
                <a:solidFill>
                  <a:srgbClr val="B8C2D6"/>
                </a:solidFill>
                <a:latin typeface="Aptos"/>
                <a:ea typeface="Aptos"/>
                <a:cs typeface="Aptos"/>
              </a:rPr>
              <a:t>An admin validates who belongs.</a:t>
            </a:r>
          </a:p>
        </p:txBody>
      </p:sp>
      <p:sp>
        <p:nvSpPr>
          <p:cNvPr id="15" name="">
            <a:extLst xmlns:a="http://schemas.openxmlformats.org/drawingml/2006/main">
              <a:ext uri="{FF2B5EF4-FFF2-40B4-BE49-F238E27FC236}">
                <a16:creationId xmlns:a16="http://schemas.microsoft.com/office/drawing/2014/main" id="{D75BDFCD-D600-4F6D-B77E-A314EE297638}"/>
              </a:ext>
            </a:extLst>
          </p:cNvPr>
          <p:cNvSpPr>
            <a:spLocks xmlns:a="http://schemas.openxmlformats.org/drawingml/2006/main" noGrp="1"/>
          </p:cNvSpPr>
          <p:nvPr/>
        </p:nvSpPr>
        <p:spPr>
          <a:xfrm xmlns:a="http://schemas.openxmlformats.org/drawingml/2006/main">
            <a:off x="5381625" y="2181225"/>
            <a:ext cx="514350" cy="51435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0C93AB-026F-4F00-95FF-7F829F3BFD75}"/>
              </a:ext>
            </a:extLst>
          </p:cNvPr>
          <p:cNvSpPr>
            <a:spLocks xmlns:a="http://schemas.openxmlformats.org/drawingml/2006/main" noGrp="1"/>
          </p:cNvSpPr>
          <p:nvPr/>
        </p:nvSpPr>
        <p:spPr>
          <a:xfrm xmlns:a="http://schemas.openxmlformats.org/drawingml/2006/main">
            <a:off x="5381625" y="225742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i="0">
                <a:solidFill>
                  <a:srgbClr val="FFFFFF"/>
                </a:solidFill>
                <a:latin typeface="Aptos Display"/>
                <a:ea typeface="Aptos Display"/>
                <a:cs typeface="Aptos Display"/>
              </a:defRPr>
            </a:pPr>
            <a:r>
              <a:rPr sz="1800" b="1" i="0">
                <a:solidFill>
                  <a:srgbClr val="FFFFFF"/>
                </a:solidFill>
                <a:latin typeface="Aptos Display"/>
                <a:ea typeface="Aptos Display"/>
                <a:cs typeface="Aptos Display"/>
              </a:rPr>
              <a:t>2</a:t>
            </a:r>
          </a:p>
        </p:txBody>
      </p:sp>
      <p:sp>
        <p:nvSpPr>
          <p:cNvPr id="17" name="">
            <a:extLst xmlns:a="http://schemas.openxmlformats.org/drawingml/2006/main">
              <a:ext uri="{FF2B5EF4-FFF2-40B4-BE49-F238E27FC236}">
                <a16:creationId xmlns:a16="http://schemas.microsoft.com/office/drawing/2014/main" id="{B9711B17-82F8-485B-BC78-903F203FCBFA}"/>
              </a:ext>
            </a:extLst>
          </p:cNvPr>
          <p:cNvSpPr>
            <a:spLocks xmlns:a="http://schemas.openxmlformats.org/drawingml/2006/main" noGrp="1"/>
          </p:cNvSpPr>
          <p:nvPr/>
        </p:nvSpPr>
        <p:spPr>
          <a:xfrm xmlns:a="http://schemas.openxmlformats.org/drawingml/2006/main">
            <a:off x="5638800" y="2695575"/>
            <a:ext cx="0" cy="790575"/>
          </a:xfrm>
          <a:prstGeom xmlns:a="http://schemas.openxmlformats.org/drawingml/2006/main" prst="line">
            <a:avLst/>
          </a:prstGeom>
          <a:noFill xmlns:a="http://schemas.openxmlformats.org/drawingml/2006/main"/>
          <a:ln xmlns:a="http://schemas.openxmlformats.org/drawingml/2006/main" w="28575">
            <a:solidFill>
              <a:srgbClr val="26334E"/>
            </a:solidFill>
            <a:prstDash val="solid"/>
          </a:ln>
        </p:spPr>
      </p:sp>
      <p:sp>
        <p:nvSpPr>
          <p:cNvPr id="18" name="">
            <a:extLst xmlns:a="http://schemas.openxmlformats.org/drawingml/2006/main">
              <a:ext uri="{FF2B5EF4-FFF2-40B4-BE49-F238E27FC236}">
                <a16:creationId xmlns:a16="http://schemas.microsoft.com/office/drawing/2014/main" id="{E5821A04-BBB5-43CF-BBA2-33CE0589BABB}"/>
              </a:ext>
            </a:extLst>
          </p:cNvPr>
          <p:cNvSpPr>
            <a:spLocks xmlns:a="http://schemas.openxmlformats.org/drawingml/2006/main" noGrp="1"/>
          </p:cNvSpPr>
          <p:nvPr/>
        </p:nvSpPr>
        <p:spPr>
          <a:xfrm xmlns:a="http://schemas.openxmlformats.org/drawingml/2006/main">
            <a:off x="6191250" y="21717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FFFFFF"/>
                </a:solidFill>
                <a:latin typeface="Aptos Display"/>
                <a:ea typeface="Aptos Display"/>
                <a:cs typeface="Aptos Display"/>
              </a:defRPr>
            </a:pPr>
            <a:r>
              <a:rPr sz="2100" b="1" i="0">
                <a:solidFill>
                  <a:srgbClr val="FFFFFF"/>
                </a:solidFill>
                <a:latin typeface="Aptos Display"/>
                <a:ea typeface="Aptos Display"/>
                <a:cs typeface="Aptos Display"/>
              </a:rPr>
              <a:t>Permissioned access</a:t>
            </a:r>
          </a:p>
        </p:txBody>
      </p:sp>
      <p:sp>
        <p:nvSpPr>
          <p:cNvPr id="19" name="">
            <a:extLst xmlns:a="http://schemas.openxmlformats.org/drawingml/2006/main">
              <a:ext uri="{FF2B5EF4-FFF2-40B4-BE49-F238E27FC236}">
                <a16:creationId xmlns:a16="http://schemas.microsoft.com/office/drawing/2014/main" id="{1D558D2C-DF0F-4485-9351-3884AF635B07}"/>
              </a:ext>
            </a:extLst>
          </p:cNvPr>
          <p:cNvSpPr>
            <a:spLocks xmlns:a="http://schemas.openxmlformats.org/drawingml/2006/main" noGrp="1"/>
          </p:cNvSpPr>
          <p:nvPr/>
        </p:nvSpPr>
        <p:spPr>
          <a:xfrm xmlns:a="http://schemas.openxmlformats.org/drawingml/2006/main">
            <a:off x="6191250" y="258127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B8C2D6"/>
                </a:solidFill>
                <a:latin typeface="Aptos"/>
                <a:ea typeface="Aptos"/>
                <a:cs typeface="Aptos"/>
              </a:defRPr>
            </a:pPr>
            <a:r>
              <a:rPr sz="1500" b="0" i="0">
                <a:solidFill>
                  <a:srgbClr val="B8C2D6"/>
                </a:solidFill>
                <a:latin typeface="Aptos"/>
                <a:ea typeface="Aptos"/>
                <a:cs typeface="Aptos"/>
              </a:rPr>
              <a:t>Pending users cannot see community data.</a:t>
            </a:r>
          </a:p>
        </p:txBody>
      </p:sp>
      <p:sp>
        <p:nvSpPr>
          <p:cNvPr id="20" name="">
            <a:extLst xmlns:a="http://schemas.openxmlformats.org/drawingml/2006/main">
              <a:ext uri="{FF2B5EF4-FFF2-40B4-BE49-F238E27FC236}">
                <a16:creationId xmlns:a16="http://schemas.microsoft.com/office/drawing/2014/main" id="{D7405FB2-B8A9-4C8C-931A-CEC3DB535838}"/>
              </a:ext>
            </a:extLst>
          </p:cNvPr>
          <p:cNvSpPr>
            <a:spLocks xmlns:a="http://schemas.openxmlformats.org/drawingml/2006/main" noGrp="1"/>
          </p:cNvSpPr>
          <p:nvPr/>
        </p:nvSpPr>
        <p:spPr>
          <a:xfrm xmlns:a="http://schemas.openxmlformats.org/drawingml/2006/main">
            <a:off x="5381625" y="3486150"/>
            <a:ext cx="514350" cy="514350"/>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50FA7DC-077C-4DFA-8B3C-74EDBD46F364}"/>
              </a:ext>
            </a:extLst>
          </p:cNvPr>
          <p:cNvSpPr>
            <a:spLocks xmlns:a="http://schemas.openxmlformats.org/drawingml/2006/main" noGrp="1"/>
          </p:cNvSpPr>
          <p:nvPr/>
        </p:nvSpPr>
        <p:spPr>
          <a:xfrm xmlns:a="http://schemas.openxmlformats.org/drawingml/2006/main">
            <a:off x="5381625" y="35623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i="0">
                <a:solidFill>
                  <a:srgbClr val="FFFFFF"/>
                </a:solidFill>
                <a:latin typeface="Aptos Display"/>
                <a:ea typeface="Aptos Display"/>
                <a:cs typeface="Aptos Display"/>
              </a:defRPr>
            </a:pPr>
            <a:r>
              <a:rPr sz="1800" b="1" i="0">
                <a:solidFill>
                  <a:srgbClr val="FFFFFF"/>
                </a:solidFill>
                <a:latin typeface="Aptos Display"/>
                <a:ea typeface="Aptos Display"/>
                <a:cs typeface="Aptos Display"/>
              </a:rPr>
              <a:t>3</a:t>
            </a:r>
          </a:p>
        </p:txBody>
      </p:sp>
      <p:sp>
        <p:nvSpPr>
          <p:cNvPr id="22" name="">
            <a:extLst xmlns:a="http://schemas.openxmlformats.org/drawingml/2006/main">
              <a:ext uri="{FF2B5EF4-FFF2-40B4-BE49-F238E27FC236}">
                <a16:creationId xmlns:a16="http://schemas.microsoft.com/office/drawing/2014/main" id="{88D532F2-A96E-45CD-AFD2-ACBDFAAD639F}"/>
              </a:ext>
            </a:extLst>
          </p:cNvPr>
          <p:cNvSpPr>
            <a:spLocks xmlns:a="http://schemas.openxmlformats.org/drawingml/2006/main" noGrp="1"/>
          </p:cNvSpPr>
          <p:nvPr/>
        </p:nvSpPr>
        <p:spPr>
          <a:xfrm xmlns:a="http://schemas.openxmlformats.org/drawingml/2006/main">
            <a:off x="5638800" y="4000500"/>
            <a:ext cx="0" cy="790575"/>
          </a:xfrm>
          <a:prstGeom xmlns:a="http://schemas.openxmlformats.org/drawingml/2006/main" prst="line">
            <a:avLst/>
          </a:prstGeom>
          <a:noFill xmlns:a="http://schemas.openxmlformats.org/drawingml/2006/main"/>
          <a:ln xmlns:a="http://schemas.openxmlformats.org/drawingml/2006/main" w="28575">
            <a:solidFill>
              <a:srgbClr val="26334E"/>
            </a:solidFill>
            <a:prstDash val="solid"/>
          </a:ln>
        </p:spPr>
      </p:sp>
      <p:sp>
        <p:nvSpPr>
          <p:cNvPr id="23" name="">
            <a:extLst xmlns:a="http://schemas.openxmlformats.org/drawingml/2006/main">
              <a:ext uri="{FF2B5EF4-FFF2-40B4-BE49-F238E27FC236}">
                <a16:creationId xmlns:a16="http://schemas.microsoft.com/office/drawing/2014/main" id="{F0960E29-A0F6-4AC8-A2E6-C8BDC4188357}"/>
              </a:ext>
            </a:extLst>
          </p:cNvPr>
          <p:cNvSpPr>
            <a:spLocks xmlns:a="http://schemas.openxmlformats.org/drawingml/2006/main" noGrp="1"/>
          </p:cNvSpPr>
          <p:nvPr/>
        </p:nvSpPr>
        <p:spPr>
          <a:xfrm xmlns:a="http://schemas.openxmlformats.org/drawingml/2006/main">
            <a:off x="6191250" y="3476625"/>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FFFFFF"/>
                </a:solidFill>
                <a:latin typeface="Aptos Display"/>
                <a:ea typeface="Aptos Display"/>
                <a:cs typeface="Aptos Display"/>
              </a:defRPr>
            </a:pPr>
            <a:r>
              <a:rPr sz="2100" b="1" i="0">
                <a:solidFill>
                  <a:srgbClr val="FFFFFF"/>
                </a:solidFill>
                <a:latin typeface="Aptos Display"/>
                <a:ea typeface="Aptos Display"/>
                <a:cs typeface="Aptos Display"/>
              </a:rPr>
              <a:t>Moderated participation</a:t>
            </a:r>
          </a:p>
        </p:txBody>
      </p:sp>
      <p:sp>
        <p:nvSpPr>
          <p:cNvPr id="24" name="">
            <a:extLst xmlns:a="http://schemas.openxmlformats.org/drawingml/2006/main">
              <a:ext uri="{FF2B5EF4-FFF2-40B4-BE49-F238E27FC236}">
                <a16:creationId xmlns:a16="http://schemas.microsoft.com/office/drawing/2014/main" id="{578FFD3D-1EE6-4AD3-A3C9-D76AB7CA5791}"/>
              </a:ext>
            </a:extLst>
          </p:cNvPr>
          <p:cNvSpPr>
            <a:spLocks xmlns:a="http://schemas.openxmlformats.org/drawingml/2006/main" noGrp="1"/>
          </p:cNvSpPr>
          <p:nvPr/>
        </p:nvSpPr>
        <p:spPr>
          <a:xfrm xmlns:a="http://schemas.openxmlformats.org/drawingml/2006/main">
            <a:off x="6191250" y="388620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B8C2D6"/>
                </a:solidFill>
                <a:latin typeface="Aptos"/>
                <a:ea typeface="Aptos"/>
                <a:cs typeface="Aptos"/>
              </a:defRPr>
            </a:pPr>
            <a:r>
              <a:rPr sz="1500" b="0" i="0">
                <a:solidFill>
                  <a:srgbClr val="B8C2D6"/>
                </a:solidFill>
                <a:latin typeface="Aptos"/>
                <a:ea typeface="Aptos"/>
                <a:cs typeface="Aptos"/>
              </a:rPr>
              <a:t>Roles and controls keep behavior accountable.</a:t>
            </a:r>
          </a:p>
        </p:txBody>
      </p:sp>
      <p:sp>
        <p:nvSpPr>
          <p:cNvPr id="25" name="">
            <a:extLst xmlns:a="http://schemas.openxmlformats.org/drawingml/2006/main">
              <a:ext uri="{FF2B5EF4-FFF2-40B4-BE49-F238E27FC236}">
                <a16:creationId xmlns:a16="http://schemas.microsoft.com/office/drawing/2014/main" id="{1F0ED12E-21AE-4294-8B17-3CFC4A82931A}"/>
              </a:ext>
            </a:extLst>
          </p:cNvPr>
          <p:cNvSpPr>
            <a:spLocks xmlns:a="http://schemas.openxmlformats.org/drawingml/2006/main" noGrp="1"/>
          </p:cNvSpPr>
          <p:nvPr/>
        </p:nvSpPr>
        <p:spPr>
          <a:xfrm xmlns:a="http://schemas.openxmlformats.org/drawingml/2006/main">
            <a:off x="5381625" y="4791075"/>
            <a:ext cx="514350" cy="51435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7B917C1-309C-4610-ADB1-013BD5DACD2E}"/>
              </a:ext>
            </a:extLst>
          </p:cNvPr>
          <p:cNvSpPr>
            <a:spLocks xmlns:a="http://schemas.openxmlformats.org/drawingml/2006/main" noGrp="1"/>
          </p:cNvSpPr>
          <p:nvPr/>
        </p:nvSpPr>
        <p:spPr>
          <a:xfrm xmlns:a="http://schemas.openxmlformats.org/drawingml/2006/main">
            <a:off x="5381625" y="4867275"/>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i="0">
                <a:solidFill>
                  <a:srgbClr val="FFFFFF"/>
                </a:solidFill>
                <a:latin typeface="Aptos Display"/>
                <a:ea typeface="Aptos Display"/>
                <a:cs typeface="Aptos Display"/>
              </a:defRPr>
            </a:pPr>
            <a:r>
              <a:rPr sz="1800" b="1" i="0">
                <a:solidFill>
                  <a:srgbClr val="FFFFFF"/>
                </a:solidFill>
                <a:latin typeface="Aptos Display"/>
                <a:ea typeface="Aptos Display"/>
                <a:cs typeface="Aptos Display"/>
              </a:rPr>
              <a:t>4</a:t>
            </a:r>
          </a:p>
        </p:txBody>
      </p:sp>
      <p:sp>
        <p:nvSpPr>
          <p:cNvPr id="27" name="">
            <a:extLst xmlns:a="http://schemas.openxmlformats.org/drawingml/2006/main">
              <a:ext uri="{FF2B5EF4-FFF2-40B4-BE49-F238E27FC236}">
                <a16:creationId xmlns:a16="http://schemas.microsoft.com/office/drawing/2014/main" id="{4814277F-F10A-4234-96CF-A10D2F00ABD2}"/>
              </a:ext>
            </a:extLst>
          </p:cNvPr>
          <p:cNvSpPr>
            <a:spLocks xmlns:a="http://schemas.openxmlformats.org/drawingml/2006/main" noGrp="1"/>
          </p:cNvSpPr>
          <p:nvPr/>
        </p:nvSpPr>
        <p:spPr>
          <a:xfrm xmlns:a="http://schemas.openxmlformats.org/drawingml/2006/main">
            <a:off x="6191250" y="47815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FFFFFF"/>
                </a:solidFill>
                <a:latin typeface="Aptos Display"/>
                <a:ea typeface="Aptos Display"/>
                <a:cs typeface="Aptos Display"/>
              </a:defRPr>
            </a:pPr>
            <a:r>
              <a:rPr sz="2100" b="1" i="0">
                <a:solidFill>
                  <a:srgbClr val="FFFFFF"/>
                </a:solidFill>
                <a:latin typeface="Aptos Display"/>
                <a:ea typeface="Aptos Display"/>
                <a:cs typeface="Aptos Display"/>
              </a:rPr>
              <a:t>Targeted delivery</a:t>
            </a:r>
          </a:p>
        </p:txBody>
      </p:sp>
      <p:sp>
        <p:nvSpPr>
          <p:cNvPr id="28" name="">
            <a:extLst xmlns:a="http://schemas.openxmlformats.org/drawingml/2006/main">
              <a:ext uri="{FF2B5EF4-FFF2-40B4-BE49-F238E27FC236}">
                <a16:creationId xmlns:a16="http://schemas.microsoft.com/office/drawing/2014/main" id="{2F3D62BE-B640-4DA5-A146-DD70A93D51D3}"/>
              </a:ext>
            </a:extLst>
          </p:cNvPr>
          <p:cNvSpPr>
            <a:spLocks xmlns:a="http://schemas.openxmlformats.org/drawingml/2006/main" noGrp="1"/>
          </p:cNvSpPr>
          <p:nvPr/>
        </p:nvSpPr>
        <p:spPr>
          <a:xfrm xmlns:a="http://schemas.openxmlformats.org/drawingml/2006/main">
            <a:off x="6191250" y="519112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B8C2D6"/>
                </a:solidFill>
                <a:latin typeface="Aptos"/>
                <a:ea typeface="Aptos"/>
                <a:cs typeface="Aptos"/>
              </a:defRPr>
            </a:pPr>
            <a:r>
              <a:rPr sz="1500" b="0" i="0">
                <a:solidFill>
                  <a:srgbClr val="B8C2D6"/>
                </a:solidFill>
                <a:latin typeface="Aptos"/>
                <a:ea typeface="Aptos"/>
                <a:cs typeface="Aptos"/>
              </a:rPr>
              <a:t>Safety and operational alerts reach the right people.</a:t>
            </a:r>
          </a:p>
        </p:txBody>
      </p:sp>
      <p:sp>
        <p:nvSpPr>
          <p:cNvPr id="29" name="">
            <a:extLst xmlns:a="http://schemas.openxmlformats.org/drawingml/2006/main">
              <a:ext uri="{FF2B5EF4-FFF2-40B4-BE49-F238E27FC236}">
                <a16:creationId xmlns:a16="http://schemas.microsoft.com/office/drawing/2014/main" id="{C8D8669E-B631-4F08-993C-FEFAEFA2306D}"/>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C7D0E1"/>
                </a:solidFill>
                <a:latin typeface="Aptos"/>
                <a:ea typeface="Aptos"/>
                <a:cs typeface="Aptos"/>
              </a:defRPr>
            </a:pPr>
            <a:r>
              <a:rPr sz="825" b="0" i="0">
                <a:solidFill>
                  <a:srgbClr val="C7D0E1"/>
                </a:solidFill>
                <a:latin typeface="Aptos"/>
                <a:ea typeface="Aptos"/>
                <a:cs typeface="Aptos"/>
              </a:rPr>
              <a:t>Source: current Mohalla verification, role, moderation and notification flows.</a:t>
            </a:r>
          </a:p>
        </p:txBody>
      </p:sp>
      <p:sp>
        <p:nvSpPr>
          <p:cNvPr id="30" name="">
            <a:extLst xmlns:a="http://schemas.openxmlformats.org/drawingml/2006/main">
              <a:ext uri="{FF2B5EF4-FFF2-40B4-BE49-F238E27FC236}">
                <a16:creationId xmlns:a16="http://schemas.microsoft.com/office/drawing/2014/main" id="{B258B5F6-3CBF-43F7-BED3-8E458696D583}"/>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FFFFFF"/>
                </a:solidFill>
                <a:latin typeface="Aptos Display"/>
                <a:ea typeface="Aptos Display"/>
                <a:cs typeface="Aptos Display"/>
              </a:defRPr>
            </a:pPr>
            <a:r>
              <a:rPr sz="900" b="1" i="0">
                <a:solidFill>
                  <a:srgbClr val="FFFFFF"/>
                </a:solidFill>
                <a:latin typeface="Aptos Display"/>
                <a:ea typeface="Aptos Display"/>
                <a:cs typeface="Aptos Display"/>
              </a:rPr>
              <a:t>07</a:t>
            </a:r>
          </a:p>
        </p:txBody>
      </p:sp>
    </p:spTree>
    <p:extLst>
      <p:ext uri="{BB962C8B-B14F-4D97-AF65-F5344CB8AC3E}">
        <p14:creationId xmlns:p14="http://schemas.microsoft.com/office/powerpoint/2010/main" val="324962317"/>
      </p:ext>
    </p:extLst>
  </p:cSld>
  <p:transition spd="fast" advClick="1">
    <p:fade/>
  </p:transition>
</p:sld>
</file>

<file path=ppt/slides/slide8.xml><?xml version="1.0" encoding="utf-8"?>
<p:sld xmlns:p="http://schemas.openxmlformats.org/presentationml/2006/main">
  <p:cSld>
    <p:bg>
      <p:bgPr>
        <a:solidFill xmlns:a="http://schemas.openxmlformats.org/drawingml/2006/main">
          <a:srgbClr val="121A2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D4E6235-2BF0-4E44-A99E-8AAE5498B0D8}"/>
              </a:ext>
            </a:extLst>
          </p:cNvPr>
          <p:cNvSpPr>
            <a:spLocks xmlns:a="http://schemas.openxmlformats.org/drawingml/2006/main" noGrp="1"/>
          </p:cNvSpPr>
          <p:nvPr/>
        </p:nvSpPr>
        <p:spPr>
          <a:xfrm xmlns:a="http://schemas.openxmlformats.org/drawingml/2006/main">
            <a:off x="0" y="0"/>
            <a:ext cx="5048250" cy="6858000"/>
          </a:xfrm>
          <a:prstGeom xmlns:a="http://schemas.openxmlformats.org/drawingml/2006/main" prst="rect">
            <a:avLst/>
          </a:prstGeom>
          <a:solidFill xmlns:a="http://schemas.openxmlformats.org/drawingml/2006/main">
            <a:srgbClr val="121A2C"/>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0c7291901124534"/>
          <a:srcRect xmlns:a="http://schemas.openxmlformats.org/drawingml/2006/main" l="20703" t="0" r="20703" b="0"/>
          <a:stretch xmlns:a="http://schemas.openxmlformats.org/drawingml/2006/main">
            <a:fillRect l="0" t="0" r="0" b="0"/>
          </a:stretch>
        </p:blipFill>
        <p:spPr>
          <a:xfrm xmlns:a="http://schemas.openxmlformats.org/drawingml/2006/main">
            <a:off x="5048250" y="0"/>
            <a:ext cx="71437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6792710-C3CD-4F5F-AF3B-C76D8C7B4031}"/>
              </a:ext>
            </a:extLst>
          </p:cNvPr>
          <p:cNvSpPr>
            <a:spLocks xmlns:a="http://schemas.openxmlformats.org/drawingml/2006/main" noGrp="1"/>
          </p:cNvSpPr>
          <p:nvPr/>
        </p:nvSpPr>
        <p:spPr>
          <a:xfrm xmlns:a="http://schemas.openxmlformats.org/drawingml/2006/main">
            <a:off x="685800" y="495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VISION</a:t>
            </a:r>
          </a:p>
        </p:txBody>
      </p:sp>
      <p:sp>
        <p:nvSpPr>
          <p:cNvPr id="4" name="">
            <a:extLst xmlns:a="http://schemas.openxmlformats.org/drawingml/2006/main">
              <a:ext uri="{FF2B5EF4-FFF2-40B4-BE49-F238E27FC236}">
                <a16:creationId xmlns:a16="http://schemas.microsoft.com/office/drawing/2014/main" id="{0ECCA851-ADE6-4CE8-962D-9C53D5D3584C}"/>
              </a:ext>
            </a:extLst>
          </p:cNvPr>
          <p:cNvSpPr>
            <a:spLocks xmlns:a="http://schemas.openxmlformats.org/drawingml/2006/main" noGrp="1"/>
          </p:cNvSpPr>
          <p:nvPr/>
        </p:nvSpPr>
        <p:spPr>
          <a:xfrm xmlns:a="http://schemas.openxmlformats.org/drawingml/2006/main">
            <a:off x="685800" y="1066800"/>
            <a:ext cx="371475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643"/>
          </a:bodyPr>
          <a:lstStyle xmlns:a="http://schemas.openxmlformats.org/drawingml/2006/main"/>
          <a:p xmlns:a="http://schemas.openxmlformats.org/drawingml/2006/main">
            <a:pPr algn="l">
              <a:defRPr sz="2850" b="1" i="0">
                <a:solidFill>
                  <a:srgbClr val="FFFFFF"/>
                </a:solidFill>
                <a:latin typeface="Aptos Display"/>
                <a:ea typeface="Aptos Display"/>
                <a:cs typeface="Aptos Display"/>
              </a:defRPr>
            </a:pPr>
            <a:r>
              <a:rPr sz="2850" b="1" i="0">
                <a:solidFill>
                  <a:srgbClr val="FFFFFF"/>
                </a:solidFill>
                <a:latin typeface="Aptos Display"/>
                <a:ea typeface="Aptos Display"/>
                <a:cs typeface="Aptos Display"/>
              </a:rPr>
              <a:t>A trusted digital layer for every neighborhood in Pakistan—where residents, administrators and local businesses coordinate daily life in real time.</a:t>
            </a:r>
          </a:p>
        </p:txBody>
      </p:sp>
      <p:sp>
        <p:nvSpPr>
          <p:cNvPr id="5" name="">
            <a:extLst xmlns:a="http://schemas.openxmlformats.org/drawingml/2006/main">
              <a:ext uri="{FF2B5EF4-FFF2-40B4-BE49-F238E27FC236}">
                <a16:creationId xmlns:a16="http://schemas.microsoft.com/office/drawing/2014/main" id="{BAC17367-9D74-473D-AC44-243F9F71AE14}"/>
              </a:ext>
            </a:extLst>
          </p:cNvPr>
          <p:cNvSpPr>
            <a:spLocks xmlns:a="http://schemas.openxmlformats.org/drawingml/2006/main" noGrp="1"/>
          </p:cNvSpPr>
          <p:nvPr/>
        </p:nvSpPr>
        <p:spPr>
          <a:xfrm xmlns:a="http://schemas.openxmlformats.org/drawingml/2006/main">
            <a:off x="685800" y="3781425"/>
            <a:ext cx="3714750" cy="19050"/>
          </a:xfrm>
          <a:prstGeom xmlns:a="http://schemas.openxmlformats.org/drawingml/2006/main" prst="rect">
            <a:avLst/>
          </a:prstGeom>
          <a:solidFill xmlns:a="http://schemas.openxmlformats.org/drawingml/2006/main">
            <a:srgbClr val="26334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EAAEC72-4E63-4168-A2F2-5A552DEE5F12}"/>
              </a:ext>
            </a:extLst>
          </p:cNvPr>
          <p:cNvSpPr>
            <a:spLocks xmlns:a="http://schemas.openxmlformats.org/drawingml/2006/main" noGrp="1"/>
          </p:cNvSpPr>
          <p:nvPr/>
        </p:nvSpPr>
        <p:spPr>
          <a:xfrm xmlns:a="http://schemas.openxmlformats.org/drawingml/2006/main">
            <a:off x="685800" y="41052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BBDE1"/>
                </a:solidFill>
                <a:latin typeface="Aptos Display"/>
                <a:ea typeface="Aptos Display"/>
                <a:cs typeface="Aptos Display"/>
              </a:defRPr>
            </a:pPr>
            <a:r>
              <a:rPr sz="1050" b="1" i="0">
                <a:solidFill>
                  <a:srgbClr val="5BBDE1"/>
                </a:solidFill>
                <a:latin typeface="Aptos Display"/>
                <a:ea typeface="Aptos Display"/>
                <a:cs typeface="Aptos Display"/>
              </a:rPr>
              <a:t>MISSION</a:t>
            </a:r>
          </a:p>
        </p:txBody>
      </p:sp>
      <p:sp>
        <p:nvSpPr>
          <p:cNvPr id="7" name="">
            <a:extLst xmlns:a="http://schemas.openxmlformats.org/drawingml/2006/main">
              <a:ext uri="{FF2B5EF4-FFF2-40B4-BE49-F238E27FC236}">
                <a16:creationId xmlns:a16="http://schemas.microsoft.com/office/drawing/2014/main" id="{ACF77BE7-FBEB-4725-9E2E-CEE8871BA220}"/>
              </a:ext>
            </a:extLst>
          </p:cNvPr>
          <p:cNvSpPr>
            <a:spLocks xmlns:a="http://schemas.openxmlformats.org/drawingml/2006/main" noGrp="1"/>
          </p:cNvSpPr>
          <p:nvPr/>
        </p:nvSpPr>
        <p:spPr>
          <a:xfrm xmlns:a="http://schemas.openxmlformats.org/drawingml/2006/main">
            <a:off x="685800" y="4476750"/>
            <a:ext cx="3714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522"/>
          </a:bodyPr>
          <a:lstStyle xmlns:a="http://schemas.openxmlformats.org/drawingml/2006/main"/>
          <a:p xmlns:a="http://schemas.openxmlformats.org/drawingml/2006/main">
            <a:pPr algn="l">
              <a:defRPr sz="1875" b="0" i="0">
                <a:solidFill>
                  <a:srgbClr val="F5F0E7"/>
                </a:solidFill>
                <a:latin typeface="Aptos"/>
                <a:ea typeface="Aptos"/>
                <a:cs typeface="Aptos"/>
              </a:defRPr>
            </a:pPr>
            <a:r>
              <a:rPr sz="1875" b="0" i="0">
                <a:solidFill>
                  <a:srgbClr val="F5F0E7"/>
                </a:solidFill>
                <a:latin typeface="Aptos"/>
                <a:ea typeface="Aptos"/>
                <a:cs typeface="Aptos"/>
              </a:rPr>
              <a:t>Help verified neighbors communicate, respond, trade and participate through one private, locally relevant platform.</a:t>
            </a:r>
          </a:p>
        </p:txBody>
      </p:sp>
      <p:sp>
        <p:nvSpPr>
          <p:cNvPr id="8" name="">
            <a:extLst xmlns:a="http://schemas.openxmlformats.org/drawingml/2006/main">
              <a:ext uri="{FF2B5EF4-FFF2-40B4-BE49-F238E27FC236}">
                <a16:creationId xmlns:a16="http://schemas.microsoft.com/office/drawing/2014/main" id="{88F457D9-49A8-4781-84FC-3D6639550182}"/>
              </a:ext>
            </a:extLst>
          </p:cNvPr>
          <p:cNvSpPr>
            <a:spLocks xmlns:a="http://schemas.openxmlformats.org/drawingml/2006/main" noGrp="1"/>
          </p:cNvSpPr>
          <p:nvPr/>
        </p:nvSpPr>
        <p:spPr>
          <a:xfrm xmlns:a="http://schemas.openxmlformats.org/drawingml/2006/main">
            <a:off x="685800" y="5972175"/>
            <a:ext cx="316230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7C71AAD-05A1-4B8D-9989-042284288065}"/>
              </a:ext>
            </a:extLst>
          </p:cNvPr>
          <p:cNvSpPr>
            <a:spLocks xmlns:a="http://schemas.openxmlformats.org/drawingml/2006/main" noGrp="1"/>
          </p:cNvSpPr>
          <p:nvPr/>
        </p:nvSpPr>
        <p:spPr>
          <a:xfrm xmlns:a="http://schemas.openxmlformats.org/drawingml/2006/main">
            <a:off x="800100" y="6010275"/>
            <a:ext cx="293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121A2C"/>
                </a:solidFill>
                <a:latin typeface="Aptos Display"/>
                <a:ea typeface="Aptos Display"/>
                <a:cs typeface="Aptos Display"/>
              </a:defRPr>
            </a:pPr>
            <a:r>
              <a:rPr sz="900" b="1" i="0">
                <a:solidFill>
                  <a:srgbClr val="121A2C"/>
                </a:solidFill>
                <a:latin typeface="Aptos Display"/>
                <a:ea typeface="Aptos Display"/>
                <a:cs typeface="Aptos Display"/>
              </a:rPr>
              <a:t>PURPOSE  •  MAKE LOCAL LIFE WORK BETTER</a:t>
            </a:r>
          </a:p>
        </p:txBody>
      </p:sp>
    </p:spTree>
    <p:extLst>
      <p:ext uri="{BB962C8B-B14F-4D97-AF65-F5344CB8AC3E}">
        <p14:creationId xmlns:p14="http://schemas.microsoft.com/office/powerpoint/2010/main" val="361868820"/>
      </p:ext>
    </p:extLst>
  </p:cSld>
  <p:transition spd="fast" advClick="1">
    <p:fade/>
  </p:transition>
</p:sld>
</file>

<file path=ppt/slides/slide9.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09D40A4-D8ED-49EE-ACBB-C53457397F29}"/>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WHY NOW</a:t>
            </a:r>
          </a:p>
        </p:txBody>
      </p:sp>
      <p:sp>
        <p:nvSpPr>
          <p:cNvPr id="2" name="">
            <a:extLst xmlns:a="http://schemas.openxmlformats.org/drawingml/2006/main">
              <a:ext uri="{FF2B5EF4-FFF2-40B4-BE49-F238E27FC236}">
                <a16:creationId xmlns:a16="http://schemas.microsoft.com/office/drawing/2014/main" id="{C449C5EA-8943-4624-BA4A-52C7048D8AFE}"/>
              </a:ext>
            </a:extLst>
          </p:cNvPr>
          <p:cNvSpPr>
            <a:spLocks xmlns:a="http://schemas.openxmlformats.org/drawingml/2006/main" noGrp="1"/>
          </p:cNvSpPr>
          <p:nvPr/>
        </p:nvSpPr>
        <p:spPr>
          <a:xfrm xmlns:a="http://schemas.openxmlformats.org/drawingml/2006/main">
            <a:off x="685800" y="742950"/>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13"/>
          </a:bodyPr>
          <a:lstStyle xmlns:a="http://schemas.openxmlformats.org/drawingml/2006/main"/>
          <a:p xmlns:a="http://schemas.openxmlformats.org/drawingml/2006/main">
            <a:pPr algn="l">
              <a:defRPr sz="3600" b="1" i="0">
                <a:solidFill>
                  <a:srgbClr val="182033"/>
                </a:solidFill>
                <a:latin typeface="Aptos Display"/>
                <a:ea typeface="Aptos Display"/>
                <a:cs typeface="Aptos Display"/>
              </a:defRPr>
            </a:pPr>
            <a:r>
              <a:rPr sz="3600" b="1" i="0">
                <a:solidFill>
                  <a:srgbClr val="182033"/>
                </a:solidFill>
                <a:latin typeface="Aptos Display"/>
                <a:ea typeface="Aptos Display"/>
                <a:cs typeface="Aptos Display"/>
              </a:rPr>
              <a:t>The habit is already digital. The neighborhood layer is missing.</a:t>
            </a:r>
          </a:p>
        </p:txBody>
      </p:sp>
      <p:sp>
        <p:nvSpPr>
          <p:cNvPr id="3" name="">
            <a:extLst xmlns:a="http://schemas.openxmlformats.org/drawingml/2006/main">
              <a:ext uri="{FF2B5EF4-FFF2-40B4-BE49-F238E27FC236}">
                <a16:creationId xmlns:a16="http://schemas.microsoft.com/office/drawing/2014/main" id="{2352375F-00E2-4B74-B696-2C7F089C6ED4}"/>
              </a:ext>
            </a:extLst>
          </p:cNvPr>
          <p:cNvSpPr>
            <a:spLocks xmlns:a="http://schemas.openxmlformats.org/drawingml/2006/main" noGrp="1"/>
          </p:cNvSpPr>
          <p:nvPr/>
        </p:nvSpPr>
        <p:spPr>
          <a:xfrm xmlns:a="http://schemas.openxmlformats.org/drawingml/2006/main">
            <a:off x="685800" y="1924050"/>
            <a:ext cx="3314700" cy="2324100"/>
          </a:xfrm>
          <a:prstGeom xmlns:a="http://schemas.openxmlformats.org/drawingml/2006/main" prst="roundRect">
            <a:avLst>
              <a:gd name="adj" fmla="val 9836"/>
            </a:avLst>
          </a:prstGeom>
          <a:solidFill xmlns:a="http://schemas.openxmlformats.org/drawingml/2006/main">
            <a:srgbClr val="FFFFFF"/>
          </a:solidFill>
          <a:ln xmlns:a="http://schemas.openxmlformats.org/drawingml/2006/main" w="9525">
            <a:solidFill>
              <a:srgbClr val="D8D2C8"/>
            </a:solidFill>
            <a:prstDash val="solid"/>
          </a:ln>
        </p:spPr>
      </p:sp>
      <p:sp>
        <p:nvSpPr>
          <p:cNvPr id="4" name="">
            <a:extLst xmlns:a="http://schemas.openxmlformats.org/drawingml/2006/main">
              <a:ext uri="{FF2B5EF4-FFF2-40B4-BE49-F238E27FC236}">
                <a16:creationId xmlns:a16="http://schemas.microsoft.com/office/drawing/2014/main" id="{61FDBD88-03E8-49E6-BD79-AED94CB8FA61}"/>
              </a:ext>
            </a:extLst>
          </p:cNvPr>
          <p:cNvSpPr>
            <a:spLocks xmlns:a="http://schemas.openxmlformats.org/drawingml/2006/main" noGrp="1"/>
          </p:cNvSpPr>
          <p:nvPr/>
        </p:nvSpPr>
        <p:spPr>
          <a:xfrm xmlns:a="http://schemas.openxmlformats.org/drawingml/2006/main">
            <a:off x="914400" y="22288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650" b="1" i="0">
                <a:solidFill>
                  <a:srgbClr val="FF6B5E"/>
                </a:solidFill>
                <a:latin typeface="Aptos Display"/>
                <a:ea typeface="Aptos Display"/>
                <a:cs typeface="Aptos Display"/>
              </a:defRPr>
            </a:pPr>
            <a:r>
              <a:rPr sz="4650" b="1" i="0">
                <a:solidFill>
                  <a:srgbClr val="FF6B5E"/>
                </a:solidFill>
                <a:latin typeface="Aptos Display"/>
                <a:ea typeface="Aptos Display"/>
                <a:cs typeface="Aptos Display"/>
              </a:rPr>
              <a:t>91%</a:t>
            </a:r>
          </a:p>
        </p:txBody>
      </p:sp>
      <p:sp>
        <p:nvSpPr>
          <p:cNvPr id="5" name="">
            <a:extLst xmlns:a="http://schemas.openxmlformats.org/drawingml/2006/main">
              <a:ext uri="{FF2B5EF4-FFF2-40B4-BE49-F238E27FC236}">
                <a16:creationId xmlns:a16="http://schemas.microsoft.com/office/drawing/2014/main" id="{366E8E4C-F25B-4779-9557-3281036A04BB}"/>
              </a:ext>
            </a:extLst>
          </p:cNvPr>
          <p:cNvSpPr>
            <a:spLocks xmlns:a="http://schemas.openxmlformats.org/drawingml/2006/main" noGrp="1"/>
          </p:cNvSpPr>
          <p:nvPr/>
        </p:nvSpPr>
        <p:spPr>
          <a:xfrm xmlns:a="http://schemas.openxmlformats.org/drawingml/2006/main">
            <a:off x="914400" y="30861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182033"/>
                </a:solidFill>
                <a:latin typeface="Aptos Display"/>
                <a:ea typeface="Aptos Display"/>
                <a:cs typeface="Aptos Display"/>
              </a:defRPr>
            </a:pPr>
            <a:r>
              <a:rPr sz="1800" b="1" i="0">
                <a:solidFill>
                  <a:srgbClr val="182033"/>
                </a:solidFill>
                <a:latin typeface="Aptos Display"/>
                <a:ea typeface="Aptos Display"/>
                <a:cs typeface="Aptos Display"/>
              </a:rPr>
              <a:t>cellular coverage</a:t>
            </a:r>
          </a:p>
        </p:txBody>
      </p:sp>
      <p:sp>
        <p:nvSpPr>
          <p:cNvPr id="6" name="">
            <a:extLst xmlns:a="http://schemas.openxmlformats.org/drawingml/2006/main">
              <a:ext uri="{FF2B5EF4-FFF2-40B4-BE49-F238E27FC236}">
                <a16:creationId xmlns:a16="http://schemas.microsoft.com/office/drawing/2014/main" id="{97B82D61-99E7-4AB7-9274-96F2322B69AF}"/>
              </a:ext>
            </a:extLst>
          </p:cNvPr>
          <p:cNvSpPr>
            <a:spLocks xmlns:a="http://schemas.openxmlformats.org/drawingml/2006/main" noGrp="1"/>
          </p:cNvSpPr>
          <p:nvPr/>
        </p:nvSpPr>
        <p:spPr>
          <a:xfrm xmlns:a="http://schemas.openxmlformats.org/drawingml/2006/main">
            <a:off x="914400" y="35718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B6474"/>
                </a:solidFill>
                <a:latin typeface="Aptos"/>
                <a:ea typeface="Aptos"/>
                <a:cs typeface="Aptos"/>
              </a:defRPr>
            </a:pPr>
            <a:r>
              <a:rPr sz="1200" b="0" i="0">
                <a:solidFill>
                  <a:srgbClr val="5B6474"/>
                </a:solidFill>
                <a:latin typeface="Aptos"/>
                <a:ea typeface="Aptos"/>
                <a:cs typeface="Aptos"/>
              </a:rPr>
              <a:t>of Pakistan’s population</a:t>
            </a:r>
          </a:p>
        </p:txBody>
      </p:sp>
      <p:sp>
        <p:nvSpPr>
          <p:cNvPr id="7" name="">
            <a:extLst xmlns:a="http://schemas.openxmlformats.org/drawingml/2006/main">
              <a:ext uri="{FF2B5EF4-FFF2-40B4-BE49-F238E27FC236}">
                <a16:creationId xmlns:a16="http://schemas.microsoft.com/office/drawing/2014/main" id="{DA4497CF-2897-413E-857F-33BBCD12A4DB}"/>
              </a:ext>
            </a:extLst>
          </p:cNvPr>
          <p:cNvSpPr>
            <a:spLocks xmlns:a="http://schemas.openxmlformats.org/drawingml/2006/main" noGrp="1"/>
          </p:cNvSpPr>
          <p:nvPr/>
        </p:nvSpPr>
        <p:spPr>
          <a:xfrm xmlns:a="http://schemas.openxmlformats.org/drawingml/2006/main">
            <a:off x="4267200" y="1924050"/>
            <a:ext cx="3314700" cy="2324100"/>
          </a:xfrm>
          <a:prstGeom xmlns:a="http://schemas.openxmlformats.org/drawingml/2006/main" prst="roundRect">
            <a:avLst>
              <a:gd name="adj" fmla="val 9836"/>
            </a:avLst>
          </a:prstGeom>
          <a:solidFill xmlns:a="http://schemas.openxmlformats.org/drawingml/2006/main">
            <a:srgbClr val="121A2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005B42-D19D-48B2-B943-51498B7FF498}"/>
              </a:ext>
            </a:extLst>
          </p:cNvPr>
          <p:cNvSpPr>
            <a:spLocks xmlns:a="http://schemas.openxmlformats.org/drawingml/2006/main" noGrp="1"/>
          </p:cNvSpPr>
          <p:nvPr/>
        </p:nvSpPr>
        <p:spPr>
          <a:xfrm xmlns:a="http://schemas.openxmlformats.org/drawingml/2006/main">
            <a:off x="4495800" y="22288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650" b="1" i="0">
                <a:solidFill>
                  <a:srgbClr val="2E6BFF"/>
                </a:solidFill>
                <a:latin typeface="Aptos Display"/>
                <a:ea typeface="Aptos Display"/>
                <a:cs typeface="Aptos Display"/>
              </a:defRPr>
            </a:pPr>
            <a:r>
              <a:rPr sz="4650" b="1" i="0">
                <a:solidFill>
                  <a:srgbClr val="2E6BFF"/>
                </a:solidFill>
                <a:latin typeface="Aptos Display"/>
                <a:ea typeface="Aptos Display"/>
                <a:cs typeface="Aptos Display"/>
              </a:rPr>
              <a:t>81%</a:t>
            </a:r>
          </a:p>
        </p:txBody>
      </p:sp>
      <p:sp>
        <p:nvSpPr>
          <p:cNvPr id="9" name="">
            <a:extLst xmlns:a="http://schemas.openxmlformats.org/drawingml/2006/main">
              <a:ext uri="{FF2B5EF4-FFF2-40B4-BE49-F238E27FC236}">
                <a16:creationId xmlns:a16="http://schemas.microsoft.com/office/drawing/2014/main" id="{EADAC0D5-C5CD-43EF-97B3-CB17EFCF16B5}"/>
              </a:ext>
            </a:extLst>
          </p:cNvPr>
          <p:cNvSpPr>
            <a:spLocks xmlns:a="http://schemas.openxmlformats.org/drawingml/2006/main" noGrp="1"/>
          </p:cNvSpPr>
          <p:nvPr/>
        </p:nvSpPr>
        <p:spPr>
          <a:xfrm xmlns:a="http://schemas.openxmlformats.org/drawingml/2006/main">
            <a:off x="4495800" y="30861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FFFFFF"/>
                </a:solidFill>
                <a:latin typeface="Aptos Display"/>
                <a:ea typeface="Aptos Display"/>
                <a:cs typeface="Aptos Display"/>
              </a:defRPr>
            </a:pPr>
            <a:r>
              <a:rPr sz="1800" b="1" i="0">
                <a:solidFill>
                  <a:srgbClr val="FFFFFF"/>
                </a:solidFill>
                <a:latin typeface="Aptos Display"/>
                <a:ea typeface="Aptos Display"/>
                <a:cs typeface="Aptos Display"/>
              </a:rPr>
              <a:t>3G / 4G reach</a:t>
            </a:r>
          </a:p>
        </p:txBody>
      </p:sp>
      <p:sp>
        <p:nvSpPr>
          <p:cNvPr id="10" name="">
            <a:extLst xmlns:a="http://schemas.openxmlformats.org/drawingml/2006/main">
              <a:ext uri="{FF2B5EF4-FFF2-40B4-BE49-F238E27FC236}">
                <a16:creationId xmlns:a16="http://schemas.microsoft.com/office/drawing/2014/main" id="{71D22507-EFD9-4EBA-864F-922779370766}"/>
              </a:ext>
            </a:extLst>
          </p:cNvPr>
          <p:cNvSpPr>
            <a:spLocks xmlns:a="http://schemas.openxmlformats.org/drawingml/2006/main" noGrp="1"/>
          </p:cNvSpPr>
          <p:nvPr/>
        </p:nvSpPr>
        <p:spPr>
          <a:xfrm xmlns:a="http://schemas.openxmlformats.org/drawingml/2006/main">
            <a:off x="4495800" y="35718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C7D0E1"/>
                </a:solidFill>
                <a:latin typeface="Aptos"/>
                <a:ea typeface="Aptos"/>
                <a:cs typeface="Aptos"/>
              </a:defRPr>
            </a:pPr>
            <a:r>
              <a:rPr sz="1200" b="0" i="0">
                <a:solidFill>
                  <a:srgbClr val="C7D0E1"/>
                </a:solidFill>
                <a:latin typeface="Aptos"/>
                <a:ea typeface="Aptos"/>
                <a:cs typeface="Aptos"/>
              </a:rPr>
              <a:t>of Pakistan’s population</a:t>
            </a:r>
          </a:p>
        </p:txBody>
      </p:sp>
      <p:sp>
        <p:nvSpPr>
          <p:cNvPr id="11" name="">
            <a:extLst xmlns:a="http://schemas.openxmlformats.org/drawingml/2006/main">
              <a:ext uri="{FF2B5EF4-FFF2-40B4-BE49-F238E27FC236}">
                <a16:creationId xmlns:a16="http://schemas.microsoft.com/office/drawing/2014/main" id="{0A788E4C-C46D-4795-A885-24E554BDC54D}"/>
              </a:ext>
            </a:extLst>
          </p:cNvPr>
          <p:cNvSpPr>
            <a:spLocks xmlns:a="http://schemas.openxmlformats.org/drawingml/2006/main" noGrp="1"/>
          </p:cNvSpPr>
          <p:nvPr/>
        </p:nvSpPr>
        <p:spPr>
          <a:xfrm xmlns:a="http://schemas.openxmlformats.org/drawingml/2006/main">
            <a:off x="7848600" y="1924050"/>
            <a:ext cx="3314700" cy="2324100"/>
          </a:xfrm>
          <a:prstGeom xmlns:a="http://schemas.openxmlformats.org/drawingml/2006/main" prst="roundRect">
            <a:avLst>
              <a:gd name="adj" fmla="val 9836"/>
            </a:avLst>
          </a:prstGeom>
          <a:solidFill xmlns:a="http://schemas.openxmlformats.org/drawingml/2006/main">
            <a:srgbClr val="FFFFFF"/>
          </a:solidFill>
          <a:ln xmlns:a="http://schemas.openxmlformats.org/drawingml/2006/main" w="9525">
            <a:solidFill>
              <a:srgbClr val="D8D2C8"/>
            </a:solidFill>
            <a:prstDash val="solid"/>
          </a:ln>
        </p:spPr>
      </p:sp>
      <p:sp>
        <p:nvSpPr>
          <p:cNvPr id="12" name="">
            <a:extLst xmlns:a="http://schemas.openxmlformats.org/drawingml/2006/main">
              <a:ext uri="{FF2B5EF4-FFF2-40B4-BE49-F238E27FC236}">
                <a16:creationId xmlns:a16="http://schemas.microsoft.com/office/drawing/2014/main" id="{356BA26D-3C41-4A78-90C9-D3AA4F003DE2}"/>
              </a:ext>
            </a:extLst>
          </p:cNvPr>
          <p:cNvSpPr>
            <a:spLocks xmlns:a="http://schemas.openxmlformats.org/drawingml/2006/main" noGrp="1"/>
          </p:cNvSpPr>
          <p:nvPr/>
        </p:nvSpPr>
        <p:spPr>
          <a:xfrm xmlns:a="http://schemas.openxmlformats.org/drawingml/2006/main">
            <a:off x="8077200" y="22288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650" b="1" i="0">
                <a:solidFill>
                  <a:srgbClr val="D6B77A"/>
                </a:solidFill>
                <a:latin typeface="Aptos Display"/>
                <a:ea typeface="Aptos Display"/>
                <a:cs typeface="Aptos Display"/>
              </a:defRPr>
            </a:pPr>
            <a:r>
              <a:rPr sz="4650" b="1" i="0">
                <a:solidFill>
                  <a:srgbClr val="D6B77A"/>
                </a:solidFill>
                <a:latin typeface="Aptos Display"/>
                <a:ea typeface="Aptos Display"/>
                <a:cs typeface="Aptos Display"/>
              </a:rPr>
              <a:t>59.8%</a:t>
            </a:r>
          </a:p>
        </p:txBody>
      </p:sp>
      <p:sp>
        <p:nvSpPr>
          <p:cNvPr id="13" name="">
            <a:extLst xmlns:a="http://schemas.openxmlformats.org/drawingml/2006/main">
              <a:ext uri="{FF2B5EF4-FFF2-40B4-BE49-F238E27FC236}">
                <a16:creationId xmlns:a16="http://schemas.microsoft.com/office/drawing/2014/main" id="{BED41ACE-2D22-4F79-8B5B-BBCE5DF15122}"/>
              </a:ext>
            </a:extLst>
          </p:cNvPr>
          <p:cNvSpPr>
            <a:spLocks xmlns:a="http://schemas.openxmlformats.org/drawingml/2006/main" noGrp="1"/>
          </p:cNvSpPr>
          <p:nvPr/>
        </p:nvSpPr>
        <p:spPr>
          <a:xfrm xmlns:a="http://schemas.openxmlformats.org/drawingml/2006/main">
            <a:off x="8077200" y="30861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182033"/>
                </a:solidFill>
                <a:latin typeface="Aptos Display"/>
                <a:ea typeface="Aptos Display"/>
                <a:cs typeface="Aptos Display"/>
              </a:defRPr>
            </a:pPr>
            <a:r>
              <a:rPr sz="1800" b="1" i="0">
                <a:solidFill>
                  <a:srgbClr val="182033"/>
                </a:solidFill>
                <a:latin typeface="Aptos Display"/>
                <a:ea typeface="Aptos Display"/>
                <a:cs typeface="Aptos Display"/>
              </a:rPr>
              <a:t>broadband penetration</a:t>
            </a:r>
          </a:p>
        </p:txBody>
      </p:sp>
      <p:sp>
        <p:nvSpPr>
          <p:cNvPr id="14" name="">
            <a:extLst xmlns:a="http://schemas.openxmlformats.org/drawingml/2006/main">
              <a:ext uri="{FF2B5EF4-FFF2-40B4-BE49-F238E27FC236}">
                <a16:creationId xmlns:a16="http://schemas.microsoft.com/office/drawing/2014/main" id="{A4976A6A-9403-49EC-B6B2-5EF4240F9042}"/>
              </a:ext>
            </a:extLst>
          </p:cNvPr>
          <p:cNvSpPr>
            <a:spLocks xmlns:a="http://schemas.openxmlformats.org/drawingml/2006/main" noGrp="1"/>
          </p:cNvSpPr>
          <p:nvPr/>
        </p:nvSpPr>
        <p:spPr>
          <a:xfrm xmlns:a="http://schemas.openxmlformats.org/drawingml/2006/main">
            <a:off x="8077200" y="35718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B6474"/>
                </a:solidFill>
                <a:latin typeface="Aptos"/>
                <a:ea typeface="Aptos"/>
                <a:cs typeface="Aptos"/>
              </a:defRPr>
            </a:pPr>
            <a:r>
              <a:rPr sz="1200" b="0" i="0">
                <a:solidFill>
                  <a:srgbClr val="5B6474"/>
                </a:solidFill>
                <a:latin typeface="Aptos"/>
                <a:ea typeface="Aptos"/>
                <a:cs typeface="Aptos"/>
              </a:rPr>
              <a:t>March 2025</a:t>
            </a:r>
          </a:p>
        </p:txBody>
      </p:sp>
      <p:sp>
        <p:nvSpPr>
          <p:cNvPr id="15" name="">
            <a:extLst xmlns:a="http://schemas.openxmlformats.org/drawingml/2006/main">
              <a:ext uri="{FF2B5EF4-FFF2-40B4-BE49-F238E27FC236}">
                <a16:creationId xmlns:a16="http://schemas.microsoft.com/office/drawing/2014/main" id="{15155271-B6F4-4BA3-9975-6717DB0EB0CF}"/>
              </a:ext>
            </a:extLst>
          </p:cNvPr>
          <p:cNvSpPr>
            <a:spLocks xmlns:a="http://schemas.openxmlformats.org/drawingml/2006/main" noGrp="1"/>
          </p:cNvSpPr>
          <p:nvPr/>
        </p:nvSpPr>
        <p:spPr>
          <a:xfrm xmlns:a="http://schemas.openxmlformats.org/drawingml/2006/main">
            <a:off x="685800" y="4657725"/>
            <a:ext cx="10820400" cy="1219200"/>
          </a:xfrm>
          <a:prstGeom xmlns:a="http://schemas.openxmlformats.org/drawingml/2006/main" prst="roundRect">
            <a:avLst>
              <a:gd name="adj" fmla="val 15625"/>
            </a:avLst>
          </a:prstGeom>
          <a:solidFill xmlns:a="http://schemas.openxmlformats.org/drawingml/2006/main">
            <a:srgbClr val="DCE7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7847687-D2B6-46FC-A6D1-AAD40D2216DC}"/>
              </a:ext>
            </a:extLst>
          </p:cNvPr>
          <p:cNvSpPr>
            <a:spLocks xmlns:a="http://schemas.openxmlformats.org/drawingml/2006/main" noGrp="1"/>
          </p:cNvSpPr>
          <p:nvPr/>
        </p:nvSpPr>
        <p:spPr>
          <a:xfrm xmlns:a="http://schemas.openxmlformats.org/drawingml/2006/main">
            <a:off x="952500" y="48958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i="0">
                <a:solidFill>
                  <a:srgbClr val="2E6BFF"/>
                </a:solidFill>
                <a:latin typeface="Aptos Display"/>
                <a:ea typeface="Aptos Display"/>
                <a:cs typeface="Aptos Display"/>
              </a:defRPr>
            </a:pPr>
            <a:r>
              <a:rPr sz="2100" b="1" i="0">
                <a:solidFill>
                  <a:srgbClr val="2E6BFF"/>
                </a:solidFill>
                <a:latin typeface="Aptos Display"/>
                <a:ea typeface="Aptos Display"/>
                <a:cs typeface="Aptos Display"/>
              </a:rPr>
              <a:t>The opportunity is not teaching people to use digital tools.</a:t>
            </a:r>
          </a:p>
        </p:txBody>
      </p:sp>
      <p:sp>
        <p:nvSpPr>
          <p:cNvPr id="17" name="">
            <a:extLst xmlns:a="http://schemas.openxmlformats.org/drawingml/2006/main">
              <a:ext uri="{FF2B5EF4-FFF2-40B4-BE49-F238E27FC236}">
                <a16:creationId xmlns:a16="http://schemas.microsoft.com/office/drawing/2014/main" id="{5174B2D5-A829-4FDA-B1EA-C0D3F2AD50D7}"/>
              </a:ext>
            </a:extLst>
          </p:cNvPr>
          <p:cNvSpPr>
            <a:spLocks xmlns:a="http://schemas.openxmlformats.org/drawingml/2006/main" noGrp="1"/>
          </p:cNvSpPr>
          <p:nvPr/>
        </p:nvSpPr>
        <p:spPr>
          <a:xfrm xmlns:a="http://schemas.openxmlformats.org/drawingml/2006/main">
            <a:off x="952500" y="5353050"/>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182033"/>
                </a:solidFill>
                <a:latin typeface="Aptos"/>
                <a:ea typeface="Aptos"/>
                <a:cs typeface="Aptos"/>
              </a:defRPr>
            </a:pPr>
            <a:r>
              <a:rPr sz="1650" b="0" i="0">
                <a:solidFill>
                  <a:srgbClr val="182033"/>
                </a:solidFill>
                <a:latin typeface="Aptos"/>
                <a:ea typeface="Aptos"/>
                <a:cs typeface="Aptos"/>
              </a:rPr>
              <a:t>It is giving an existing digital habit trusted local context.</a:t>
            </a:r>
          </a:p>
        </p:txBody>
      </p:sp>
      <p:sp>
        <p:nvSpPr>
          <p:cNvPr id="18" name="">
            <a:extLst xmlns:a="http://schemas.openxmlformats.org/drawingml/2006/main">
              <a:ext uri="{FF2B5EF4-FFF2-40B4-BE49-F238E27FC236}">
                <a16:creationId xmlns:a16="http://schemas.microsoft.com/office/drawing/2014/main" id="{E8302EF4-6F3E-4E21-A3D8-2C71BC2ACA32}"/>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Source: Pakistan Economic Survey 2024–25, Information Technology &amp; Telecommunication.</a:t>
            </a:r>
          </a:p>
        </p:txBody>
      </p:sp>
      <p:sp>
        <p:nvSpPr>
          <p:cNvPr id="19" name="">
            <a:extLst xmlns:a="http://schemas.openxmlformats.org/drawingml/2006/main">
              <a:ext uri="{FF2B5EF4-FFF2-40B4-BE49-F238E27FC236}">
                <a16:creationId xmlns:a16="http://schemas.microsoft.com/office/drawing/2014/main" id="{22512755-50D0-4DF5-9AAB-66171307F540}"/>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09</a:t>
            </a:r>
          </a:p>
        </p:txBody>
      </p:sp>
    </p:spTree>
    <p:extLst>
      <p:ext uri="{BB962C8B-B14F-4D97-AF65-F5344CB8AC3E}">
        <p14:creationId xmlns:p14="http://schemas.microsoft.com/office/powerpoint/2010/main" val="475425332"/>
      </p:ext>
    </p:extLst>
  </p:cSld>
  <p:transition spd="fast" advClick="1">
    <p:push dir="l"/>
  </p:transition>
</p:sld>
</file>

<file path=ppt/slides/slide10.xml><?xml version="1.0" encoding="utf-8"?>
<p:sld xmlns:p="http://schemas.openxmlformats.org/presentationml/2006/main">
  <p:cSld>
    <p:bg>
      <p:bgPr>
        <a:solidFill xmlns:a="http://schemas.openxmlformats.org/drawingml/2006/main">
          <a:srgbClr val="121A2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FE11ED2-65CF-4661-AC06-A40979DD1395}"/>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MARKET POTENTIAL</a:t>
            </a:r>
          </a:p>
        </p:txBody>
      </p:sp>
      <p:sp>
        <p:nvSpPr>
          <p:cNvPr id="2" name="">
            <a:extLst xmlns:a="http://schemas.openxmlformats.org/drawingml/2006/main">
              <a:ext uri="{FF2B5EF4-FFF2-40B4-BE49-F238E27FC236}">
                <a16:creationId xmlns:a16="http://schemas.microsoft.com/office/drawing/2014/main" id="{D9755FE5-50A7-4E4B-8713-E531305A6771}"/>
              </a:ext>
            </a:extLst>
          </p:cNvPr>
          <p:cNvSpPr>
            <a:spLocks xmlns:a="http://schemas.openxmlformats.org/drawingml/2006/main" noGrp="1"/>
          </p:cNvSpPr>
          <p:nvPr/>
        </p:nvSpPr>
        <p:spPr>
          <a:xfrm xmlns:a="http://schemas.openxmlformats.org/drawingml/2006/main">
            <a:off x="685800" y="971550"/>
            <a:ext cx="5619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570"/>
          </a:bodyPr>
          <a:lstStyle xmlns:a="http://schemas.openxmlformats.org/drawingml/2006/main"/>
          <a:p xmlns:a="http://schemas.openxmlformats.org/drawingml/2006/main">
            <a:pPr algn="l">
              <a:defRPr sz="3600" b="1" i="0">
                <a:solidFill>
                  <a:srgbClr val="FFFFFF"/>
                </a:solidFill>
                <a:latin typeface="Aptos Display"/>
                <a:ea typeface="Aptos Display"/>
                <a:cs typeface="Aptos Display"/>
              </a:defRPr>
            </a:pPr>
            <a:r>
              <a:rPr sz="3600" b="1" i="0">
                <a:solidFill>
                  <a:srgbClr val="FFFFFF"/>
                </a:solidFill>
                <a:latin typeface="Aptos Display"/>
                <a:ea typeface="Aptos Display"/>
                <a:cs typeface="Aptos Display"/>
              </a:rPr>
              <a:t>Start with 15.0m urban households.</a:t>
            </a:r>
          </a:p>
          <a:p xmlns:a="http://schemas.openxmlformats.org/drawingml/2006/main">
            <a:pPr algn="l">
              <a:defRPr sz="3600" b="1" i="0">
                <a:solidFill>
                  <a:srgbClr val="FFFFFF"/>
                </a:solidFill>
                <a:latin typeface="Aptos Display"/>
                <a:ea typeface="Aptos Display"/>
                <a:cs typeface="Aptos Display"/>
              </a:defRPr>
            </a:pPr>
            <a:r>
              <a:rPr sz="3600" b="1" i="0">
                <a:solidFill>
                  <a:srgbClr val="FFFFFF"/>
                </a:solidFill>
                <a:latin typeface="Aptos Display"/>
                <a:ea typeface="Aptos Display"/>
                <a:cs typeface="Aptos Display"/>
              </a:rPr>
              <a:t>Win a dense, reachable wedge.</a:t>
            </a:r>
          </a:p>
        </p:txBody>
      </p:sp>
      <p:sp>
        <p:nvSpPr>
          <p:cNvPr id="3" name="">
            <a:extLst xmlns:a="http://schemas.openxmlformats.org/drawingml/2006/main">
              <a:ext uri="{FF2B5EF4-FFF2-40B4-BE49-F238E27FC236}">
                <a16:creationId xmlns:a16="http://schemas.microsoft.com/office/drawing/2014/main" id="{BEC2E651-1297-46C2-A927-5B24B0CE687D}"/>
              </a:ext>
            </a:extLst>
          </p:cNvPr>
          <p:cNvSpPr>
            <a:spLocks xmlns:a="http://schemas.openxmlformats.org/drawingml/2006/main" noGrp="1"/>
          </p:cNvSpPr>
          <p:nvPr/>
        </p:nvSpPr>
        <p:spPr>
          <a:xfrm xmlns:a="http://schemas.openxmlformats.org/drawingml/2006/main">
            <a:off x="685800" y="2571750"/>
            <a:ext cx="72390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031BE3-95A9-4410-B442-92D51B66DC01}"/>
              </a:ext>
            </a:extLst>
          </p:cNvPr>
          <p:cNvSpPr>
            <a:spLocks xmlns:a="http://schemas.openxmlformats.org/drawingml/2006/main" noGrp="1"/>
          </p:cNvSpPr>
          <p:nvPr/>
        </p:nvSpPr>
        <p:spPr>
          <a:xfrm xmlns:a="http://schemas.openxmlformats.org/drawingml/2006/main">
            <a:off x="800100" y="260985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i="0">
                <a:solidFill>
                  <a:srgbClr val="121A2C"/>
                </a:solidFill>
                <a:latin typeface="Aptos Display"/>
                <a:ea typeface="Aptos Display"/>
                <a:cs typeface="Aptos Display"/>
              </a:defRPr>
            </a:pPr>
            <a:r>
              <a:rPr sz="975" b="1" i="0">
                <a:solidFill>
                  <a:srgbClr val="121A2C"/>
                </a:solidFill>
                <a:latin typeface="Aptos Display"/>
                <a:ea typeface="Aptos Display"/>
                <a:cs typeface="Aptos Display"/>
              </a:rPr>
              <a:t>TAM</a:t>
            </a:r>
          </a:p>
        </p:txBody>
      </p:sp>
      <p:sp>
        <p:nvSpPr>
          <p:cNvPr id="5" name="">
            <a:extLst xmlns:a="http://schemas.openxmlformats.org/drawingml/2006/main">
              <a:ext uri="{FF2B5EF4-FFF2-40B4-BE49-F238E27FC236}">
                <a16:creationId xmlns:a16="http://schemas.microsoft.com/office/drawing/2014/main" id="{4254CBD9-7F82-4552-BA38-1F40230D4E4D}"/>
              </a:ext>
            </a:extLst>
          </p:cNvPr>
          <p:cNvSpPr>
            <a:spLocks xmlns:a="http://schemas.openxmlformats.org/drawingml/2006/main" noGrp="1"/>
          </p:cNvSpPr>
          <p:nvPr/>
        </p:nvSpPr>
        <p:spPr>
          <a:xfrm xmlns:a="http://schemas.openxmlformats.org/drawingml/2006/main">
            <a:off x="1600200" y="2533650"/>
            <a:ext cx="121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FFFFFF"/>
                </a:solidFill>
                <a:latin typeface="Aptos Display"/>
                <a:ea typeface="Aptos Display"/>
                <a:cs typeface="Aptos Display"/>
              </a:defRPr>
            </a:pPr>
            <a:r>
              <a:rPr sz="2550" b="1" i="0">
                <a:solidFill>
                  <a:srgbClr val="FFFFFF"/>
                </a:solidFill>
                <a:latin typeface="Aptos Display"/>
                <a:ea typeface="Aptos Display"/>
                <a:cs typeface="Aptos Display"/>
              </a:rPr>
              <a:t>15.0m</a:t>
            </a:r>
          </a:p>
        </p:txBody>
      </p:sp>
      <p:sp>
        <p:nvSpPr>
          <p:cNvPr id="6" name="">
            <a:extLst xmlns:a="http://schemas.openxmlformats.org/drawingml/2006/main">
              <a:ext uri="{FF2B5EF4-FFF2-40B4-BE49-F238E27FC236}">
                <a16:creationId xmlns:a16="http://schemas.microsoft.com/office/drawing/2014/main" id="{05B51C1A-DF1C-4714-B4B7-E6197722DE16}"/>
              </a:ext>
            </a:extLst>
          </p:cNvPr>
          <p:cNvSpPr>
            <a:spLocks xmlns:a="http://schemas.openxmlformats.org/drawingml/2006/main" noGrp="1"/>
          </p:cNvSpPr>
          <p:nvPr/>
        </p:nvSpPr>
        <p:spPr>
          <a:xfrm xmlns:a="http://schemas.openxmlformats.org/drawingml/2006/main">
            <a:off x="2895600" y="25908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C7D0E1"/>
                </a:solidFill>
                <a:latin typeface="Aptos"/>
                <a:ea typeface="Aptos"/>
                <a:cs typeface="Aptos"/>
              </a:defRPr>
            </a:pPr>
            <a:r>
              <a:rPr sz="1425" b="0" i="0">
                <a:solidFill>
                  <a:srgbClr val="C7D0E1"/>
                </a:solidFill>
                <a:latin typeface="Aptos"/>
                <a:ea typeface="Aptos"/>
                <a:cs typeface="Aptos"/>
              </a:rPr>
              <a:t>All urban households</a:t>
            </a:r>
          </a:p>
        </p:txBody>
      </p:sp>
      <p:sp>
        <p:nvSpPr>
          <p:cNvPr id="7" name="">
            <a:extLst xmlns:a="http://schemas.openxmlformats.org/drawingml/2006/main">
              <a:ext uri="{FF2B5EF4-FFF2-40B4-BE49-F238E27FC236}">
                <a16:creationId xmlns:a16="http://schemas.microsoft.com/office/drawing/2014/main" id="{B9A1BF20-3E05-47B5-8DAB-F7C550DAC49A}"/>
              </a:ext>
            </a:extLst>
          </p:cNvPr>
          <p:cNvSpPr>
            <a:spLocks xmlns:a="http://schemas.openxmlformats.org/drawingml/2006/main" noGrp="1"/>
          </p:cNvSpPr>
          <p:nvPr/>
        </p:nvSpPr>
        <p:spPr>
          <a:xfrm xmlns:a="http://schemas.openxmlformats.org/drawingml/2006/main">
            <a:off x="685800" y="3581400"/>
            <a:ext cx="723900" cy="323850"/>
          </a:xfrm>
          <a:prstGeom xmlns:a="http://schemas.openxmlformats.org/drawingml/2006/main" prst="roundRect">
            <a:avLst>
              <a:gd name="adj" fmla="val 50000"/>
            </a:avLst>
          </a:prstGeom>
          <a:solidFill xmlns:a="http://schemas.openxmlformats.org/drawingml/2006/main">
            <a:srgbClr val="5BBDE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998ECCF-493F-48EF-A0DF-50A988ED8747}"/>
              </a:ext>
            </a:extLst>
          </p:cNvPr>
          <p:cNvSpPr>
            <a:spLocks xmlns:a="http://schemas.openxmlformats.org/drawingml/2006/main" noGrp="1"/>
          </p:cNvSpPr>
          <p:nvPr/>
        </p:nvSpPr>
        <p:spPr>
          <a:xfrm xmlns:a="http://schemas.openxmlformats.org/drawingml/2006/main">
            <a:off x="800100" y="361950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i="0">
                <a:solidFill>
                  <a:srgbClr val="121A2C"/>
                </a:solidFill>
                <a:latin typeface="Aptos Display"/>
                <a:ea typeface="Aptos Display"/>
                <a:cs typeface="Aptos Display"/>
              </a:defRPr>
            </a:pPr>
            <a:r>
              <a:rPr sz="975" b="1" i="0">
                <a:solidFill>
                  <a:srgbClr val="121A2C"/>
                </a:solidFill>
                <a:latin typeface="Aptos Display"/>
                <a:ea typeface="Aptos Display"/>
                <a:cs typeface="Aptos Display"/>
              </a:rPr>
              <a:t>SAM</a:t>
            </a:r>
          </a:p>
        </p:txBody>
      </p:sp>
      <p:sp>
        <p:nvSpPr>
          <p:cNvPr id="9" name="">
            <a:extLst xmlns:a="http://schemas.openxmlformats.org/drawingml/2006/main">
              <a:ext uri="{FF2B5EF4-FFF2-40B4-BE49-F238E27FC236}">
                <a16:creationId xmlns:a16="http://schemas.microsoft.com/office/drawing/2014/main" id="{CA409899-D3B0-4333-BBC9-C5C39216F126}"/>
              </a:ext>
            </a:extLst>
          </p:cNvPr>
          <p:cNvSpPr>
            <a:spLocks xmlns:a="http://schemas.openxmlformats.org/drawingml/2006/main" noGrp="1"/>
          </p:cNvSpPr>
          <p:nvPr/>
        </p:nvSpPr>
        <p:spPr>
          <a:xfrm xmlns:a="http://schemas.openxmlformats.org/drawingml/2006/main">
            <a:off x="1600200" y="3543300"/>
            <a:ext cx="121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FFFFFF"/>
                </a:solidFill>
                <a:latin typeface="Aptos Display"/>
                <a:ea typeface="Aptos Display"/>
                <a:cs typeface="Aptos Display"/>
              </a:defRPr>
            </a:pPr>
            <a:r>
              <a:rPr sz="2550" b="1" i="0">
                <a:solidFill>
                  <a:srgbClr val="FFFFFF"/>
                </a:solidFill>
                <a:latin typeface="Aptos Display"/>
                <a:ea typeface="Aptos Display"/>
                <a:cs typeface="Aptos Display"/>
              </a:rPr>
              <a:t>3.0m</a:t>
            </a:r>
          </a:p>
        </p:txBody>
      </p:sp>
      <p:sp>
        <p:nvSpPr>
          <p:cNvPr id="10" name="">
            <a:extLst xmlns:a="http://schemas.openxmlformats.org/drawingml/2006/main">
              <a:ext uri="{FF2B5EF4-FFF2-40B4-BE49-F238E27FC236}">
                <a16:creationId xmlns:a16="http://schemas.microsoft.com/office/drawing/2014/main" id="{42FB4282-5BEC-4119-A94D-8B4BA1D6FEED}"/>
              </a:ext>
            </a:extLst>
          </p:cNvPr>
          <p:cNvSpPr>
            <a:spLocks xmlns:a="http://schemas.openxmlformats.org/drawingml/2006/main" noGrp="1"/>
          </p:cNvSpPr>
          <p:nvPr/>
        </p:nvSpPr>
        <p:spPr>
          <a:xfrm xmlns:a="http://schemas.openxmlformats.org/drawingml/2006/main">
            <a:off x="2895600" y="36004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C7D0E1"/>
                </a:solidFill>
                <a:latin typeface="Aptos"/>
                <a:ea typeface="Aptos"/>
                <a:cs typeface="Aptos"/>
              </a:defRPr>
            </a:pPr>
            <a:r>
              <a:rPr sz="1425" b="0" i="0">
                <a:solidFill>
                  <a:srgbClr val="C7D0E1"/>
                </a:solidFill>
                <a:latin typeface="Aptos"/>
                <a:ea typeface="Aptos"/>
                <a:cs typeface="Aptos"/>
              </a:rPr>
              <a:t>Planning scenario: 20% initial reachable wedge</a:t>
            </a:r>
          </a:p>
        </p:txBody>
      </p:sp>
      <p:sp>
        <p:nvSpPr>
          <p:cNvPr id="11" name="">
            <a:extLst xmlns:a="http://schemas.openxmlformats.org/drawingml/2006/main">
              <a:ext uri="{FF2B5EF4-FFF2-40B4-BE49-F238E27FC236}">
                <a16:creationId xmlns:a16="http://schemas.microsoft.com/office/drawing/2014/main" id="{8F0CA37B-8701-401A-8329-414693C90358}"/>
              </a:ext>
            </a:extLst>
          </p:cNvPr>
          <p:cNvSpPr>
            <a:spLocks xmlns:a="http://schemas.openxmlformats.org/drawingml/2006/main" noGrp="1"/>
          </p:cNvSpPr>
          <p:nvPr/>
        </p:nvSpPr>
        <p:spPr>
          <a:xfrm xmlns:a="http://schemas.openxmlformats.org/drawingml/2006/main">
            <a:off x="685800" y="4591050"/>
            <a:ext cx="723900" cy="323850"/>
          </a:xfrm>
          <a:prstGeom xmlns:a="http://schemas.openxmlformats.org/drawingml/2006/main" prst="roundRect">
            <a:avLst>
              <a:gd name="adj" fmla="val 50000"/>
            </a:avLst>
          </a:prstGeom>
          <a:solidFill xmlns:a="http://schemas.openxmlformats.org/drawingml/2006/main">
            <a:srgbClr val="D6B77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DC2EA42-9CF3-4211-ADE0-4F5181E8E2B6}"/>
              </a:ext>
            </a:extLst>
          </p:cNvPr>
          <p:cNvSpPr>
            <a:spLocks xmlns:a="http://schemas.openxmlformats.org/drawingml/2006/main" noGrp="1"/>
          </p:cNvSpPr>
          <p:nvPr/>
        </p:nvSpPr>
        <p:spPr>
          <a:xfrm xmlns:a="http://schemas.openxmlformats.org/drawingml/2006/main">
            <a:off x="800100" y="4629150"/>
            <a:ext cx="49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i="0">
                <a:solidFill>
                  <a:srgbClr val="121A2C"/>
                </a:solidFill>
                <a:latin typeface="Aptos Display"/>
                <a:ea typeface="Aptos Display"/>
                <a:cs typeface="Aptos Display"/>
              </a:defRPr>
            </a:pPr>
            <a:r>
              <a:rPr sz="975" b="1" i="0">
                <a:solidFill>
                  <a:srgbClr val="121A2C"/>
                </a:solidFill>
                <a:latin typeface="Aptos Display"/>
                <a:ea typeface="Aptos Display"/>
                <a:cs typeface="Aptos Display"/>
              </a:rPr>
              <a:t>SOM</a:t>
            </a:r>
          </a:p>
        </p:txBody>
      </p:sp>
      <p:sp>
        <p:nvSpPr>
          <p:cNvPr id="13" name="">
            <a:extLst xmlns:a="http://schemas.openxmlformats.org/drawingml/2006/main">
              <a:ext uri="{FF2B5EF4-FFF2-40B4-BE49-F238E27FC236}">
                <a16:creationId xmlns:a16="http://schemas.microsoft.com/office/drawing/2014/main" id="{7971CFED-C16C-46B6-80BC-B301D4B67198}"/>
              </a:ext>
            </a:extLst>
          </p:cNvPr>
          <p:cNvSpPr>
            <a:spLocks xmlns:a="http://schemas.openxmlformats.org/drawingml/2006/main" noGrp="1"/>
          </p:cNvSpPr>
          <p:nvPr/>
        </p:nvSpPr>
        <p:spPr>
          <a:xfrm xmlns:a="http://schemas.openxmlformats.org/drawingml/2006/main">
            <a:off x="1600200" y="4552950"/>
            <a:ext cx="1219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FFFFFF"/>
                </a:solidFill>
                <a:latin typeface="Aptos Display"/>
                <a:ea typeface="Aptos Display"/>
                <a:cs typeface="Aptos Display"/>
              </a:defRPr>
            </a:pPr>
            <a:r>
              <a:rPr sz="2550" b="1" i="0">
                <a:solidFill>
                  <a:srgbClr val="FFFFFF"/>
                </a:solidFill>
                <a:latin typeface="Aptos Display"/>
                <a:ea typeface="Aptos Display"/>
                <a:cs typeface="Aptos Display"/>
              </a:rPr>
              <a:t>1.0m</a:t>
            </a:r>
          </a:p>
        </p:txBody>
      </p:sp>
      <p:sp>
        <p:nvSpPr>
          <p:cNvPr id="14" name="">
            <a:extLst xmlns:a="http://schemas.openxmlformats.org/drawingml/2006/main">
              <a:ext uri="{FF2B5EF4-FFF2-40B4-BE49-F238E27FC236}">
                <a16:creationId xmlns:a16="http://schemas.microsoft.com/office/drawing/2014/main" id="{CD1E305E-5BCA-494E-850A-B51C96D66B6C}"/>
              </a:ext>
            </a:extLst>
          </p:cNvPr>
          <p:cNvSpPr>
            <a:spLocks xmlns:a="http://schemas.openxmlformats.org/drawingml/2006/main" noGrp="1"/>
          </p:cNvSpPr>
          <p:nvPr/>
        </p:nvSpPr>
        <p:spPr>
          <a:xfrm xmlns:a="http://schemas.openxmlformats.org/drawingml/2006/main">
            <a:off x="2895600" y="46101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C7D0E1"/>
                </a:solidFill>
                <a:latin typeface="Aptos"/>
                <a:ea typeface="Aptos"/>
                <a:cs typeface="Aptos"/>
              </a:defRPr>
            </a:pPr>
            <a:r>
              <a:rPr sz="1425" b="0" i="0">
                <a:solidFill>
                  <a:srgbClr val="C7D0E1"/>
                </a:solidFill>
                <a:latin typeface="Aptos"/>
                <a:ea typeface="Aptos"/>
                <a:cs typeface="Aptos"/>
              </a:rPr>
              <a:t>Five-year household target</a:t>
            </a:r>
          </a:p>
        </p:txBody>
      </p:sp>
      <p:sp>
        <p:nvSpPr>
          <p:cNvPr id="15" name="">
            <a:extLst xmlns:a="http://schemas.openxmlformats.org/drawingml/2006/main">
              <a:ext uri="{FF2B5EF4-FFF2-40B4-BE49-F238E27FC236}">
                <a16:creationId xmlns:a16="http://schemas.microsoft.com/office/drawing/2014/main" id="{4802F288-3388-4660-BCE8-A616E398C8DE}"/>
              </a:ext>
            </a:extLst>
          </p:cNvPr>
          <p:cNvSpPr>
            <a:spLocks xmlns:a="http://schemas.openxmlformats.org/drawingml/2006/main" noGrp="1"/>
          </p:cNvSpPr>
          <p:nvPr/>
        </p:nvSpPr>
        <p:spPr>
          <a:xfrm xmlns:a="http://schemas.openxmlformats.org/drawingml/2006/main">
            <a:off x="6667500" y="1466850"/>
            <a:ext cx="4838700" cy="4267200"/>
          </a:xfrm>
          <a:prstGeom xmlns:a="http://schemas.openxmlformats.org/drawingml/2006/main" prst="roundRect">
            <a:avLst>
              <a:gd name="adj" fmla="val 5357"/>
            </a:avLst>
          </a:prstGeom>
          <a:solidFill xmlns:a="http://schemas.openxmlformats.org/drawingml/2006/main">
            <a:srgbClr val="F5F0E7"/>
          </a:solidFill>
          <a:ln xmlns:a="http://schemas.openxmlformats.org/drawingml/2006/main" w="0">
            <a:noFill/>
            <a:prstDash val="solid"/>
          </a:ln>
        </p:spPr>
      </p:sp>
      <p:graphicFrame>
        <p:nvGraphicFramePr>
          <p:cNvPr id="38" name="Chart"/>
          <p:cNvGraphicFramePr/>
          <p:nvPr/>
        </p:nvGraphicFramePr>
        <p:xfrm>
          <a:off xmlns:a="http://schemas.openxmlformats.org/drawingml/2006/main" x="7000875" y="1914525"/>
          <a:ext xmlns:a="http://schemas.openxmlformats.org/drawingml/2006/main" cx="4143375" cy="3143250"/>
        </p:xfrm>
        <a:graphic xmlns:a="http://schemas.openxmlformats.org/drawingml/2006/main">
          <a:graphicData uri="http://schemas.openxmlformats.org/drawingml/2006/chart">
            <c:chart xmlns:r="http://schemas.openxmlformats.org/officeDocument/2006/relationships" xmlns:c="http://schemas.openxmlformats.org/drawingml/2006/chart" r:id="Rd76e1ede08944d53"/>
          </a:graphicData>
        </a:graphic>
      </p:graphicFrame>
      <p:sp>
        <p:nvSpPr>
          <p:cNvPr id="17" name="">
            <a:extLst xmlns:a="http://schemas.openxmlformats.org/drawingml/2006/main">
              <a:ext uri="{FF2B5EF4-FFF2-40B4-BE49-F238E27FC236}">
                <a16:creationId xmlns:a16="http://schemas.microsoft.com/office/drawing/2014/main" id="{BC62CF98-7BEC-4660-AB2A-2519F812153F}"/>
              </a:ext>
            </a:extLst>
          </p:cNvPr>
          <p:cNvSpPr>
            <a:spLocks xmlns:a="http://schemas.openxmlformats.org/drawingml/2006/main" noGrp="1"/>
          </p:cNvSpPr>
          <p:nvPr/>
        </p:nvSpPr>
        <p:spPr>
          <a:xfrm xmlns:a="http://schemas.openxmlformats.org/drawingml/2006/main">
            <a:off x="7258050" y="5191125"/>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5B6474"/>
                </a:solidFill>
                <a:latin typeface="Aptos Display"/>
                <a:ea typeface="Aptos Display"/>
                <a:cs typeface="Aptos Display"/>
              </a:defRPr>
            </a:pPr>
            <a:r>
              <a:rPr sz="975" b="1" i="0">
                <a:solidFill>
                  <a:srgbClr val="5B6474"/>
                </a:solidFill>
                <a:latin typeface="Aptos Display"/>
                <a:ea typeface="Aptos Display"/>
                <a:cs typeface="Aptos Display"/>
              </a:rPr>
              <a:t>URBAN HOUSEHOLDS • MILLIONS</a:t>
            </a:r>
          </a:p>
        </p:txBody>
      </p:sp>
      <p:sp>
        <p:nvSpPr>
          <p:cNvPr id="18" name="">
            <a:extLst xmlns:a="http://schemas.openxmlformats.org/drawingml/2006/main">
              <a:ext uri="{FF2B5EF4-FFF2-40B4-BE49-F238E27FC236}">
                <a16:creationId xmlns:a16="http://schemas.microsoft.com/office/drawing/2014/main" id="{A2F95770-58D8-4AD8-A1AE-27A94FB915E9}"/>
              </a:ext>
            </a:extLst>
          </p:cNvPr>
          <p:cNvSpPr>
            <a:spLocks xmlns:a="http://schemas.openxmlformats.org/drawingml/2006/main" noGrp="1"/>
          </p:cNvSpPr>
          <p:nvPr/>
        </p:nvSpPr>
        <p:spPr>
          <a:xfrm xmlns:a="http://schemas.openxmlformats.org/drawingml/2006/main">
            <a:off x="685800" y="5829300"/>
            <a:ext cx="160020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2B708AD-965D-430F-9F69-C6E77953643C}"/>
              </a:ext>
            </a:extLst>
          </p:cNvPr>
          <p:cNvSpPr>
            <a:spLocks xmlns:a="http://schemas.openxmlformats.org/drawingml/2006/main" noGrp="1"/>
          </p:cNvSpPr>
          <p:nvPr/>
        </p:nvSpPr>
        <p:spPr>
          <a:xfrm xmlns:a="http://schemas.openxmlformats.org/drawingml/2006/main">
            <a:off x="800100" y="5867400"/>
            <a:ext cx="1371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121A2C"/>
                </a:solidFill>
                <a:latin typeface="Aptos Display"/>
                <a:ea typeface="Aptos Display"/>
                <a:cs typeface="Aptos Display"/>
              </a:defRPr>
            </a:pPr>
            <a:r>
              <a:rPr sz="825" b="1" i="0">
                <a:solidFill>
                  <a:srgbClr val="121A2C"/>
                </a:solidFill>
                <a:latin typeface="Aptos Display"/>
                <a:ea typeface="Aptos Display"/>
                <a:cs typeface="Aptos Display"/>
              </a:rPr>
              <a:t>ASSUMPTION LAYER</a:t>
            </a:r>
          </a:p>
        </p:txBody>
      </p:sp>
      <p:sp>
        <p:nvSpPr>
          <p:cNvPr id="20" name="">
            <a:extLst xmlns:a="http://schemas.openxmlformats.org/drawingml/2006/main">
              <a:ext uri="{FF2B5EF4-FFF2-40B4-BE49-F238E27FC236}">
                <a16:creationId xmlns:a16="http://schemas.microsoft.com/office/drawing/2014/main" id="{3EB4A76E-CEB1-4661-8DE2-EA13E5B89888}"/>
              </a:ext>
            </a:extLst>
          </p:cNvPr>
          <p:cNvSpPr>
            <a:spLocks xmlns:a="http://schemas.openxmlformats.org/drawingml/2006/main" noGrp="1"/>
          </p:cNvSpPr>
          <p:nvPr/>
        </p:nvSpPr>
        <p:spPr>
          <a:xfrm xmlns:a="http://schemas.openxmlformats.org/drawingml/2006/main">
            <a:off x="2476500" y="58578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C7D0E1"/>
                </a:solidFill>
                <a:latin typeface="Aptos"/>
                <a:ea typeface="Aptos"/>
                <a:cs typeface="Aptos"/>
              </a:defRPr>
            </a:pPr>
            <a:r>
              <a:rPr sz="1275" b="0" i="0">
                <a:solidFill>
                  <a:srgbClr val="C7D0E1"/>
                </a:solidFill>
                <a:latin typeface="Aptos"/>
                <a:ea typeface="Aptos"/>
                <a:cs typeface="Aptos"/>
              </a:rPr>
              <a:t>SAM and SOM are planning assumptions—not current market share or forecasts.</a:t>
            </a:r>
          </a:p>
        </p:txBody>
      </p:sp>
      <p:sp>
        <p:nvSpPr>
          <p:cNvPr id="21" name="">
            <a:extLst xmlns:a="http://schemas.openxmlformats.org/drawingml/2006/main">
              <a:ext uri="{FF2B5EF4-FFF2-40B4-BE49-F238E27FC236}">
                <a16:creationId xmlns:a16="http://schemas.microsoft.com/office/drawing/2014/main" id="{D72835C1-5991-438D-9ADD-FAB82C401549}"/>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C7D0E1"/>
                </a:solidFill>
                <a:latin typeface="Aptos"/>
                <a:ea typeface="Aptos"/>
                <a:cs typeface="Aptos"/>
              </a:defRPr>
            </a:pPr>
            <a:r>
              <a:rPr sz="825" b="0" i="0">
                <a:solidFill>
                  <a:srgbClr val="C7D0E1"/>
                </a:solidFill>
                <a:latin typeface="Aptos"/>
                <a:ea typeface="Aptos"/>
                <a:cs typeface="Aptos"/>
              </a:rPr>
              <a:t>TAM source: PBS Census 2023. SAM/SOM: illustrative Mohalla planning assumptions.</a:t>
            </a:r>
          </a:p>
        </p:txBody>
      </p:sp>
      <p:sp>
        <p:nvSpPr>
          <p:cNvPr id="22" name="">
            <a:extLst xmlns:a="http://schemas.openxmlformats.org/drawingml/2006/main">
              <a:ext uri="{FF2B5EF4-FFF2-40B4-BE49-F238E27FC236}">
                <a16:creationId xmlns:a16="http://schemas.microsoft.com/office/drawing/2014/main" id="{3463B66F-2691-4225-9B72-5803DA209498}"/>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FFFFFF"/>
                </a:solidFill>
                <a:latin typeface="Aptos Display"/>
                <a:ea typeface="Aptos Display"/>
                <a:cs typeface="Aptos Display"/>
              </a:defRPr>
            </a:pPr>
            <a:r>
              <a:rPr sz="900" b="1" i="0">
                <a:solidFill>
                  <a:srgbClr val="FFFFFF"/>
                </a:solidFill>
                <a:latin typeface="Aptos Display"/>
                <a:ea typeface="Aptos Display"/>
                <a:cs typeface="Aptos Display"/>
              </a:rPr>
              <a:t>10</a:t>
            </a:r>
          </a:p>
        </p:txBody>
      </p:sp>
    </p:spTree>
    <p:extLst>
      <p:ext uri="{BB962C8B-B14F-4D97-AF65-F5344CB8AC3E}">
        <p14:creationId xmlns:p14="http://schemas.microsoft.com/office/powerpoint/2010/main" val="646794590"/>
      </p:ext>
    </p:extLst>
  </p:cSld>
  <p:transition spd="fast" advClick="1">
    <p:fade/>
  </p:transition>
</p:sld>
</file>

<file path=ppt/slides/slide11.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B781087-6C9E-4814-BC5A-EEB0F3F9F32E}"/>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FOUR-SIDED VALUE</a:t>
            </a:r>
          </a:p>
        </p:txBody>
      </p:sp>
      <p:sp>
        <p:nvSpPr>
          <p:cNvPr id="2" name="">
            <a:extLst xmlns:a="http://schemas.openxmlformats.org/drawingml/2006/main">
              <a:ext uri="{FF2B5EF4-FFF2-40B4-BE49-F238E27FC236}">
                <a16:creationId xmlns:a16="http://schemas.microsoft.com/office/drawing/2014/main" id="{07CB0DED-9FF4-4849-8442-EE5CAA9F90B9}"/>
              </a:ext>
            </a:extLst>
          </p:cNvPr>
          <p:cNvSpPr>
            <a:spLocks xmlns:a="http://schemas.openxmlformats.org/drawingml/2006/main" noGrp="1"/>
          </p:cNvSpPr>
          <p:nvPr/>
        </p:nvSpPr>
        <p:spPr>
          <a:xfrm xmlns:a="http://schemas.openxmlformats.org/drawingml/2006/main">
            <a:off x="685800" y="74295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57"/>
          </a:bodyPr>
          <a:lstStyle xmlns:a="http://schemas.openxmlformats.org/drawingml/2006/main"/>
          <a:p xmlns:a="http://schemas.openxmlformats.org/drawingml/2006/main">
            <a:pPr algn="l">
              <a:defRPr sz="3600" b="1" i="0">
                <a:solidFill>
                  <a:srgbClr val="182033"/>
                </a:solidFill>
                <a:latin typeface="Aptos Display"/>
                <a:ea typeface="Aptos Display"/>
                <a:cs typeface="Aptos Display"/>
              </a:defRPr>
            </a:pPr>
            <a:r>
              <a:rPr sz="3600" b="1" i="0">
                <a:solidFill>
                  <a:srgbClr val="182033"/>
                </a:solidFill>
                <a:latin typeface="Aptos Display"/>
                <a:ea typeface="Aptos Display"/>
                <a:cs typeface="Aptos Display"/>
              </a:rPr>
              <a:t>One network. Benefits across the neighborhood economy.</a:t>
            </a:r>
          </a:p>
        </p:txBody>
      </p:sp>
      <p:sp>
        <p:nvSpPr>
          <p:cNvPr id="3" name="">
            <a:extLst xmlns:a="http://schemas.openxmlformats.org/drawingml/2006/main">
              <a:ext uri="{FF2B5EF4-FFF2-40B4-BE49-F238E27FC236}">
                <a16:creationId xmlns:a16="http://schemas.microsoft.com/office/drawing/2014/main" id="{53DFA42E-80FA-4754-AA3A-CA0F3B94C414}"/>
              </a:ext>
            </a:extLst>
          </p:cNvPr>
          <p:cNvSpPr>
            <a:spLocks xmlns:a="http://schemas.openxmlformats.org/drawingml/2006/main" noGrp="1"/>
          </p:cNvSpPr>
          <p:nvPr/>
        </p:nvSpPr>
        <p:spPr>
          <a:xfrm xmlns:a="http://schemas.openxmlformats.org/drawingml/2006/main">
            <a:off x="685800" y="1733550"/>
            <a:ext cx="5143500" cy="1790700"/>
          </a:xfrm>
          <a:prstGeom xmlns:a="http://schemas.openxmlformats.org/drawingml/2006/main" prst="roundRect">
            <a:avLst>
              <a:gd name="adj" fmla="val 11702"/>
            </a:avLst>
          </a:prstGeom>
          <a:solidFill xmlns:a="http://schemas.openxmlformats.org/drawingml/2006/main">
            <a:srgbClr val="FFFFFF"/>
          </a:solidFill>
          <a:ln xmlns:a="http://schemas.openxmlformats.org/drawingml/2006/main" w="9525">
            <a:solidFill>
              <a:srgbClr val="D8D2C8"/>
            </a:solidFill>
            <a:prstDash val="solid"/>
          </a:ln>
        </p:spPr>
      </p:sp>
      <p:sp>
        <p:nvSpPr>
          <p:cNvPr id="4" name="">
            <a:extLst xmlns:a="http://schemas.openxmlformats.org/drawingml/2006/main">
              <a:ext uri="{FF2B5EF4-FFF2-40B4-BE49-F238E27FC236}">
                <a16:creationId xmlns:a16="http://schemas.microsoft.com/office/drawing/2014/main" id="{92162FC5-FD5B-4101-9CC8-626A918EA946}"/>
              </a:ext>
            </a:extLst>
          </p:cNvPr>
          <p:cNvSpPr>
            <a:spLocks xmlns:a="http://schemas.openxmlformats.org/drawingml/2006/main" noGrp="1"/>
          </p:cNvSpPr>
          <p:nvPr/>
        </p:nvSpPr>
        <p:spPr>
          <a:xfrm xmlns:a="http://schemas.openxmlformats.org/drawingml/2006/main">
            <a:off x="685800" y="1733550"/>
            <a:ext cx="95250" cy="179070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49991B6-740B-4300-AB0E-43E4BFF052EA}"/>
              </a:ext>
            </a:extLst>
          </p:cNvPr>
          <p:cNvSpPr>
            <a:spLocks xmlns:a="http://schemas.openxmlformats.org/drawingml/2006/main" noGrp="1"/>
          </p:cNvSpPr>
          <p:nvPr/>
        </p:nvSpPr>
        <p:spPr>
          <a:xfrm xmlns:a="http://schemas.openxmlformats.org/drawingml/2006/main">
            <a:off x="990600" y="19431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Residents</a:t>
            </a:r>
          </a:p>
        </p:txBody>
      </p:sp>
      <p:sp>
        <p:nvSpPr>
          <p:cNvPr id="6" name="">
            <a:extLst xmlns:a="http://schemas.openxmlformats.org/drawingml/2006/main">
              <a:ext uri="{FF2B5EF4-FFF2-40B4-BE49-F238E27FC236}">
                <a16:creationId xmlns:a16="http://schemas.microsoft.com/office/drawing/2014/main" id="{A5F704F6-DCBE-464E-BF20-3AEE0BC82911}"/>
              </a:ext>
            </a:extLst>
          </p:cNvPr>
          <p:cNvSpPr>
            <a:spLocks xmlns:a="http://schemas.openxmlformats.org/drawingml/2006/main" noGrp="1"/>
          </p:cNvSpPr>
          <p:nvPr/>
        </p:nvSpPr>
        <p:spPr>
          <a:xfrm xmlns:a="http://schemas.openxmlformats.org/drawingml/2006/main">
            <a:off x="990600" y="2371725"/>
            <a:ext cx="4438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B6474"/>
                </a:solidFill>
                <a:latin typeface="Aptos"/>
                <a:ea typeface="Aptos"/>
                <a:cs typeface="Aptos"/>
              </a:defRPr>
            </a:pPr>
            <a:r>
              <a:rPr sz="1500" b="0" i="0">
                <a:solidFill>
                  <a:srgbClr val="5B6474"/>
                </a:solidFill>
                <a:latin typeface="Aptos"/>
                <a:ea typeface="Aptos"/>
                <a:cs typeface="Aptos"/>
              </a:rPr>
              <a:t>Less noise. Faster answers. Safer response.</a:t>
            </a:r>
          </a:p>
        </p:txBody>
      </p:sp>
      <p:sp>
        <p:nvSpPr>
          <p:cNvPr id="7" name="">
            <a:extLst xmlns:a="http://schemas.openxmlformats.org/drawingml/2006/main">
              <a:ext uri="{FF2B5EF4-FFF2-40B4-BE49-F238E27FC236}">
                <a16:creationId xmlns:a16="http://schemas.microsoft.com/office/drawing/2014/main" id="{D10E6C1A-90C7-4E41-A77F-6FA8676D3BE2}"/>
              </a:ext>
            </a:extLst>
          </p:cNvPr>
          <p:cNvSpPr>
            <a:spLocks xmlns:a="http://schemas.openxmlformats.org/drawingml/2006/main" noGrp="1"/>
          </p:cNvSpPr>
          <p:nvPr/>
        </p:nvSpPr>
        <p:spPr>
          <a:xfrm xmlns:a="http://schemas.openxmlformats.org/drawingml/2006/main">
            <a:off x="990600" y="2971800"/>
            <a:ext cx="4438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F6B5E"/>
                </a:solidFill>
                <a:latin typeface="Aptos Display"/>
                <a:ea typeface="Aptos Display"/>
                <a:cs typeface="Aptos Display"/>
              </a:defRPr>
            </a:pPr>
            <a:r>
              <a:rPr sz="1125" b="1" i="0">
                <a:solidFill>
                  <a:srgbClr val="FF6B5E"/>
                </a:solidFill>
                <a:latin typeface="Aptos Display"/>
                <a:ea typeface="Aptos Display"/>
                <a:cs typeface="Aptos Display"/>
              </a:rPr>
              <a:t>Relevant updates  •  Trusted local help  •  Private participation</a:t>
            </a:r>
          </a:p>
        </p:txBody>
      </p:sp>
      <p:sp>
        <p:nvSpPr>
          <p:cNvPr id="8" name="">
            <a:extLst xmlns:a="http://schemas.openxmlformats.org/drawingml/2006/main">
              <a:ext uri="{FF2B5EF4-FFF2-40B4-BE49-F238E27FC236}">
                <a16:creationId xmlns:a16="http://schemas.microsoft.com/office/drawing/2014/main" id="{35B598EC-7F16-48B1-AF03-E95957EAB65A}"/>
              </a:ext>
            </a:extLst>
          </p:cNvPr>
          <p:cNvSpPr>
            <a:spLocks xmlns:a="http://schemas.openxmlformats.org/drawingml/2006/main" noGrp="1"/>
          </p:cNvSpPr>
          <p:nvPr/>
        </p:nvSpPr>
        <p:spPr>
          <a:xfrm xmlns:a="http://schemas.openxmlformats.org/drawingml/2006/main">
            <a:off x="6096000" y="1733550"/>
            <a:ext cx="5143500" cy="1790700"/>
          </a:xfrm>
          <a:prstGeom xmlns:a="http://schemas.openxmlformats.org/drawingml/2006/main" prst="roundRect">
            <a:avLst>
              <a:gd name="adj" fmla="val 11702"/>
            </a:avLst>
          </a:prstGeom>
          <a:solidFill xmlns:a="http://schemas.openxmlformats.org/drawingml/2006/main">
            <a:srgbClr val="121A2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8B7547-9CD9-420F-BE87-C285C69CB9DC}"/>
              </a:ext>
            </a:extLst>
          </p:cNvPr>
          <p:cNvSpPr>
            <a:spLocks xmlns:a="http://schemas.openxmlformats.org/drawingml/2006/main" noGrp="1"/>
          </p:cNvSpPr>
          <p:nvPr/>
        </p:nvSpPr>
        <p:spPr>
          <a:xfrm xmlns:a="http://schemas.openxmlformats.org/drawingml/2006/main">
            <a:off x="6096000" y="1733550"/>
            <a:ext cx="95250" cy="179070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EEAA9C0-56F4-4B85-A2B9-E38C712312A5}"/>
              </a:ext>
            </a:extLst>
          </p:cNvPr>
          <p:cNvSpPr>
            <a:spLocks xmlns:a="http://schemas.openxmlformats.org/drawingml/2006/main" noGrp="1"/>
          </p:cNvSpPr>
          <p:nvPr/>
        </p:nvSpPr>
        <p:spPr>
          <a:xfrm xmlns:a="http://schemas.openxmlformats.org/drawingml/2006/main">
            <a:off x="6400800" y="19431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FFFFFF"/>
                </a:solidFill>
                <a:latin typeface="Aptos Display"/>
                <a:ea typeface="Aptos Display"/>
                <a:cs typeface="Aptos Display"/>
              </a:defRPr>
            </a:pPr>
            <a:r>
              <a:rPr sz="2100" b="1" i="0">
                <a:solidFill>
                  <a:srgbClr val="FFFFFF"/>
                </a:solidFill>
                <a:latin typeface="Aptos Display"/>
                <a:ea typeface="Aptos Display"/>
                <a:cs typeface="Aptos Display"/>
              </a:rPr>
              <a:t>Society managers</a:t>
            </a:r>
          </a:p>
        </p:txBody>
      </p:sp>
      <p:sp>
        <p:nvSpPr>
          <p:cNvPr id="11" name="">
            <a:extLst xmlns:a="http://schemas.openxmlformats.org/drawingml/2006/main">
              <a:ext uri="{FF2B5EF4-FFF2-40B4-BE49-F238E27FC236}">
                <a16:creationId xmlns:a16="http://schemas.microsoft.com/office/drawing/2014/main" id="{33A092F5-3092-4B57-A6D6-DCA3CA11D89E}"/>
              </a:ext>
            </a:extLst>
          </p:cNvPr>
          <p:cNvSpPr>
            <a:spLocks xmlns:a="http://schemas.openxmlformats.org/drawingml/2006/main" noGrp="1"/>
          </p:cNvSpPr>
          <p:nvPr/>
        </p:nvSpPr>
        <p:spPr>
          <a:xfrm xmlns:a="http://schemas.openxmlformats.org/drawingml/2006/main">
            <a:off x="6400800" y="2371725"/>
            <a:ext cx="4438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C7D0E1"/>
                </a:solidFill>
                <a:latin typeface="Aptos"/>
                <a:ea typeface="Aptos"/>
                <a:cs typeface="Aptos"/>
              </a:defRPr>
            </a:pPr>
            <a:r>
              <a:rPr sz="1500" b="0" i="0">
                <a:solidFill>
                  <a:srgbClr val="C7D0E1"/>
                </a:solidFill>
                <a:latin typeface="Aptos"/>
                <a:ea typeface="Aptos"/>
                <a:cs typeface="Aptos"/>
              </a:rPr>
              <a:t>A single operating view for community life.</a:t>
            </a:r>
          </a:p>
        </p:txBody>
      </p:sp>
      <p:sp>
        <p:nvSpPr>
          <p:cNvPr id="12" name="">
            <a:extLst xmlns:a="http://schemas.openxmlformats.org/drawingml/2006/main">
              <a:ext uri="{FF2B5EF4-FFF2-40B4-BE49-F238E27FC236}">
                <a16:creationId xmlns:a16="http://schemas.microsoft.com/office/drawing/2014/main" id="{AC0AA87C-38ED-43BF-9D12-7693C32323CE}"/>
              </a:ext>
            </a:extLst>
          </p:cNvPr>
          <p:cNvSpPr>
            <a:spLocks xmlns:a="http://schemas.openxmlformats.org/drawingml/2006/main" noGrp="1"/>
          </p:cNvSpPr>
          <p:nvPr/>
        </p:nvSpPr>
        <p:spPr>
          <a:xfrm xmlns:a="http://schemas.openxmlformats.org/drawingml/2006/main">
            <a:off x="6400800" y="2971800"/>
            <a:ext cx="4438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E6BFF"/>
                </a:solidFill>
                <a:latin typeface="Aptos Display"/>
                <a:ea typeface="Aptos Display"/>
                <a:cs typeface="Aptos Display"/>
              </a:defRPr>
            </a:pPr>
            <a:r>
              <a:rPr sz="1125" b="1" i="0">
                <a:solidFill>
                  <a:srgbClr val="2E6BFF"/>
                </a:solidFill>
                <a:latin typeface="Aptos Display"/>
                <a:ea typeface="Aptos Display"/>
                <a:cs typeface="Aptos Display"/>
              </a:rPr>
              <a:t>Targeted notices  •  Resident approvals  •  Participation signals</a:t>
            </a:r>
          </a:p>
        </p:txBody>
      </p:sp>
      <p:sp>
        <p:nvSpPr>
          <p:cNvPr id="13" name="">
            <a:extLst xmlns:a="http://schemas.openxmlformats.org/drawingml/2006/main">
              <a:ext uri="{FF2B5EF4-FFF2-40B4-BE49-F238E27FC236}">
                <a16:creationId xmlns:a16="http://schemas.microsoft.com/office/drawing/2014/main" id="{4513F836-E4D8-4192-B63A-432107086BE7}"/>
              </a:ext>
            </a:extLst>
          </p:cNvPr>
          <p:cNvSpPr>
            <a:spLocks xmlns:a="http://schemas.openxmlformats.org/drawingml/2006/main" noGrp="1"/>
          </p:cNvSpPr>
          <p:nvPr/>
        </p:nvSpPr>
        <p:spPr>
          <a:xfrm xmlns:a="http://schemas.openxmlformats.org/drawingml/2006/main">
            <a:off x="685800" y="3790950"/>
            <a:ext cx="5143500" cy="1790700"/>
          </a:xfrm>
          <a:prstGeom xmlns:a="http://schemas.openxmlformats.org/drawingml/2006/main" prst="roundRect">
            <a:avLst>
              <a:gd name="adj" fmla="val 11702"/>
            </a:avLst>
          </a:prstGeom>
          <a:solidFill xmlns:a="http://schemas.openxmlformats.org/drawingml/2006/main">
            <a:srgbClr val="FFFFFF"/>
          </a:solidFill>
          <a:ln xmlns:a="http://schemas.openxmlformats.org/drawingml/2006/main" w="9525">
            <a:solidFill>
              <a:srgbClr val="D8D2C8"/>
            </a:solidFill>
            <a:prstDash val="solid"/>
          </a:ln>
        </p:spPr>
      </p:sp>
      <p:sp>
        <p:nvSpPr>
          <p:cNvPr id="14" name="">
            <a:extLst xmlns:a="http://schemas.openxmlformats.org/drawingml/2006/main">
              <a:ext uri="{FF2B5EF4-FFF2-40B4-BE49-F238E27FC236}">
                <a16:creationId xmlns:a16="http://schemas.microsoft.com/office/drawing/2014/main" id="{67003BE9-CFF8-4D98-AE1F-60F576DE9D6B}"/>
              </a:ext>
            </a:extLst>
          </p:cNvPr>
          <p:cNvSpPr>
            <a:spLocks xmlns:a="http://schemas.openxmlformats.org/drawingml/2006/main" noGrp="1"/>
          </p:cNvSpPr>
          <p:nvPr/>
        </p:nvSpPr>
        <p:spPr>
          <a:xfrm xmlns:a="http://schemas.openxmlformats.org/drawingml/2006/main">
            <a:off x="685800" y="3790950"/>
            <a:ext cx="95250" cy="1790700"/>
          </a:xfrm>
          <a:prstGeom xmlns:a="http://schemas.openxmlformats.org/drawingml/2006/main" prst="roundRect">
            <a:avLst>
              <a:gd name="adj" fmla="val 50000"/>
            </a:avLst>
          </a:prstGeom>
          <a:solidFill xmlns:a="http://schemas.openxmlformats.org/drawingml/2006/main">
            <a:srgbClr val="D6B77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7B8FE74-B63A-4448-88DE-5BA49A04F136}"/>
              </a:ext>
            </a:extLst>
          </p:cNvPr>
          <p:cNvSpPr>
            <a:spLocks xmlns:a="http://schemas.openxmlformats.org/drawingml/2006/main" noGrp="1"/>
          </p:cNvSpPr>
          <p:nvPr/>
        </p:nvSpPr>
        <p:spPr>
          <a:xfrm xmlns:a="http://schemas.openxmlformats.org/drawingml/2006/main">
            <a:off x="990600" y="40005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Local businesses</a:t>
            </a:r>
          </a:p>
        </p:txBody>
      </p:sp>
      <p:sp>
        <p:nvSpPr>
          <p:cNvPr id="16" name="">
            <a:extLst xmlns:a="http://schemas.openxmlformats.org/drawingml/2006/main">
              <a:ext uri="{FF2B5EF4-FFF2-40B4-BE49-F238E27FC236}">
                <a16:creationId xmlns:a16="http://schemas.microsoft.com/office/drawing/2014/main" id="{204092F3-F158-4564-A925-93D8ADA4A709}"/>
              </a:ext>
            </a:extLst>
          </p:cNvPr>
          <p:cNvSpPr>
            <a:spLocks xmlns:a="http://schemas.openxmlformats.org/drawingml/2006/main" noGrp="1"/>
          </p:cNvSpPr>
          <p:nvPr/>
        </p:nvSpPr>
        <p:spPr>
          <a:xfrm xmlns:a="http://schemas.openxmlformats.org/drawingml/2006/main">
            <a:off x="990600" y="4429125"/>
            <a:ext cx="4438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B6474"/>
                </a:solidFill>
                <a:latin typeface="Aptos"/>
                <a:ea typeface="Aptos"/>
                <a:cs typeface="Aptos"/>
              </a:defRPr>
            </a:pPr>
            <a:r>
              <a:rPr sz="1500" b="0" i="0">
                <a:solidFill>
                  <a:srgbClr val="5B6474"/>
                </a:solidFill>
                <a:latin typeface="Aptos"/>
                <a:ea typeface="Aptos"/>
                <a:cs typeface="Aptos"/>
              </a:rPr>
              <a:t>Discovery inside a trusted local market.</a:t>
            </a:r>
          </a:p>
        </p:txBody>
      </p:sp>
      <p:sp>
        <p:nvSpPr>
          <p:cNvPr id="17" name="">
            <a:extLst xmlns:a="http://schemas.openxmlformats.org/drawingml/2006/main">
              <a:ext uri="{FF2B5EF4-FFF2-40B4-BE49-F238E27FC236}">
                <a16:creationId xmlns:a16="http://schemas.microsoft.com/office/drawing/2014/main" id="{CFC3F36A-A360-47C1-BB41-03CA7AE4D4E4}"/>
              </a:ext>
            </a:extLst>
          </p:cNvPr>
          <p:cNvSpPr>
            <a:spLocks xmlns:a="http://schemas.openxmlformats.org/drawingml/2006/main" noGrp="1"/>
          </p:cNvSpPr>
          <p:nvPr/>
        </p:nvSpPr>
        <p:spPr>
          <a:xfrm xmlns:a="http://schemas.openxmlformats.org/drawingml/2006/main">
            <a:off x="990600" y="5029200"/>
            <a:ext cx="4438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017"/>
          </a:bodyPr>
          <a:lstStyle xmlns:a="http://schemas.openxmlformats.org/drawingml/2006/main"/>
          <a:p xmlns:a="http://schemas.openxmlformats.org/drawingml/2006/main">
            <a:pPr algn="l">
              <a:defRPr sz="1125" b="1" i="0">
                <a:solidFill>
                  <a:srgbClr val="D6B77A"/>
                </a:solidFill>
                <a:latin typeface="Aptos Display"/>
                <a:ea typeface="Aptos Display"/>
                <a:cs typeface="Aptos Display"/>
              </a:defRPr>
            </a:pPr>
            <a:r>
              <a:rPr sz="1125" b="1" i="0">
                <a:solidFill>
                  <a:srgbClr val="D6B77A"/>
                </a:solidFill>
                <a:latin typeface="Aptos Display"/>
                <a:ea typeface="Aptos Display"/>
                <a:cs typeface="Aptos Display"/>
              </a:rPr>
              <a:t>Verified audience  •  Shorter response loops  •  Repeat neighborhood demand</a:t>
            </a:r>
          </a:p>
        </p:txBody>
      </p:sp>
      <p:sp>
        <p:nvSpPr>
          <p:cNvPr id="18" name="">
            <a:extLst xmlns:a="http://schemas.openxmlformats.org/drawingml/2006/main">
              <a:ext uri="{FF2B5EF4-FFF2-40B4-BE49-F238E27FC236}">
                <a16:creationId xmlns:a16="http://schemas.microsoft.com/office/drawing/2014/main" id="{E7D0A8C9-6549-4B6E-BC05-E54BBCF3652A}"/>
              </a:ext>
            </a:extLst>
          </p:cNvPr>
          <p:cNvSpPr>
            <a:spLocks xmlns:a="http://schemas.openxmlformats.org/drawingml/2006/main" noGrp="1"/>
          </p:cNvSpPr>
          <p:nvPr/>
        </p:nvSpPr>
        <p:spPr>
          <a:xfrm xmlns:a="http://schemas.openxmlformats.org/drawingml/2006/main">
            <a:off x="6096000" y="3790950"/>
            <a:ext cx="5143500" cy="1790700"/>
          </a:xfrm>
          <a:prstGeom xmlns:a="http://schemas.openxmlformats.org/drawingml/2006/main" prst="roundRect">
            <a:avLst>
              <a:gd name="adj" fmla="val 11702"/>
            </a:avLst>
          </a:prstGeom>
          <a:solidFill xmlns:a="http://schemas.openxmlformats.org/drawingml/2006/main">
            <a:srgbClr val="FFFFFF"/>
          </a:solidFill>
          <a:ln xmlns:a="http://schemas.openxmlformats.org/drawingml/2006/main" w="9525">
            <a:solidFill>
              <a:srgbClr val="D8D2C8"/>
            </a:solidFill>
            <a:prstDash val="solid"/>
          </a:ln>
        </p:spPr>
      </p:sp>
      <p:sp>
        <p:nvSpPr>
          <p:cNvPr id="19" name="">
            <a:extLst xmlns:a="http://schemas.openxmlformats.org/drawingml/2006/main">
              <a:ext uri="{FF2B5EF4-FFF2-40B4-BE49-F238E27FC236}">
                <a16:creationId xmlns:a16="http://schemas.microsoft.com/office/drawing/2014/main" id="{849FCA91-7993-46F3-839E-1129E39CE429}"/>
              </a:ext>
            </a:extLst>
          </p:cNvPr>
          <p:cNvSpPr>
            <a:spLocks xmlns:a="http://schemas.openxmlformats.org/drawingml/2006/main" noGrp="1"/>
          </p:cNvSpPr>
          <p:nvPr/>
        </p:nvSpPr>
        <p:spPr>
          <a:xfrm xmlns:a="http://schemas.openxmlformats.org/drawingml/2006/main">
            <a:off x="6096000" y="3790950"/>
            <a:ext cx="95250" cy="1790700"/>
          </a:xfrm>
          <a:prstGeom xmlns:a="http://schemas.openxmlformats.org/drawingml/2006/main" prst="roundRect">
            <a:avLst>
              <a:gd name="adj" fmla="val 50000"/>
            </a:avLst>
          </a:prstGeom>
          <a:solidFill xmlns:a="http://schemas.openxmlformats.org/drawingml/2006/main">
            <a:srgbClr val="5BBDE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BB6688B-5C98-4853-9538-E3E09564D559}"/>
              </a:ext>
            </a:extLst>
          </p:cNvPr>
          <p:cNvSpPr>
            <a:spLocks xmlns:a="http://schemas.openxmlformats.org/drawingml/2006/main" noGrp="1"/>
          </p:cNvSpPr>
          <p:nvPr/>
        </p:nvSpPr>
        <p:spPr>
          <a:xfrm xmlns:a="http://schemas.openxmlformats.org/drawingml/2006/main">
            <a:off x="6400800" y="40005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Strategic partners</a:t>
            </a:r>
          </a:p>
        </p:txBody>
      </p:sp>
      <p:sp>
        <p:nvSpPr>
          <p:cNvPr id="21" name="">
            <a:extLst xmlns:a="http://schemas.openxmlformats.org/drawingml/2006/main">
              <a:ext uri="{FF2B5EF4-FFF2-40B4-BE49-F238E27FC236}">
                <a16:creationId xmlns:a16="http://schemas.microsoft.com/office/drawing/2014/main" id="{30E47B45-0F52-40AF-978C-64C0DCE923E8}"/>
              </a:ext>
            </a:extLst>
          </p:cNvPr>
          <p:cNvSpPr>
            <a:spLocks xmlns:a="http://schemas.openxmlformats.org/drawingml/2006/main" noGrp="1"/>
          </p:cNvSpPr>
          <p:nvPr/>
        </p:nvSpPr>
        <p:spPr>
          <a:xfrm xmlns:a="http://schemas.openxmlformats.org/drawingml/2006/main">
            <a:off x="6400800" y="4429125"/>
            <a:ext cx="4438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B6474"/>
                </a:solidFill>
                <a:latin typeface="Aptos"/>
                <a:ea typeface="Aptos"/>
                <a:cs typeface="Aptos"/>
              </a:defRPr>
            </a:pPr>
            <a:r>
              <a:rPr sz="1500" b="0" i="0">
                <a:solidFill>
                  <a:srgbClr val="5B6474"/>
                </a:solidFill>
                <a:latin typeface="Aptos"/>
                <a:ea typeface="Aptos"/>
                <a:cs typeface="Aptos"/>
              </a:rPr>
              <a:t>A consent-based path into local services.</a:t>
            </a:r>
          </a:p>
        </p:txBody>
      </p:sp>
      <p:sp>
        <p:nvSpPr>
          <p:cNvPr id="22" name="">
            <a:extLst xmlns:a="http://schemas.openxmlformats.org/drawingml/2006/main">
              <a:ext uri="{FF2B5EF4-FFF2-40B4-BE49-F238E27FC236}">
                <a16:creationId xmlns:a16="http://schemas.microsoft.com/office/drawing/2014/main" id="{7BE2B1BF-1F8D-41B6-858E-4CA4F442EA59}"/>
              </a:ext>
            </a:extLst>
          </p:cNvPr>
          <p:cNvSpPr>
            <a:spLocks xmlns:a="http://schemas.openxmlformats.org/drawingml/2006/main" noGrp="1"/>
          </p:cNvSpPr>
          <p:nvPr/>
        </p:nvSpPr>
        <p:spPr>
          <a:xfrm xmlns:a="http://schemas.openxmlformats.org/drawingml/2006/main">
            <a:off x="6400800" y="5029200"/>
            <a:ext cx="44386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BBDE1"/>
                </a:solidFill>
                <a:latin typeface="Aptos Display"/>
                <a:ea typeface="Aptos Display"/>
                <a:cs typeface="Aptos Display"/>
              </a:defRPr>
            </a:pPr>
            <a:r>
              <a:rPr sz="1125" b="1" i="0">
                <a:solidFill>
                  <a:srgbClr val="5BBDE1"/>
                </a:solidFill>
                <a:latin typeface="Aptos Display"/>
                <a:ea typeface="Aptos Display"/>
                <a:cs typeface="Aptos Display"/>
              </a:rPr>
              <a:t>Safety integrations  •  Service partnerships  •  City-cluster reach</a:t>
            </a:r>
          </a:p>
        </p:txBody>
      </p:sp>
      <p:sp>
        <p:nvSpPr>
          <p:cNvPr id="23" name="">
            <a:extLst xmlns:a="http://schemas.openxmlformats.org/drawingml/2006/main">
              <a:ext uri="{FF2B5EF4-FFF2-40B4-BE49-F238E27FC236}">
                <a16:creationId xmlns:a16="http://schemas.microsoft.com/office/drawing/2014/main" id="{715B8C32-746E-4898-8245-2067E50BA103}"/>
              </a:ext>
            </a:extLst>
          </p:cNvPr>
          <p:cNvSpPr>
            <a:spLocks xmlns:a="http://schemas.openxmlformats.org/drawingml/2006/main" noGrp="1"/>
          </p:cNvSpPr>
          <p:nvPr/>
        </p:nvSpPr>
        <p:spPr>
          <a:xfrm xmlns:a="http://schemas.openxmlformats.org/drawingml/2006/main">
            <a:off x="2705100" y="5867400"/>
            <a:ext cx="6781800" cy="323850"/>
          </a:xfrm>
          <a:prstGeom xmlns:a="http://schemas.openxmlformats.org/drawingml/2006/main" prst="roundRect">
            <a:avLst>
              <a:gd name="adj" fmla="val 50000"/>
            </a:avLst>
          </a:prstGeom>
          <a:solidFill xmlns:a="http://schemas.openxmlformats.org/drawingml/2006/main">
            <a:srgbClr val="121A2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3927C07-DB41-47D0-9430-553642968A36}"/>
              </a:ext>
            </a:extLst>
          </p:cNvPr>
          <p:cNvSpPr>
            <a:spLocks xmlns:a="http://schemas.openxmlformats.org/drawingml/2006/main" noGrp="1"/>
          </p:cNvSpPr>
          <p:nvPr/>
        </p:nvSpPr>
        <p:spPr>
          <a:xfrm xmlns:a="http://schemas.openxmlformats.org/drawingml/2006/main">
            <a:off x="2819400" y="5905500"/>
            <a:ext cx="6553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i="0">
                <a:solidFill>
                  <a:srgbClr val="FFFFFF"/>
                </a:solidFill>
                <a:latin typeface="Aptos Display"/>
                <a:ea typeface="Aptos Display"/>
                <a:cs typeface="Aptos Display"/>
              </a:defRPr>
            </a:pPr>
            <a:r>
              <a:rPr sz="975" b="1" i="0">
                <a:solidFill>
                  <a:srgbClr val="FFFFFF"/>
                </a:solidFill>
                <a:latin typeface="Aptos Display"/>
                <a:ea typeface="Aptos Display"/>
                <a:cs typeface="Aptos Display"/>
              </a:rPr>
              <a:t>BETTER COORDINATION BECOMES BETTER COMMUNITY EXPERIENCE</a:t>
            </a:r>
          </a:p>
        </p:txBody>
      </p:sp>
      <p:sp>
        <p:nvSpPr>
          <p:cNvPr id="25" name="">
            <a:extLst xmlns:a="http://schemas.openxmlformats.org/drawingml/2006/main">
              <a:ext uri="{FF2B5EF4-FFF2-40B4-BE49-F238E27FC236}">
                <a16:creationId xmlns:a16="http://schemas.microsoft.com/office/drawing/2014/main" id="{E8AEF14C-46CA-4261-878C-8FDB22021F01}"/>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Benefit model based on current product capabilities and proposed ecosystem expansion.</a:t>
            </a:r>
          </a:p>
        </p:txBody>
      </p:sp>
      <p:sp>
        <p:nvSpPr>
          <p:cNvPr id="26" name="">
            <a:extLst xmlns:a="http://schemas.openxmlformats.org/drawingml/2006/main">
              <a:ext uri="{FF2B5EF4-FFF2-40B4-BE49-F238E27FC236}">
                <a16:creationId xmlns:a16="http://schemas.microsoft.com/office/drawing/2014/main" id="{4E0AE04E-F381-4E4E-AC37-448E847CDD2E}"/>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11</a:t>
            </a:r>
          </a:p>
        </p:txBody>
      </p:sp>
    </p:spTree>
    <p:extLst>
      <p:ext uri="{BB962C8B-B14F-4D97-AF65-F5344CB8AC3E}">
        <p14:creationId xmlns:p14="http://schemas.microsoft.com/office/powerpoint/2010/main" val="1898762903"/>
      </p:ext>
    </p:extLst>
  </p:cSld>
  <p:transition spd="fast" advClick="1">
    <p:fade/>
  </p:transition>
</p:sld>
</file>

<file path=ppt/slides/slide12.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36FAA86-81CE-4446-BD7A-255C10EBE684}"/>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COMPETITIVE LANDSCAPE</a:t>
            </a:r>
          </a:p>
        </p:txBody>
      </p:sp>
      <p:sp>
        <p:nvSpPr>
          <p:cNvPr id="2" name="">
            <a:extLst xmlns:a="http://schemas.openxmlformats.org/drawingml/2006/main">
              <a:ext uri="{FF2B5EF4-FFF2-40B4-BE49-F238E27FC236}">
                <a16:creationId xmlns:a16="http://schemas.microsoft.com/office/drawing/2014/main" id="{23C6CF60-7773-44B6-8151-F5EDA7384073}"/>
              </a:ext>
            </a:extLst>
          </p:cNvPr>
          <p:cNvSpPr>
            <a:spLocks xmlns:a="http://schemas.openxmlformats.org/drawingml/2006/main" noGrp="1"/>
          </p:cNvSpPr>
          <p:nvPr/>
        </p:nvSpPr>
        <p:spPr>
          <a:xfrm xmlns:a="http://schemas.openxmlformats.org/drawingml/2006/main">
            <a:off x="685800" y="74295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431"/>
          </a:bodyPr>
          <a:lstStyle xmlns:a="http://schemas.openxmlformats.org/drawingml/2006/main"/>
          <a:p xmlns:a="http://schemas.openxmlformats.org/drawingml/2006/main">
            <a:pPr algn="l">
              <a:defRPr sz="3525" b="1" i="0">
                <a:solidFill>
                  <a:srgbClr val="182033"/>
                </a:solidFill>
                <a:latin typeface="Aptos Display"/>
                <a:ea typeface="Aptos Display"/>
                <a:cs typeface="Aptos Display"/>
              </a:defRPr>
            </a:pPr>
            <a:r>
              <a:rPr sz="3525" b="1" i="0">
                <a:solidFill>
                  <a:srgbClr val="182033"/>
                </a:solidFill>
                <a:latin typeface="Aptos Display"/>
                <a:ea typeface="Aptos Display"/>
                <a:cs typeface="Aptos Display"/>
              </a:rPr>
              <a:t>The wedge is verified resident utility—not generic admin software.</a:t>
            </a:r>
          </a:p>
        </p:txBody>
      </p:sp>
      <p:sp>
        <p:nvSpPr>
          <p:cNvPr id="3" name="">
            <a:extLst xmlns:a="http://schemas.openxmlformats.org/drawingml/2006/main">
              <a:ext uri="{FF2B5EF4-FFF2-40B4-BE49-F238E27FC236}">
                <a16:creationId xmlns:a16="http://schemas.microsoft.com/office/drawing/2014/main" id="{6449B786-2007-4954-86BE-1F65F593FF44}"/>
              </a:ext>
            </a:extLst>
          </p:cNvPr>
          <p:cNvSpPr>
            <a:spLocks xmlns:a="http://schemas.openxmlformats.org/drawingml/2006/main" noGrp="1"/>
          </p:cNvSpPr>
          <p:nvPr/>
        </p:nvSpPr>
        <p:spPr>
          <a:xfrm xmlns:a="http://schemas.openxmlformats.org/drawingml/2006/main">
            <a:off x="990600" y="5381625"/>
            <a:ext cx="6477000" cy="0"/>
          </a:xfrm>
          <a:prstGeom xmlns:a="http://schemas.openxmlformats.org/drawingml/2006/main" prst="line">
            <a:avLst/>
          </a:prstGeom>
          <a:noFill xmlns:a="http://schemas.openxmlformats.org/drawingml/2006/main"/>
          <a:ln xmlns:a="http://schemas.openxmlformats.org/drawingml/2006/main" w="19050">
            <a:solidFill>
              <a:srgbClr val="182033"/>
            </a:solidFill>
            <a:prstDash val="solid"/>
          </a:ln>
        </p:spPr>
      </p:sp>
      <p:sp>
        <p:nvSpPr>
          <p:cNvPr id="4" name="">
            <a:extLst xmlns:a="http://schemas.openxmlformats.org/drawingml/2006/main">
              <a:ext uri="{FF2B5EF4-FFF2-40B4-BE49-F238E27FC236}">
                <a16:creationId xmlns:a16="http://schemas.microsoft.com/office/drawing/2014/main" id="{70822985-CA09-45B9-98E9-66F386CFAC52}"/>
              </a:ext>
            </a:extLst>
          </p:cNvPr>
          <p:cNvSpPr>
            <a:spLocks xmlns:a="http://schemas.openxmlformats.org/drawingml/2006/main" noGrp="1"/>
          </p:cNvSpPr>
          <p:nvPr/>
        </p:nvSpPr>
        <p:spPr>
          <a:xfrm xmlns:a="http://schemas.openxmlformats.org/drawingml/2006/main">
            <a:off x="990600" y="2009775"/>
            <a:ext cx="0" cy="3371850"/>
          </a:xfrm>
          <a:prstGeom xmlns:a="http://schemas.openxmlformats.org/drawingml/2006/main" prst="line">
            <a:avLst/>
          </a:prstGeom>
          <a:noFill xmlns:a="http://schemas.openxmlformats.org/drawingml/2006/main"/>
          <a:ln xmlns:a="http://schemas.openxmlformats.org/drawingml/2006/main" w="19050">
            <a:solidFill>
              <a:srgbClr val="182033"/>
            </a:solidFill>
            <a:prstDash val="solid"/>
          </a:ln>
        </p:spPr>
      </p:sp>
      <p:sp>
        <p:nvSpPr>
          <p:cNvPr id="5" name="">
            <a:extLst xmlns:a="http://schemas.openxmlformats.org/drawingml/2006/main">
              <a:ext uri="{FF2B5EF4-FFF2-40B4-BE49-F238E27FC236}">
                <a16:creationId xmlns:a16="http://schemas.microsoft.com/office/drawing/2014/main" id="{DBF3B41D-1EF1-4200-A7BD-567A1492B716}"/>
              </a:ext>
            </a:extLst>
          </p:cNvPr>
          <p:cNvSpPr>
            <a:spLocks xmlns:a="http://schemas.openxmlformats.org/drawingml/2006/main" noGrp="1"/>
          </p:cNvSpPr>
          <p:nvPr/>
        </p:nvSpPr>
        <p:spPr>
          <a:xfrm xmlns:a="http://schemas.openxmlformats.org/drawingml/2006/main">
            <a:off x="4229100" y="2009775"/>
            <a:ext cx="0" cy="3371850"/>
          </a:xfrm>
          <a:prstGeom xmlns:a="http://schemas.openxmlformats.org/drawingml/2006/main" prst="line">
            <a:avLst/>
          </a:prstGeom>
          <a:noFill xmlns:a="http://schemas.openxmlformats.org/drawingml/2006/main"/>
          <a:ln xmlns:a="http://schemas.openxmlformats.org/drawingml/2006/main" w="9525">
            <a:solidFill>
              <a:srgbClr val="D8D2C8"/>
            </a:solidFill>
            <a:prstDash val="solid"/>
          </a:ln>
        </p:spPr>
      </p:sp>
      <p:sp>
        <p:nvSpPr>
          <p:cNvPr id="6" name="">
            <a:extLst xmlns:a="http://schemas.openxmlformats.org/drawingml/2006/main">
              <a:ext uri="{FF2B5EF4-FFF2-40B4-BE49-F238E27FC236}">
                <a16:creationId xmlns:a16="http://schemas.microsoft.com/office/drawing/2014/main" id="{1901E407-9B37-441F-A34A-55AFE9ED6BC9}"/>
              </a:ext>
            </a:extLst>
          </p:cNvPr>
          <p:cNvSpPr>
            <a:spLocks xmlns:a="http://schemas.openxmlformats.org/drawingml/2006/main" noGrp="1"/>
          </p:cNvSpPr>
          <p:nvPr/>
        </p:nvSpPr>
        <p:spPr>
          <a:xfrm xmlns:a="http://schemas.openxmlformats.org/drawingml/2006/main">
            <a:off x="990600" y="3695700"/>
            <a:ext cx="6477000" cy="0"/>
          </a:xfrm>
          <a:prstGeom xmlns:a="http://schemas.openxmlformats.org/drawingml/2006/main" prst="line">
            <a:avLst/>
          </a:prstGeom>
          <a:noFill xmlns:a="http://schemas.openxmlformats.org/drawingml/2006/main"/>
          <a:ln xmlns:a="http://schemas.openxmlformats.org/drawingml/2006/main" w="9525">
            <a:solidFill>
              <a:srgbClr val="D8D2C8"/>
            </a:solidFill>
            <a:prstDash val="solid"/>
          </a:ln>
        </p:spPr>
      </p:sp>
      <p:sp>
        <p:nvSpPr>
          <p:cNvPr id="7" name="">
            <a:extLst xmlns:a="http://schemas.openxmlformats.org/drawingml/2006/main">
              <a:ext uri="{FF2B5EF4-FFF2-40B4-BE49-F238E27FC236}">
                <a16:creationId xmlns:a16="http://schemas.microsoft.com/office/drawing/2014/main" id="{047C4E5A-649F-4F7E-B880-495420E7838A}"/>
              </a:ext>
            </a:extLst>
          </p:cNvPr>
          <p:cNvSpPr>
            <a:spLocks xmlns:a="http://schemas.openxmlformats.org/drawingml/2006/main" noGrp="1"/>
          </p:cNvSpPr>
          <p:nvPr/>
        </p:nvSpPr>
        <p:spPr>
          <a:xfrm xmlns:a="http://schemas.openxmlformats.org/drawingml/2006/main">
            <a:off x="914400" y="55911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B6474"/>
                </a:solidFill>
                <a:latin typeface="Aptos Display"/>
                <a:ea typeface="Aptos Display"/>
                <a:cs typeface="Aptos Display"/>
              </a:defRPr>
            </a:pPr>
            <a:r>
              <a:rPr sz="900" b="1" i="0">
                <a:solidFill>
                  <a:srgbClr val="5B6474"/>
                </a:solidFill>
                <a:latin typeface="Aptos Display"/>
                <a:ea typeface="Aptos Display"/>
                <a:cs typeface="Aptos Display"/>
              </a:rPr>
              <a:t>LOW</a:t>
            </a:r>
          </a:p>
        </p:txBody>
      </p:sp>
      <p:sp>
        <p:nvSpPr>
          <p:cNvPr id="8" name="">
            <a:extLst xmlns:a="http://schemas.openxmlformats.org/drawingml/2006/main">
              <a:ext uri="{FF2B5EF4-FFF2-40B4-BE49-F238E27FC236}">
                <a16:creationId xmlns:a16="http://schemas.microsoft.com/office/drawing/2014/main" id="{B77E3098-3451-4C37-939E-0EC57E3B13C6}"/>
              </a:ext>
            </a:extLst>
          </p:cNvPr>
          <p:cNvSpPr>
            <a:spLocks xmlns:a="http://schemas.openxmlformats.org/drawingml/2006/main" noGrp="1"/>
          </p:cNvSpPr>
          <p:nvPr/>
        </p:nvSpPr>
        <p:spPr>
          <a:xfrm xmlns:a="http://schemas.openxmlformats.org/drawingml/2006/main">
            <a:off x="5467350" y="5591175"/>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5B6474"/>
                </a:solidFill>
                <a:latin typeface="Aptos Display"/>
                <a:ea typeface="Aptos Display"/>
                <a:cs typeface="Aptos Display"/>
              </a:defRPr>
            </a:pPr>
            <a:r>
              <a:rPr sz="900" b="1" i="0">
                <a:solidFill>
                  <a:srgbClr val="5B6474"/>
                </a:solidFill>
                <a:latin typeface="Aptos Display"/>
                <a:ea typeface="Aptos Display"/>
                <a:cs typeface="Aptos Display"/>
              </a:rPr>
              <a:t>HIGH RESIDENT UTILITY →</a:t>
            </a:r>
          </a:p>
        </p:txBody>
      </p:sp>
      <p:sp>
        <p:nvSpPr>
          <p:cNvPr id="9" name="">
            <a:extLst xmlns:a="http://schemas.openxmlformats.org/drawingml/2006/main">
              <a:ext uri="{FF2B5EF4-FFF2-40B4-BE49-F238E27FC236}">
                <a16:creationId xmlns:a16="http://schemas.microsoft.com/office/drawing/2014/main" id="{35EC78EE-8D0F-40ED-867C-607164B45058}"/>
              </a:ext>
            </a:extLst>
          </p:cNvPr>
          <p:cNvSpPr>
            <a:spLocks xmlns:a="http://schemas.openxmlformats.org/drawingml/2006/main" noGrp="1"/>
          </p:cNvSpPr>
          <p:nvPr/>
        </p:nvSpPr>
        <p:spPr>
          <a:xfrm xmlns:a="http://schemas.openxmlformats.org/drawingml/2006/main">
            <a:off x="314325"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B6474"/>
                </a:solidFill>
                <a:latin typeface="Aptos Display"/>
                <a:ea typeface="Aptos Display"/>
                <a:cs typeface="Aptos Display"/>
              </a:defRPr>
            </a:pPr>
            <a:r>
              <a:rPr sz="900" b="1" i="0">
                <a:solidFill>
                  <a:srgbClr val="5B6474"/>
                </a:solidFill>
                <a:latin typeface="Aptos Display"/>
                <a:ea typeface="Aptos Display"/>
                <a:cs typeface="Aptos Display"/>
              </a:rPr>
              <a:t>VERIFIED LOCAL NETWORK →</a:t>
            </a:r>
          </a:p>
        </p:txBody>
      </p:sp>
      <p:sp>
        <p:nvSpPr>
          <p:cNvPr id="10" name="">
            <a:extLst xmlns:a="http://schemas.openxmlformats.org/drawingml/2006/main">
              <a:ext uri="{FF2B5EF4-FFF2-40B4-BE49-F238E27FC236}">
                <a16:creationId xmlns:a16="http://schemas.microsoft.com/office/drawing/2014/main" id="{B1E0FB4A-54DF-442E-9395-F6E3912676E7}"/>
              </a:ext>
            </a:extLst>
          </p:cNvPr>
          <p:cNvSpPr>
            <a:spLocks xmlns:a="http://schemas.openxmlformats.org/drawingml/2006/main" noGrp="1"/>
          </p:cNvSpPr>
          <p:nvPr/>
        </p:nvSpPr>
        <p:spPr>
          <a:xfrm xmlns:a="http://schemas.openxmlformats.org/drawingml/2006/main">
            <a:off x="2085975" y="4067175"/>
            <a:ext cx="781050" cy="781050"/>
          </a:xfrm>
          <a:prstGeom xmlns:a="http://schemas.openxmlformats.org/drawingml/2006/main" prst="ellipse">
            <a:avLst/>
          </a:prstGeom>
          <a:solidFill xmlns:a="http://schemas.openxmlformats.org/drawingml/2006/main">
            <a:srgbClr val="5B647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EDF5A60-399F-4298-A9CA-ED0B6B00E0C8}"/>
              </a:ext>
            </a:extLst>
          </p:cNvPr>
          <p:cNvSpPr>
            <a:spLocks xmlns:a="http://schemas.openxmlformats.org/drawingml/2006/main" noGrp="1"/>
          </p:cNvSpPr>
          <p:nvPr/>
        </p:nvSpPr>
        <p:spPr>
          <a:xfrm xmlns:a="http://schemas.openxmlformats.org/drawingml/2006/main">
            <a:off x="2143125" y="42672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FFFFFF"/>
                </a:solidFill>
                <a:latin typeface="Aptos Display"/>
                <a:ea typeface="Aptos Display"/>
                <a:cs typeface="Aptos Display"/>
              </a:defRPr>
            </a:pPr>
            <a:r>
              <a:rPr sz="1050" b="1" i="0">
                <a:solidFill>
                  <a:srgbClr val="FFFFFF"/>
                </a:solidFill>
                <a:latin typeface="Aptos Display"/>
                <a:ea typeface="Aptos Display"/>
                <a:cs typeface="Aptos Display"/>
              </a:rPr>
              <a:t>Open social</a:t>
            </a:r>
          </a:p>
          <a:p xmlns:a="http://schemas.openxmlformats.org/drawingml/2006/main">
            <a:pPr algn="ctr">
              <a:defRPr sz="1050" b="1" i="0">
                <a:solidFill>
                  <a:srgbClr val="FFFFFF"/>
                </a:solidFill>
                <a:latin typeface="Aptos Display"/>
                <a:ea typeface="Aptos Display"/>
                <a:cs typeface="Aptos Display"/>
              </a:defRPr>
            </a:pPr>
            <a:r>
              <a:rPr sz="1050" b="1" i="0">
                <a:solidFill>
                  <a:srgbClr val="FFFFFF"/>
                </a:solidFill>
                <a:latin typeface="Aptos Display"/>
                <a:ea typeface="Aptos Display"/>
                <a:cs typeface="Aptos Display"/>
              </a:rPr>
              <a:t>platforms</a:t>
            </a:r>
          </a:p>
        </p:txBody>
      </p:sp>
      <p:sp>
        <p:nvSpPr>
          <p:cNvPr id="12" name="">
            <a:extLst xmlns:a="http://schemas.openxmlformats.org/drawingml/2006/main">
              <a:ext uri="{FF2B5EF4-FFF2-40B4-BE49-F238E27FC236}">
                <a16:creationId xmlns:a16="http://schemas.microsoft.com/office/drawing/2014/main" id="{03E89DD0-3A6C-40C8-B3A0-B96255CB9518}"/>
              </a:ext>
            </a:extLst>
          </p:cNvPr>
          <p:cNvSpPr>
            <a:spLocks xmlns:a="http://schemas.openxmlformats.org/drawingml/2006/main" noGrp="1"/>
          </p:cNvSpPr>
          <p:nvPr/>
        </p:nvSpPr>
        <p:spPr>
          <a:xfrm xmlns:a="http://schemas.openxmlformats.org/drawingml/2006/main">
            <a:off x="4924425" y="3829050"/>
            <a:ext cx="781050" cy="781050"/>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D381723-178B-480D-AC46-3A64F1D7B946}"/>
              </a:ext>
            </a:extLst>
          </p:cNvPr>
          <p:cNvSpPr>
            <a:spLocks xmlns:a="http://schemas.openxmlformats.org/drawingml/2006/main" noGrp="1"/>
          </p:cNvSpPr>
          <p:nvPr/>
        </p:nvSpPr>
        <p:spPr>
          <a:xfrm xmlns:a="http://schemas.openxmlformats.org/drawingml/2006/main">
            <a:off x="4981575" y="4029075"/>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FFFFFF"/>
                </a:solidFill>
                <a:latin typeface="Aptos Display"/>
                <a:ea typeface="Aptos Display"/>
                <a:cs typeface="Aptos Display"/>
              </a:defRPr>
            </a:pPr>
            <a:r>
              <a:rPr sz="1050" b="1" i="0">
                <a:solidFill>
                  <a:srgbClr val="FFFFFF"/>
                </a:solidFill>
                <a:latin typeface="Aptos Display"/>
                <a:ea typeface="Aptos Display"/>
                <a:cs typeface="Aptos Display"/>
              </a:rPr>
              <a:t>Chat groups</a:t>
            </a:r>
          </a:p>
        </p:txBody>
      </p:sp>
      <p:sp>
        <p:nvSpPr>
          <p:cNvPr id="14" name="">
            <a:extLst xmlns:a="http://schemas.openxmlformats.org/drawingml/2006/main">
              <a:ext uri="{FF2B5EF4-FFF2-40B4-BE49-F238E27FC236}">
                <a16:creationId xmlns:a16="http://schemas.microsoft.com/office/drawing/2014/main" id="{AB2C9020-F884-4C4D-9263-D27C04642019}"/>
              </a:ext>
            </a:extLst>
          </p:cNvPr>
          <p:cNvSpPr>
            <a:spLocks xmlns:a="http://schemas.openxmlformats.org/drawingml/2006/main" noGrp="1"/>
          </p:cNvSpPr>
          <p:nvPr/>
        </p:nvSpPr>
        <p:spPr>
          <a:xfrm xmlns:a="http://schemas.openxmlformats.org/drawingml/2006/main">
            <a:off x="2657475" y="2447925"/>
            <a:ext cx="781050" cy="781050"/>
          </a:xfrm>
          <a:prstGeom xmlns:a="http://schemas.openxmlformats.org/drawingml/2006/main" prst="ellipse">
            <a:avLst/>
          </a:prstGeom>
          <a:solidFill xmlns:a="http://schemas.openxmlformats.org/drawingml/2006/main">
            <a:srgbClr val="D6B77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EC2C15A-A729-4B65-8244-AFD806213C92}"/>
              </a:ext>
            </a:extLst>
          </p:cNvPr>
          <p:cNvSpPr>
            <a:spLocks xmlns:a="http://schemas.openxmlformats.org/drawingml/2006/main" noGrp="1"/>
          </p:cNvSpPr>
          <p:nvPr/>
        </p:nvSpPr>
        <p:spPr>
          <a:xfrm xmlns:a="http://schemas.openxmlformats.org/drawingml/2006/main">
            <a:off x="2714625" y="264795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121A2C"/>
                </a:solidFill>
                <a:latin typeface="Aptos Display"/>
                <a:ea typeface="Aptos Display"/>
                <a:cs typeface="Aptos Display"/>
              </a:defRPr>
            </a:pPr>
            <a:r>
              <a:rPr sz="1050" b="1" i="0">
                <a:solidFill>
                  <a:srgbClr val="121A2C"/>
                </a:solidFill>
                <a:latin typeface="Aptos Display"/>
                <a:ea typeface="Aptos Display"/>
                <a:cs typeface="Aptos Display"/>
              </a:rPr>
              <a:t>Admin-only</a:t>
            </a:r>
          </a:p>
          <a:p xmlns:a="http://schemas.openxmlformats.org/drawingml/2006/main">
            <a:pPr algn="ctr">
              <a:defRPr sz="1050" b="1" i="0">
                <a:solidFill>
                  <a:srgbClr val="121A2C"/>
                </a:solidFill>
                <a:latin typeface="Aptos Display"/>
                <a:ea typeface="Aptos Display"/>
                <a:cs typeface="Aptos Display"/>
              </a:defRPr>
            </a:pPr>
            <a:r>
              <a:rPr sz="1050" b="1" i="0">
                <a:solidFill>
                  <a:srgbClr val="121A2C"/>
                </a:solidFill>
                <a:latin typeface="Aptos Display"/>
                <a:ea typeface="Aptos Display"/>
                <a:cs typeface="Aptos Display"/>
              </a:rPr>
              <a:t>software</a:t>
            </a:r>
          </a:p>
        </p:txBody>
      </p:sp>
      <p:sp>
        <p:nvSpPr>
          <p:cNvPr id="16" name="">
            <a:extLst xmlns:a="http://schemas.openxmlformats.org/drawingml/2006/main">
              <a:ext uri="{FF2B5EF4-FFF2-40B4-BE49-F238E27FC236}">
                <a16:creationId xmlns:a16="http://schemas.microsoft.com/office/drawing/2014/main" id="{7CA144CE-3DF0-4CBD-8AD4-4D7988FCEC16}"/>
              </a:ext>
            </a:extLst>
          </p:cNvPr>
          <p:cNvSpPr>
            <a:spLocks xmlns:a="http://schemas.openxmlformats.org/drawingml/2006/main" noGrp="1"/>
          </p:cNvSpPr>
          <p:nvPr/>
        </p:nvSpPr>
        <p:spPr>
          <a:xfrm xmlns:a="http://schemas.openxmlformats.org/drawingml/2006/main">
            <a:off x="5495925" y="1771650"/>
            <a:ext cx="933450" cy="93345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87F0179-E60D-4C4D-BFB0-6902C8DC8F2E}"/>
              </a:ext>
            </a:extLst>
          </p:cNvPr>
          <p:cNvSpPr>
            <a:spLocks xmlns:a="http://schemas.openxmlformats.org/drawingml/2006/main" noGrp="1"/>
          </p:cNvSpPr>
          <p:nvPr/>
        </p:nvSpPr>
        <p:spPr>
          <a:xfrm xmlns:a="http://schemas.openxmlformats.org/drawingml/2006/main">
            <a:off x="5553075" y="2047875"/>
            <a:ext cx="819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MOHALLA</a:t>
            </a:r>
          </a:p>
        </p:txBody>
      </p:sp>
      <p:sp>
        <p:nvSpPr>
          <p:cNvPr id="18" name="">
            <a:extLst xmlns:a="http://schemas.openxmlformats.org/drawingml/2006/main">
              <a:ext uri="{FF2B5EF4-FFF2-40B4-BE49-F238E27FC236}">
                <a16:creationId xmlns:a16="http://schemas.microsoft.com/office/drawing/2014/main" id="{FC531CDA-2297-479D-85AB-83E966CE3F34}"/>
              </a:ext>
            </a:extLst>
          </p:cNvPr>
          <p:cNvSpPr>
            <a:spLocks xmlns:a="http://schemas.openxmlformats.org/drawingml/2006/main" noGrp="1"/>
          </p:cNvSpPr>
          <p:nvPr/>
        </p:nvSpPr>
        <p:spPr>
          <a:xfrm xmlns:a="http://schemas.openxmlformats.org/drawingml/2006/main">
            <a:off x="7981950" y="2009775"/>
            <a:ext cx="3524250" cy="3371850"/>
          </a:xfrm>
          <a:prstGeom xmlns:a="http://schemas.openxmlformats.org/drawingml/2006/main" prst="roundRect">
            <a:avLst>
              <a:gd name="adj" fmla="val 6780"/>
            </a:avLst>
          </a:prstGeom>
          <a:solidFill xmlns:a="http://schemas.openxmlformats.org/drawingml/2006/main">
            <a:srgbClr val="121A2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92E52A6-AB01-4E2E-B262-131A30178D9F}"/>
              </a:ext>
            </a:extLst>
          </p:cNvPr>
          <p:cNvSpPr>
            <a:spLocks xmlns:a="http://schemas.openxmlformats.org/drawingml/2006/main" noGrp="1"/>
          </p:cNvSpPr>
          <p:nvPr/>
        </p:nvSpPr>
        <p:spPr>
          <a:xfrm xmlns:a="http://schemas.openxmlformats.org/drawingml/2006/main">
            <a:off x="8286750" y="23241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FFFFFF"/>
                </a:solidFill>
                <a:latin typeface="Aptos Display"/>
                <a:ea typeface="Aptos Display"/>
                <a:cs typeface="Aptos Display"/>
              </a:defRPr>
            </a:pPr>
            <a:r>
              <a:rPr sz="1800" b="1" i="0">
                <a:solidFill>
                  <a:srgbClr val="FFFFFF"/>
                </a:solidFill>
                <a:latin typeface="Aptos Display"/>
                <a:ea typeface="Aptos Display"/>
                <a:cs typeface="Aptos Display"/>
              </a:rPr>
              <a:t>Mohalla combines</a:t>
            </a:r>
          </a:p>
        </p:txBody>
      </p:sp>
      <p:sp>
        <p:nvSpPr>
          <p:cNvPr id="20" name="">
            <a:extLst xmlns:a="http://schemas.openxmlformats.org/drawingml/2006/main">
              <a:ext uri="{FF2B5EF4-FFF2-40B4-BE49-F238E27FC236}">
                <a16:creationId xmlns:a16="http://schemas.microsoft.com/office/drawing/2014/main" id="{1CF353E6-159A-49A1-ADF3-081658D5152A}"/>
              </a:ext>
            </a:extLst>
          </p:cNvPr>
          <p:cNvSpPr>
            <a:spLocks xmlns:a="http://schemas.openxmlformats.org/drawingml/2006/main" noGrp="1"/>
          </p:cNvSpPr>
          <p:nvPr/>
        </p:nvSpPr>
        <p:spPr>
          <a:xfrm xmlns:a="http://schemas.openxmlformats.org/drawingml/2006/main">
            <a:off x="8286750" y="2905125"/>
            <a:ext cx="457200" cy="2857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A4EAF8E-1C78-4982-B74A-5961EF26B9FC}"/>
              </a:ext>
            </a:extLst>
          </p:cNvPr>
          <p:cNvSpPr>
            <a:spLocks xmlns:a="http://schemas.openxmlformats.org/drawingml/2006/main" noGrp="1"/>
          </p:cNvSpPr>
          <p:nvPr/>
        </p:nvSpPr>
        <p:spPr>
          <a:xfrm xmlns:a="http://schemas.openxmlformats.org/drawingml/2006/main">
            <a:off x="8401050" y="29432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01</a:t>
            </a:r>
          </a:p>
        </p:txBody>
      </p:sp>
      <p:sp>
        <p:nvSpPr>
          <p:cNvPr id="22" name="">
            <a:extLst xmlns:a="http://schemas.openxmlformats.org/drawingml/2006/main">
              <a:ext uri="{FF2B5EF4-FFF2-40B4-BE49-F238E27FC236}">
                <a16:creationId xmlns:a16="http://schemas.microsoft.com/office/drawing/2014/main" id="{3F598C72-1F32-4994-A86A-C3CA566F9C33}"/>
              </a:ext>
            </a:extLst>
          </p:cNvPr>
          <p:cNvSpPr>
            <a:spLocks xmlns:a="http://schemas.openxmlformats.org/drawingml/2006/main" noGrp="1"/>
          </p:cNvSpPr>
          <p:nvPr/>
        </p:nvSpPr>
        <p:spPr>
          <a:xfrm xmlns:a="http://schemas.openxmlformats.org/drawingml/2006/main">
            <a:off x="8896350" y="293370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F5F0E7"/>
                </a:solidFill>
                <a:latin typeface="Aptos"/>
                <a:ea typeface="Aptos"/>
                <a:cs typeface="Aptos"/>
              </a:defRPr>
            </a:pPr>
            <a:r>
              <a:rPr sz="1350" b="0" i="0">
                <a:solidFill>
                  <a:srgbClr val="F5F0E7"/>
                </a:solidFill>
                <a:latin typeface="Aptos"/>
                <a:ea typeface="Aptos"/>
                <a:cs typeface="Aptos"/>
              </a:rPr>
              <a:t>Verified community identity</a:t>
            </a:r>
          </a:p>
        </p:txBody>
      </p:sp>
      <p:sp>
        <p:nvSpPr>
          <p:cNvPr id="23" name="">
            <a:extLst xmlns:a="http://schemas.openxmlformats.org/drawingml/2006/main">
              <a:ext uri="{FF2B5EF4-FFF2-40B4-BE49-F238E27FC236}">
                <a16:creationId xmlns:a16="http://schemas.microsoft.com/office/drawing/2014/main" id="{AE976C4A-A209-4FE3-B02F-EB4EF9F566E4}"/>
              </a:ext>
            </a:extLst>
          </p:cNvPr>
          <p:cNvSpPr>
            <a:spLocks xmlns:a="http://schemas.openxmlformats.org/drawingml/2006/main" noGrp="1"/>
          </p:cNvSpPr>
          <p:nvPr/>
        </p:nvSpPr>
        <p:spPr>
          <a:xfrm xmlns:a="http://schemas.openxmlformats.org/drawingml/2006/main">
            <a:off x="8286750" y="3429000"/>
            <a:ext cx="457200" cy="28575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F0399F8-0668-4A4D-8C31-12AE1042A6EE}"/>
              </a:ext>
            </a:extLst>
          </p:cNvPr>
          <p:cNvSpPr>
            <a:spLocks xmlns:a="http://schemas.openxmlformats.org/drawingml/2006/main" noGrp="1"/>
          </p:cNvSpPr>
          <p:nvPr/>
        </p:nvSpPr>
        <p:spPr>
          <a:xfrm xmlns:a="http://schemas.openxmlformats.org/drawingml/2006/main">
            <a:off x="8401050" y="346710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02</a:t>
            </a:r>
          </a:p>
        </p:txBody>
      </p:sp>
      <p:sp>
        <p:nvSpPr>
          <p:cNvPr id="25" name="">
            <a:extLst xmlns:a="http://schemas.openxmlformats.org/drawingml/2006/main">
              <a:ext uri="{FF2B5EF4-FFF2-40B4-BE49-F238E27FC236}">
                <a16:creationId xmlns:a16="http://schemas.microsoft.com/office/drawing/2014/main" id="{7C46628E-F6F3-4304-BAFB-07A5F3924DDD}"/>
              </a:ext>
            </a:extLst>
          </p:cNvPr>
          <p:cNvSpPr>
            <a:spLocks xmlns:a="http://schemas.openxmlformats.org/drawingml/2006/main" noGrp="1"/>
          </p:cNvSpPr>
          <p:nvPr/>
        </p:nvSpPr>
        <p:spPr>
          <a:xfrm xmlns:a="http://schemas.openxmlformats.org/drawingml/2006/main">
            <a:off x="8896350" y="3457575"/>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F5F0E7"/>
                </a:solidFill>
                <a:latin typeface="Aptos"/>
                <a:ea typeface="Aptos"/>
                <a:cs typeface="Aptos"/>
              </a:defRPr>
            </a:pPr>
            <a:r>
              <a:rPr sz="1350" b="0" i="0">
                <a:solidFill>
                  <a:srgbClr val="F5F0E7"/>
                </a:solidFill>
                <a:latin typeface="Aptos"/>
                <a:ea typeface="Aptos"/>
                <a:cs typeface="Aptos"/>
              </a:rPr>
              <a:t>Daily resident utility</a:t>
            </a:r>
          </a:p>
        </p:txBody>
      </p:sp>
      <p:sp>
        <p:nvSpPr>
          <p:cNvPr id="26" name="">
            <a:extLst xmlns:a="http://schemas.openxmlformats.org/drawingml/2006/main">
              <a:ext uri="{FF2B5EF4-FFF2-40B4-BE49-F238E27FC236}">
                <a16:creationId xmlns:a16="http://schemas.microsoft.com/office/drawing/2014/main" id="{5D09E53B-86E7-46D0-96A6-A158E3CA05C9}"/>
              </a:ext>
            </a:extLst>
          </p:cNvPr>
          <p:cNvSpPr>
            <a:spLocks xmlns:a="http://schemas.openxmlformats.org/drawingml/2006/main" noGrp="1"/>
          </p:cNvSpPr>
          <p:nvPr/>
        </p:nvSpPr>
        <p:spPr>
          <a:xfrm xmlns:a="http://schemas.openxmlformats.org/drawingml/2006/main">
            <a:off x="8286750" y="3952875"/>
            <a:ext cx="457200" cy="2857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48B5626-7912-4132-82AD-D58FB56902C4}"/>
              </a:ext>
            </a:extLst>
          </p:cNvPr>
          <p:cNvSpPr>
            <a:spLocks xmlns:a="http://schemas.openxmlformats.org/drawingml/2006/main" noGrp="1"/>
          </p:cNvSpPr>
          <p:nvPr/>
        </p:nvSpPr>
        <p:spPr>
          <a:xfrm xmlns:a="http://schemas.openxmlformats.org/drawingml/2006/main">
            <a:off x="8401050" y="3990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03</a:t>
            </a:r>
          </a:p>
        </p:txBody>
      </p:sp>
      <p:sp>
        <p:nvSpPr>
          <p:cNvPr id="28" name="">
            <a:extLst xmlns:a="http://schemas.openxmlformats.org/drawingml/2006/main">
              <a:ext uri="{FF2B5EF4-FFF2-40B4-BE49-F238E27FC236}">
                <a16:creationId xmlns:a16="http://schemas.microsoft.com/office/drawing/2014/main" id="{DE75D099-08FC-40E1-AC73-E01885C74086}"/>
              </a:ext>
            </a:extLst>
          </p:cNvPr>
          <p:cNvSpPr>
            <a:spLocks xmlns:a="http://schemas.openxmlformats.org/drawingml/2006/main" noGrp="1"/>
          </p:cNvSpPr>
          <p:nvPr/>
        </p:nvSpPr>
        <p:spPr>
          <a:xfrm xmlns:a="http://schemas.openxmlformats.org/drawingml/2006/main">
            <a:off x="8896350" y="39814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F5F0E7"/>
                </a:solidFill>
                <a:latin typeface="Aptos"/>
                <a:ea typeface="Aptos"/>
                <a:cs typeface="Aptos"/>
              </a:defRPr>
            </a:pPr>
            <a:r>
              <a:rPr sz="1350" b="0" i="0">
                <a:solidFill>
                  <a:srgbClr val="F5F0E7"/>
                </a:solidFill>
                <a:latin typeface="Aptos"/>
                <a:ea typeface="Aptos"/>
                <a:cs typeface="Aptos"/>
              </a:rPr>
              <a:t>Admin operating controls</a:t>
            </a:r>
          </a:p>
        </p:txBody>
      </p:sp>
      <p:sp>
        <p:nvSpPr>
          <p:cNvPr id="29" name="">
            <a:extLst xmlns:a="http://schemas.openxmlformats.org/drawingml/2006/main">
              <a:ext uri="{FF2B5EF4-FFF2-40B4-BE49-F238E27FC236}">
                <a16:creationId xmlns:a16="http://schemas.microsoft.com/office/drawing/2014/main" id="{48CBBD14-4FAC-449D-A4C4-AC863CA577ED}"/>
              </a:ext>
            </a:extLst>
          </p:cNvPr>
          <p:cNvSpPr>
            <a:spLocks xmlns:a="http://schemas.openxmlformats.org/drawingml/2006/main" noGrp="1"/>
          </p:cNvSpPr>
          <p:nvPr/>
        </p:nvSpPr>
        <p:spPr>
          <a:xfrm xmlns:a="http://schemas.openxmlformats.org/drawingml/2006/main">
            <a:off x="8286750" y="4476750"/>
            <a:ext cx="457200" cy="28575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90C70BE-ED47-4917-9F49-86D52DA75A83}"/>
              </a:ext>
            </a:extLst>
          </p:cNvPr>
          <p:cNvSpPr>
            <a:spLocks xmlns:a="http://schemas.openxmlformats.org/drawingml/2006/main" noGrp="1"/>
          </p:cNvSpPr>
          <p:nvPr/>
        </p:nvSpPr>
        <p:spPr>
          <a:xfrm xmlns:a="http://schemas.openxmlformats.org/drawingml/2006/main">
            <a:off x="8401050" y="451485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04</a:t>
            </a:r>
          </a:p>
        </p:txBody>
      </p:sp>
      <p:sp>
        <p:nvSpPr>
          <p:cNvPr id="31" name="">
            <a:extLst xmlns:a="http://schemas.openxmlformats.org/drawingml/2006/main">
              <a:ext uri="{FF2B5EF4-FFF2-40B4-BE49-F238E27FC236}">
                <a16:creationId xmlns:a16="http://schemas.microsoft.com/office/drawing/2014/main" id="{3B5E09D2-15A1-4ABF-8EDB-E206E6124F44}"/>
              </a:ext>
            </a:extLst>
          </p:cNvPr>
          <p:cNvSpPr>
            <a:spLocks xmlns:a="http://schemas.openxmlformats.org/drawingml/2006/main" noGrp="1"/>
          </p:cNvSpPr>
          <p:nvPr/>
        </p:nvSpPr>
        <p:spPr>
          <a:xfrm xmlns:a="http://schemas.openxmlformats.org/drawingml/2006/main">
            <a:off x="8896350" y="4505325"/>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F5F0E7"/>
                </a:solidFill>
                <a:latin typeface="Aptos"/>
                <a:ea typeface="Aptos"/>
                <a:cs typeface="Aptos"/>
              </a:defRPr>
            </a:pPr>
            <a:r>
              <a:rPr sz="1350" b="0" i="0">
                <a:solidFill>
                  <a:srgbClr val="F5F0E7"/>
                </a:solidFill>
                <a:latin typeface="Aptos"/>
                <a:ea typeface="Aptos"/>
                <a:cs typeface="Aptos"/>
              </a:rPr>
              <a:t>Local commerce + safety loops</a:t>
            </a:r>
          </a:p>
        </p:txBody>
      </p:sp>
      <p:sp>
        <p:nvSpPr>
          <p:cNvPr id="32" name="">
            <a:extLst xmlns:a="http://schemas.openxmlformats.org/drawingml/2006/main">
              <a:ext uri="{FF2B5EF4-FFF2-40B4-BE49-F238E27FC236}">
                <a16:creationId xmlns:a16="http://schemas.microsoft.com/office/drawing/2014/main" id="{0C5347D2-1076-4FA7-BB4B-05B0AF17324B}"/>
              </a:ext>
            </a:extLst>
          </p:cNvPr>
          <p:cNvSpPr>
            <a:spLocks xmlns:a="http://schemas.openxmlformats.org/drawingml/2006/main" noGrp="1"/>
          </p:cNvSpPr>
          <p:nvPr/>
        </p:nvSpPr>
        <p:spPr>
          <a:xfrm xmlns:a="http://schemas.openxmlformats.org/drawingml/2006/main">
            <a:off x="8286750" y="5000625"/>
            <a:ext cx="2895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B8C2D6"/>
                </a:solidFill>
                <a:latin typeface="Aptos"/>
                <a:ea typeface="Aptos"/>
                <a:cs typeface="Aptos"/>
              </a:defRPr>
            </a:pPr>
            <a:r>
              <a:rPr sz="1275" b="0" i="0">
                <a:solidFill>
                  <a:srgbClr val="B8C2D6"/>
                </a:solidFill>
                <a:latin typeface="Aptos"/>
                <a:ea typeface="Aptos"/>
                <a:cs typeface="Aptos"/>
              </a:rPr>
              <a:t>The category is emerging. The question is who earns local trust and weekly habit first.</a:t>
            </a:r>
          </a:p>
        </p:txBody>
      </p:sp>
      <p:sp>
        <p:nvSpPr>
          <p:cNvPr id="33" name="">
            <a:extLst xmlns:a="http://schemas.openxmlformats.org/drawingml/2006/main">
              <a:ext uri="{FF2B5EF4-FFF2-40B4-BE49-F238E27FC236}">
                <a16:creationId xmlns:a16="http://schemas.microsoft.com/office/drawing/2014/main" id="{94A94E17-9FF5-46CB-A757-FF416CCA8AAC}"/>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Illustrative positioning from publicly described category offerings; not a feature-by-feature audit.</a:t>
            </a:r>
          </a:p>
        </p:txBody>
      </p:sp>
      <p:sp>
        <p:nvSpPr>
          <p:cNvPr id="34" name="">
            <a:extLst xmlns:a="http://schemas.openxmlformats.org/drawingml/2006/main">
              <a:ext uri="{FF2B5EF4-FFF2-40B4-BE49-F238E27FC236}">
                <a16:creationId xmlns:a16="http://schemas.microsoft.com/office/drawing/2014/main" id="{363DEC6E-342C-45DB-9797-BADB64DCFD61}"/>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12</a:t>
            </a:r>
          </a:p>
        </p:txBody>
      </p:sp>
    </p:spTree>
    <p:extLst>
      <p:ext uri="{BB962C8B-B14F-4D97-AF65-F5344CB8AC3E}">
        <p14:creationId xmlns:p14="http://schemas.microsoft.com/office/powerpoint/2010/main" val="1084910125"/>
      </p:ext>
    </p:extLst>
  </p:cSld>
  <p:transition spd="fast" advClick="1">
    <p:fade/>
  </p:transition>
</p:sld>
</file>

<file path=ppt/slides/slide13.xml><?xml version="1.0" encoding="utf-8"?>
<p:sld xmlns:p="http://schemas.openxmlformats.org/presentationml/2006/main">
  <p:cSld>
    <p:bg>
      <p:bgPr>
        <a:solidFill xmlns:a="http://schemas.openxmlformats.org/drawingml/2006/main">
          <a:srgbClr val="121A2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B674E95-F11D-493F-8C09-33A37A41DE43}"/>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BUSINESS MODEL</a:t>
            </a:r>
          </a:p>
        </p:txBody>
      </p:sp>
      <p:sp>
        <p:nvSpPr>
          <p:cNvPr id="2" name="">
            <a:extLst xmlns:a="http://schemas.openxmlformats.org/drawingml/2006/main">
              <a:ext uri="{FF2B5EF4-FFF2-40B4-BE49-F238E27FC236}">
                <a16:creationId xmlns:a16="http://schemas.microsoft.com/office/drawing/2014/main" id="{50829F77-0AD7-429D-8209-9E4A91C17D4D}"/>
              </a:ext>
            </a:extLst>
          </p:cNvPr>
          <p:cNvSpPr>
            <a:spLocks xmlns:a="http://schemas.openxmlformats.org/drawingml/2006/main" noGrp="1"/>
          </p:cNvSpPr>
          <p:nvPr/>
        </p:nvSpPr>
        <p:spPr>
          <a:xfrm xmlns:a="http://schemas.openxmlformats.org/drawingml/2006/main">
            <a:off x="685800" y="962025"/>
            <a:ext cx="895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i="0">
                <a:solidFill>
                  <a:srgbClr val="FFFFFF"/>
                </a:solidFill>
                <a:latin typeface="Aptos Display"/>
                <a:ea typeface="Aptos Display"/>
                <a:cs typeface="Aptos Display"/>
              </a:defRPr>
            </a:pPr>
            <a:r>
              <a:rPr sz="3900" b="1" i="0">
                <a:solidFill>
                  <a:srgbClr val="FFFFFF"/>
                </a:solidFill>
                <a:latin typeface="Aptos Display"/>
                <a:ea typeface="Aptos Display"/>
                <a:cs typeface="Aptos Display"/>
              </a:rPr>
              <a:t>Monetization follows trust and density.</a:t>
            </a:r>
          </a:p>
        </p:txBody>
      </p:sp>
      <p:sp>
        <p:nvSpPr>
          <p:cNvPr id="3" name="">
            <a:extLst xmlns:a="http://schemas.openxmlformats.org/drawingml/2006/main">
              <a:ext uri="{FF2B5EF4-FFF2-40B4-BE49-F238E27FC236}">
                <a16:creationId xmlns:a16="http://schemas.microsoft.com/office/drawing/2014/main" id="{41952594-F046-45D1-8565-9EABE9631464}"/>
              </a:ext>
            </a:extLst>
          </p:cNvPr>
          <p:cNvSpPr>
            <a:spLocks xmlns:a="http://schemas.openxmlformats.org/drawingml/2006/main" noGrp="1"/>
          </p:cNvSpPr>
          <p:nvPr/>
        </p:nvSpPr>
        <p:spPr>
          <a:xfrm xmlns:a="http://schemas.openxmlformats.org/drawingml/2006/main">
            <a:off x="685800" y="171450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C7D0E1"/>
                </a:solidFill>
                <a:latin typeface="Aptos"/>
                <a:ea typeface="Aptos"/>
                <a:cs typeface="Aptos"/>
              </a:defRPr>
            </a:pPr>
            <a:r>
              <a:rPr sz="1800" b="0" i="0">
                <a:solidFill>
                  <a:srgbClr val="C7D0E1"/>
                </a:solidFill>
                <a:latin typeface="Aptos"/>
                <a:ea typeface="Aptos"/>
                <a:cs typeface="Aptos"/>
              </a:rPr>
              <a:t>A staged B2B2C model protects the resident experience while expanding revenue per community.</a:t>
            </a:r>
          </a:p>
        </p:txBody>
      </p:sp>
      <p:sp>
        <p:nvSpPr>
          <p:cNvPr id="4" name="">
            <a:extLst xmlns:a="http://schemas.openxmlformats.org/drawingml/2006/main">
              <a:ext uri="{FF2B5EF4-FFF2-40B4-BE49-F238E27FC236}">
                <a16:creationId xmlns:a16="http://schemas.microsoft.com/office/drawing/2014/main" id="{4B7755FF-EA1B-402F-B0D2-974A90476B5F}"/>
              </a:ext>
            </a:extLst>
          </p:cNvPr>
          <p:cNvSpPr>
            <a:spLocks xmlns:a="http://schemas.openxmlformats.org/drawingml/2006/main" noGrp="1"/>
          </p:cNvSpPr>
          <p:nvPr/>
        </p:nvSpPr>
        <p:spPr>
          <a:xfrm xmlns:a="http://schemas.openxmlformats.org/drawingml/2006/main">
            <a:off x="685800" y="2524125"/>
            <a:ext cx="10820400" cy="628650"/>
          </a:xfrm>
          <a:prstGeom xmlns:a="http://schemas.openxmlformats.org/drawingml/2006/main" prst="roundRect">
            <a:avLst>
              <a:gd name="adj" fmla="val 24242"/>
            </a:avLst>
          </a:prstGeom>
          <a:solidFill xmlns:a="http://schemas.openxmlformats.org/drawingml/2006/main">
            <a:srgbClr val="F5F0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E4004EA-7F6E-40BE-90AB-94A329F9997E}"/>
              </a:ext>
            </a:extLst>
          </p:cNvPr>
          <p:cNvSpPr>
            <a:spLocks xmlns:a="http://schemas.openxmlformats.org/drawingml/2006/main" noGrp="1"/>
          </p:cNvSpPr>
          <p:nvPr/>
        </p:nvSpPr>
        <p:spPr>
          <a:xfrm xmlns:a="http://schemas.openxmlformats.org/drawingml/2006/main">
            <a:off x="857250" y="2647950"/>
            <a:ext cx="381000" cy="381000"/>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602E458-CB56-49B7-9C76-1B522BD1F4F3}"/>
              </a:ext>
            </a:extLst>
          </p:cNvPr>
          <p:cNvSpPr>
            <a:spLocks xmlns:a="http://schemas.openxmlformats.org/drawingml/2006/main" noGrp="1"/>
          </p:cNvSpPr>
          <p:nvPr/>
        </p:nvSpPr>
        <p:spPr>
          <a:xfrm xmlns:a="http://schemas.openxmlformats.org/drawingml/2006/main">
            <a:off x="857250" y="27146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21A2C"/>
                </a:solidFill>
                <a:latin typeface="Aptos Display"/>
                <a:ea typeface="Aptos Display"/>
                <a:cs typeface="Aptos Display"/>
              </a:defRPr>
            </a:pPr>
            <a:r>
              <a:rPr sz="1200" b="1" i="0">
                <a:solidFill>
                  <a:srgbClr val="121A2C"/>
                </a:solidFill>
                <a:latin typeface="Aptos Display"/>
                <a:ea typeface="Aptos Display"/>
                <a:cs typeface="Aptos Display"/>
              </a:rPr>
              <a:t>1</a:t>
            </a:r>
          </a:p>
        </p:txBody>
      </p:sp>
      <p:sp>
        <p:nvSpPr>
          <p:cNvPr id="7" name="">
            <a:extLst xmlns:a="http://schemas.openxmlformats.org/drawingml/2006/main">
              <a:ext uri="{FF2B5EF4-FFF2-40B4-BE49-F238E27FC236}">
                <a16:creationId xmlns:a16="http://schemas.microsoft.com/office/drawing/2014/main" id="{6FBA1D6F-31D3-4FE7-9B36-6515C60B828A}"/>
              </a:ext>
            </a:extLst>
          </p:cNvPr>
          <p:cNvSpPr>
            <a:spLocks xmlns:a="http://schemas.openxmlformats.org/drawingml/2006/main" noGrp="1"/>
          </p:cNvSpPr>
          <p:nvPr/>
        </p:nvSpPr>
        <p:spPr>
          <a:xfrm xmlns:a="http://schemas.openxmlformats.org/drawingml/2006/main">
            <a:off x="1447800" y="26765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182033"/>
                </a:solidFill>
                <a:latin typeface="Aptos Display"/>
                <a:ea typeface="Aptos Display"/>
                <a:cs typeface="Aptos Display"/>
              </a:defRPr>
            </a:pPr>
            <a:r>
              <a:rPr sz="1725" b="1" i="0">
                <a:solidFill>
                  <a:srgbClr val="182033"/>
                </a:solidFill>
                <a:latin typeface="Aptos Display"/>
                <a:ea typeface="Aptos Display"/>
                <a:cs typeface="Aptos Display"/>
              </a:rPr>
              <a:t>Society subscription</a:t>
            </a:r>
          </a:p>
        </p:txBody>
      </p:sp>
      <p:sp>
        <p:nvSpPr>
          <p:cNvPr id="8" name="">
            <a:extLst xmlns:a="http://schemas.openxmlformats.org/drawingml/2006/main">
              <a:ext uri="{FF2B5EF4-FFF2-40B4-BE49-F238E27FC236}">
                <a16:creationId xmlns:a16="http://schemas.microsoft.com/office/drawing/2014/main" id="{8A22AFD6-32F5-4F9F-B9CB-E6C42639A0EA}"/>
              </a:ext>
            </a:extLst>
          </p:cNvPr>
          <p:cNvSpPr>
            <a:spLocks xmlns:a="http://schemas.openxmlformats.org/drawingml/2006/main" noGrp="1"/>
          </p:cNvSpPr>
          <p:nvPr/>
        </p:nvSpPr>
        <p:spPr>
          <a:xfrm xmlns:a="http://schemas.openxmlformats.org/drawingml/2006/main">
            <a:off x="4457700" y="2686050"/>
            <a:ext cx="538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Core administration, communication and premium workflow tiers.</a:t>
            </a:r>
          </a:p>
        </p:txBody>
      </p:sp>
      <p:sp>
        <p:nvSpPr>
          <p:cNvPr id="9" name="">
            <a:extLst xmlns:a="http://schemas.openxmlformats.org/drawingml/2006/main">
              <a:ext uri="{FF2B5EF4-FFF2-40B4-BE49-F238E27FC236}">
                <a16:creationId xmlns:a16="http://schemas.microsoft.com/office/drawing/2014/main" id="{98B1B43F-255C-458C-8736-E2B87BF25430}"/>
              </a:ext>
            </a:extLst>
          </p:cNvPr>
          <p:cNvSpPr>
            <a:spLocks xmlns:a="http://schemas.openxmlformats.org/drawingml/2006/main" noGrp="1"/>
          </p:cNvSpPr>
          <p:nvPr/>
        </p:nvSpPr>
        <p:spPr>
          <a:xfrm xmlns:a="http://schemas.openxmlformats.org/drawingml/2006/main">
            <a:off x="10296525" y="2695575"/>
            <a:ext cx="933450" cy="26670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C87CD1F-7958-4019-8A77-99D72A3DD3FB}"/>
              </a:ext>
            </a:extLst>
          </p:cNvPr>
          <p:cNvSpPr>
            <a:spLocks xmlns:a="http://schemas.openxmlformats.org/drawingml/2006/main" noGrp="1"/>
          </p:cNvSpPr>
          <p:nvPr/>
        </p:nvSpPr>
        <p:spPr>
          <a:xfrm xmlns:a="http://schemas.openxmlformats.org/drawingml/2006/main">
            <a:off x="10410825" y="27336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121A2C"/>
                </a:solidFill>
                <a:latin typeface="Aptos Display"/>
                <a:ea typeface="Aptos Display"/>
                <a:cs typeface="Aptos Display"/>
              </a:defRPr>
            </a:pPr>
            <a:r>
              <a:rPr sz="825" b="1" i="0">
                <a:solidFill>
                  <a:srgbClr val="121A2C"/>
                </a:solidFill>
                <a:latin typeface="Aptos Display"/>
                <a:ea typeface="Aptos Display"/>
                <a:cs typeface="Aptos Display"/>
              </a:rPr>
              <a:t>FIRST</a:t>
            </a:r>
          </a:p>
        </p:txBody>
      </p:sp>
      <p:sp>
        <p:nvSpPr>
          <p:cNvPr id="11" name="">
            <a:extLst xmlns:a="http://schemas.openxmlformats.org/drawingml/2006/main">
              <a:ext uri="{FF2B5EF4-FFF2-40B4-BE49-F238E27FC236}">
                <a16:creationId xmlns:a16="http://schemas.microsoft.com/office/drawing/2014/main" id="{AE99071F-9A89-4368-8A38-C7CED57E4108}"/>
              </a:ext>
            </a:extLst>
          </p:cNvPr>
          <p:cNvSpPr>
            <a:spLocks xmlns:a="http://schemas.openxmlformats.org/drawingml/2006/main" noGrp="1"/>
          </p:cNvSpPr>
          <p:nvPr/>
        </p:nvSpPr>
        <p:spPr>
          <a:xfrm xmlns:a="http://schemas.openxmlformats.org/drawingml/2006/main">
            <a:off x="685800" y="3305175"/>
            <a:ext cx="10820400" cy="628650"/>
          </a:xfrm>
          <a:prstGeom xmlns:a="http://schemas.openxmlformats.org/drawingml/2006/main" prst="roundRect">
            <a:avLst>
              <a:gd name="adj" fmla="val 24242"/>
            </a:avLst>
          </a:prstGeom>
          <a:solidFill xmlns:a="http://schemas.openxmlformats.org/drawingml/2006/main">
            <a:srgbClr val="1C2740"/>
          </a:solidFill>
          <a:ln xmlns:a="http://schemas.openxmlformats.org/drawingml/2006/main" w="9525">
            <a:solidFill>
              <a:srgbClr val="26334E"/>
            </a:solidFill>
            <a:prstDash val="solid"/>
          </a:ln>
        </p:spPr>
      </p:sp>
      <p:sp>
        <p:nvSpPr>
          <p:cNvPr id="12" name="">
            <a:extLst xmlns:a="http://schemas.openxmlformats.org/drawingml/2006/main">
              <a:ext uri="{FF2B5EF4-FFF2-40B4-BE49-F238E27FC236}">
                <a16:creationId xmlns:a16="http://schemas.microsoft.com/office/drawing/2014/main" id="{7F24B29C-1B97-4995-84F0-A12C2D4984A5}"/>
              </a:ext>
            </a:extLst>
          </p:cNvPr>
          <p:cNvSpPr>
            <a:spLocks xmlns:a="http://schemas.openxmlformats.org/drawingml/2006/main" noGrp="1"/>
          </p:cNvSpPr>
          <p:nvPr/>
        </p:nvSpPr>
        <p:spPr>
          <a:xfrm xmlns:a="http://schemas.openxmlformats.org/drawingml/2006/main">
            <a:off x="857250" y="3429000"/>
            <a:ext cx="381000" cy="38100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09422FF-BD4F-4C1A-9F7B-FA736613A149}"/>
              </a:ext>
            </a:extLst>
          </p:cNvPr>
          <p:cNvSpPr>
            <a:spLocks xmlns:a="http://schemas.openxmlformats.org/drawingml/2006/main" noGrp="1"/>
          </p:cNvSpPr>
          <p:nvPr/>
        </p:nvSpPr>
        <p:spPr>
          <a:xfrm xmlns:a="http://schemas.openxmlformats.org/drawingml/2006/main">
            <a:off x="857250" y="3495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21A2C"/>
                </a:solidFill>
                <a:latin typeface="Aptos Display"/>
                <a:ea typeface="Aptos Display"/>
                <a:cs typeface="Aptos Display"/>
              </a:defRPr>
            </a:pPr>
            <a:r>
              <a:rPr sz="1200" b="1" i="0">
                <a:solidFill>
                  <a:srgbClr val="121A2C"/>
                </a:solidFill>
                <a:latin typeface="Aptos Display"/>
                <a:ea typeface="Aptos Display"/>
                <a:cs typeface="Aptos Display"/>
              </a:rPr>
              <a:t>2</a:t>
            </a:r>
          </a:p>
        </p:txBody>
      </p:sp>
      <p:sp>
        <p:nvSpPr>
          <p:cNvPr id="14" name="">
            <a:extLst xmlns:a="http://schemas.openxmlformats.org/drawingml/2006/main">
              <a:ext uri="{FF2B5EF4-FFF2-40B4-BE49-F238E27FC236}">
                <a16:creationId xmlns:a16="http://schemas.microsoft.com/office/drawing/2014/main" id="{11E989B7-005E-4618-9D64-2EDE44D79E44}"/>
              </a:ext>
            </a:extLst>
          </p:cNvPr>
          <p:cNvSpPr>
            <a:spLocks xmlns:a="http://schemas.openxmlformats.org/drawingml/2006/main" noGrp="1"/>
          </p:cNvSpPr>
          <p:nvPr/>
        </p:nvSpPr>
        <p:spPr>
          <a:xfrm xmlns:a="http://schemas.openxmlformats.org/drawingml/2006/main">
            <a:off x="1447800" y="345757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FFFFFF"/>
                </a:solidFill>
                <a:latin typeface="Aptos Display"/>
                <a:ea typeface="Aptos Display"/>
                <a:cs typeface="Aptos Display"/>
              </a:defRPr>
            </a:pPr>
            <a:r>
              <a:rPr sz="1725" b="1" i="0">
                <a:solidFill>
                  <a:srgbClr val="FFFFFF"/>
                </a:solidFill>
                <a:latin typeface="Aptos Display"/>
                <a:ea typeface="Aptos Display"/>
                <a:cs typeface="Aptos Display"/>
              </a:rPr>
              <a:t>Local business services</a:t>
            </a:r>
          </a:p>
        </p:txBody>
      </p:sp>
      <p:sp>
        <p:nvSpPr>
          <p:cNvPr id="15" name="">
            <a:extLst xmlns:a="http://schemas.openxmlformats.org/drawingml/2006/main">
              <a:ext uri="{FF2B5EF4-FFF2-40B4-BE49-F238E27FC236}">
                <a16:creationId xmlns:a16="http://schemas.microsoft.com/office/drawing/2014/main" id="{5D4F8CE7-0965-4E6D-931A-37F3B5DFCABD}"/>
              </a:ext>
            </a:extLst>
          </p:cNvPr>
          <p:cNvSpPr>
            <a:spLocks xmlns:a="http://schemas.openxmlformats.org/drawingml/2006/main" noGrp="1"/>
          </p:cNvSpPr>
          <p:nvPr/>
        </p:nvSpPr>
        <p:spPr>
          <a:xfrm xmlns:a="http://schemas.openxmlformats.org/drawingml/2006/main">
            <a:off x="4457700" y="3467100"/>
            <a:ext cx="538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C7D0E1"/>
                </a:solidFill>
                <a:latin typeface="Aptos"/>
                <a:ea typeface="Aptos"/>
                <a:cs typeface="Aptos"/>
              </a:defRPr>
            </a:pPr>
            <a:r>
              <a:rPr sz="1350" b="0" i="0">
                <a:solidFill>
                  <a:srgbClr val="C7D0E1"/>
                </a:solidFill>
                <a:latin typeface="Aptos"/>
                <a:ea typeface="Aptos"/>
                <a:cs typeface="Aptos"/>
              </a:rPr>
              <a:t>Verified listings, promoted inventory and neighborhood discovery.</a:t>
            </a:r>
          </a:p>
        </p:txBody>
      </p:sp>
      <p:sp>
        <p:nvSpPr>
          <p:cNvPr id="16" name="">
            <a:extLst xmlns:a="http://schemas.openxmlformats.org/drawingml/2006/main">
              <a:ext uri="{FF2B5EF4-FFF2-40B4-BE49-F238E27FC236}">
                <a16:creationId xmlns:a16="http://schemas.microsoft.com/office/drawing/2014/main" id="{87701902-36BA-46CB-AB38-4E9D9C29F146}"/>
              </a:ext>
            </a:extLst>
          </p:cNvPr>
          <p:cNvSpPr>
            <a:spLocks xmlns:a="http://schemas.openxmlformats.org/drawingml/2006/main" noGrp="1"/>
          </p:cNvSpPr>
          <p:nvPr/>
        </p:nvSpPr>
        <p:spPr>
          <a:xfrm xmlns:a="http://schemas.openxmlformats.org/drawingml/2006/main">
            <a:off x="10296525" y="3476625"/>
            <a:ext cx="933450" cy="26670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0857923-7501-488C-811B-0738C1A4F7FF}"/>
              </a:ext>
            </a:extLst>
          </p:cNvPr>
          <p:cNvSpPr>
            <a:spLocks xmlns:a="http://schemas.openxmlformats.org/drawingml/2006/main" noGrp="1"/>
          </p:cNvSpPr>
          <p:nvPr/>
        </p:nvSpPr>
        <p:spPr>
          <a:xfrm xmlns:a="http://schemas.openxmlformats.org/drawingml/2006/main">
            <a:off x="10410825" y="35147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121A2C"/>
                </a:solidFill>
                <a:latin typeface="Aptos Display"/>
                <a:ea typeface="Aptos Display"/>
                <a:cs typeface="Aptos Display"/>
              </a:defRPr>
            </a:pPr>
            <a:r>
              <a:rPr sz="825" b="1" i="0">
                <a:solidFill>
                  <a:srgbClr val="121A2C"/>
                </a:solidFill>
                <a:latin typeface="Aptos Display"/>
                <a:ea typeface="Aptos Display"/>
                <a:cs typeface="Aptos Display"/>
              </a:rPr>
              <a:t>NEXT</a:t>
            </a:r>
          </a:p>
        </p:txBody>
      </p:sp>
      <p:sp>
        <p:nvSpPr>
          <p:cNvPr id="18" name="">
            <a:extLst xmlns:a="http://schemas.openxmlformats.org/drawingml/2006/main">
              <a:ext uri="{FF2B5EF4-FFF2-40B4-BE49-F238E27FC236}">
                <a16:creationId xmlns:a16="http://schemas.microsoft.com/office/drawing/2014/main" id="{B411947D-F113-42BF-B3FF-9094D445438D}"/>
              </a:ext>
            </a:extLst>
          </p:cNvPr>
          <p:cNvSpPr>
            <a:spLocks xmlns:a="http://schemas.openxmlformats.org/drawingml/2006/main" noGrp="1"/>
          </p:cNvSpPr>
          <p:nvPr/>
        </p:nvSpPr>
        <p:spPr>
          <a:xfrm xmlns:a="http://schemas.openxmlformats.org/drawingml/2006/main">
            <a:off x="685800" y="4086225"/>
            <a:ext cx="10820400" cy="628650"/>
          </a:xfrm>
          <a:prstGeom xmlns:a="http://schemas.openxmlformats.org/drawingml/2006/main" prst="roundRect">
            <a:avLst>
              <a:gd name="adj" fmla="val 24242"/>
            </a:avLst>
          </a:prstGeom>
          <a:solidFill xmlns:a="http://schemas.openxmlformats.org/drawingml/2006/main">
            <a:srgbClr val="1C2740"/>
          </a:solidFill>
          <a:ln xmlns:a="http://schemas.openxmlformats.org/drawingml/2006/main" w="9525">
            <a:solidFill>
              <a:srgbClr val="26334E"/>
            </a:solidFill>
            <a:prstDash val="solid"/>
          </a:ln>
        </p:spPr>
      </p:sp>
      <p:sp>
        <p:nvSpPr>
          <p:cNvPr id="19" name="">
            <a:extLst xmlns:a="http://schemas.openxmlformats.org/drawingml/2006/main">
              <a:ext uri="{FF2B5EF4-FFF2-40B4-BE49-F238E27FC236}">
                <a16:creationId xmlns:a16="http://schemas.microsoft.com/office/drawing/2014/main" id="{B6366E38-921D-43A9-9AEC-110B2AA4214A}"/>
              </a:ext>
            </a:extLst>
          </p:cNvPr>
          <p:cNvSpPr>
            <a:spLocks xmlns:a="http://schemas.openxmlformats.org/drawingml/2006/main" noGrp="1"/>
          </p:cNvSpPr>
          <p:nvPr/>
        </p:nvSpPr>
        <p:spPr>
          <a:xfrm xmlns:a="http://schemas.openxmlformats.org/drawingml/2006/main">
            <a:off x="857250" y="4210050"/>
            <a:ext cx="381000" cy="381000"/>
          </a:xfrm>
          <a:prstGeom xmlns:a="http://schemas.openxmlformats.org/drawingml/2006/main" prst="ellipse">
            <a:avLst/>
          </a:prstGeom>
          <a:solidFill xmlns:a="http://schemas.openxmlformats.org/drawingml/2006/main">
            <a:srgbClr val="D6B77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D53E25-0139-4E47-8A28-2D24C9ACC9F6}"/>
              </a:ext>
            </a:extLst>
          </p:cNvPr>
          <p:cNvSpPr>
            <a:spLocks xmlns:a="http://schemas.openxmlformats.org/drawingml/2006/main" noGrp="1"/>
          </p:cNvSpPr>
          <p:nvPr/>
        </p:nvSpPr>
        <p:spPr>
          <a:xfrm xmlns:a="http://schemas.openxmlformats.org/drawingml/2006/main">
            <a:off x="857250" y="42767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21A2C"/>
                </a:solidFill>
                <a:latin typeface="Aptos Display"/>
                <a:ea typeface="Aptos Display"/>
                <a:cs typeface="Aptos Display"/>
              </a:defRPr>
            </a:pPr>
            <a:r>
              <a:rPr sz="1200" b="1" i="0">
                <a:solidFill>
                  <a:srgbClr val="121A2C"/>
                </a:solidFill>
                <a:latin typeface="Aptos Display"/>
                <a:ea typeface="Aptos Display"/>
                <a:cs typeface="Aptos Display"/>
              </a:rPr>
              <a:t>3</a:t>
            </a:r>
          </a:p>
        </p:txBody>
      </p:sp>
      <p:sp>
        <p:nvSpPr>
          <p:cNvPr id="21" name="">
            <a:extLst xmlns:a="http://schemas.openxmlformats.org/drawingml/2006/main">
              <a:ext uri="{FF2B5EF4-FFF2-40B4-BE49-F238E27FC236}">
                <a16:creationId xmlns:a16="http://schemas.microsoft.com/office/drawing/2014/main" id="{371B4121-0BB9-4FA2-92E7-9F37E67B61CA}"/>
              </a:ext>
            </a:extLst>
          </p:cNvPr>
          <p:cNvSpPr>
            <a:spLocks xmlns:a="http://schemas.openxmlformats.org/drawingml/2006/main" noGrp="1"/>
          </p:cNvSpPr>
          <p:nvPr/>
        </p:nvSpPr>
        <p:spPr>
          <a:xfrm xmlns:a="http://schemas.openxmlformats.org/drawingml/2006/main">
            <a:off x="1447800" y="4238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FFFFFF"/>
                </a:solidFill>
                <a:latin typeface="Aptos Display"/>
                <a:ea typeface="Aptos Display"/>
                <a:cs typeface="Aptos Display"/>
              </a:defRPr>
            </a:pPr>
            <a:r>
              <a:rPr sz="1725" b="1" i="0">
                <a:solidFill>
                  <a:srgbClr val="FFFFFF"/>
                </a:solidFill>
                <a:latin typeface="Aptos Display"/>
                <a:ea typeface="Aptos Display"/>
                <a:cs typeface="Aptos Display"/>
              </a:rPr>
              <a:t>Platform services</a:t>
            </a:r>
          </a:p>
        </p:txBody>
      </p:sp>
      <p:sp>
        <p:nvSpPr>
          <p:cNvPr id="22" name="">
            <a:extLst xmlns:a="http://schemas.openxmlformats.org/drawingml/2006/main">
              <a:ext uri="{FF2B5EF4-FFF2-40B4-BE49-F238E27FC236}">
                <a16:creationId xmlns:a16="http://schemas.microsoft.com/office/drawing/2014/main" id="{ECB1CF44-8C32-49F0-93D2-8FA223ED01D4}"/>
              </a:ext>
            </a:extLst>
          </p:cNvPr>
          <p:cNvSpPr>
            <a:spLocks xmlns:a="http://schemas.openxmlformats.org/drawingml/2006/main" noGrp="1"/>
          </p:cNvSpPr>
          <p:nvPr/>
        </p:nvSpPr>
        <p:spPr>
          <a:xfrm xmlns:a="http://schemas.openxmlformats.org/drawingml/2006/main">
            <a:off x="4457700" y="4248150"/>
            <a:ext cx="538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C7D0E1"/>
                </a:solidFill>
                <a:latin typeface="Aptos"/>
                <a:ea typeface="Aptos"/>
                <a:cs typeface="Aptos"/>
              </a:defRPr>
            </a:pPr>
            <a:r>
              <a:rPr sz="1350" b="0" i="0">
                <a:solidFill>
                  <a:srgbClr val="C7D0E1"/>
                </a:solidFill>
                <a:latin typeface="Aptos"/>
                <a:ea typeface="Aptos"/>
                <a:cs typeface="Aptos"/>
              </a:rPr>
              <a:t>Payments and service partnerships when engagement thresholds are proven.</a:t>
            </a:r>
          </a:p>
        </p:txBody>
      </p:sp>
      <p:sp>
        <p:nvSpPr>
          <p:cNvPr id="23" name="">
            <a:extLst xmlns:a="http://schemas.openxmlformats.org/drawingml/2006/main">
              <a:ext uri="{FF2B5EF4-FFF2-40B4-BE49-F238E27FC236}">
                <a16:creationId xmlns:a16="http://schemas.microsoft.com/office/drawing/2014/main" id="{E0F932EA-91A4-4A92-963B-8E33C471C391}"/>
              </a:ext>
            </a:extLst>
          </p:cNvPr>
          <p:cNvSpPr>
            <a:spLocks xmlns:a="http://schemas.openxmlformats.org/drawingml/2006/main" noGrp="1"/>
          </p:cNvSpPr>
          <p:nvPr/>
        </p:nvSpPr>
        <p:spPr>
          <a:xfrm xmlns:a="http://schemas.openxmlformats.org/drawingml/2006/main">
            <a:off x="10296525" y="4257675"/>
            <a:ext cx="933450" cy="266700"/>
          </a:xfrm>
          <a:prstGeom xmlns:a="http://schemas.openxmlformats.org/drawingml/2006/main" prst="roundRect">
            <a:avLst>
              <a:gd name="adj" fmla="val 50000"/>
            </a:avLst>
          </a:prstGeom>
          <a:solidFill xmlns:a="http://schemas.openxmlformats.org/drawingml/2006/main">
            <a:srgbClr val="D6B77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BF2BE42-9110-4AAF-9A78-77EB0055F865}"/>
              </a:ext>
            </a:extLst>
          </p:cNvPr>
          <p:cNvSpPr>
            <a:spLocks xmlns:a="http://schemas.openxmlformats.org/drawingml/2006/main" noGrp="1"/>
          </p:cNvSpPr>
          <p:nvPr/>
        </p:nvSpPr>
        <p:spPr>
          <a:xfrm xmlns:a="http://schemas.openxmlformats.org/drawingml/2006/main">
            <a:off x="10410825" y="42957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121A2C"/>
                </a:solidFill>
                <a:latin typeface="Aptos Display"/>
                <a:ea typeface="Aptos Display"/>
                <a:cs typeface="Aptos Display"/>
              </a:defRPr>
            </a:pPr>
            <a:r>
              <a:rPr sz="825" b="1" i="0">
                <a:solidFill>
                  <a:srgbClr val="121A2C"/>
                </a:solidFill>
                <a:latin typeface="Aptos Display"/>
                <a:ea typeface="Aptos Display"/>
                <a:cs typeface="Aptos Display"/>
              </a:rPr>
              <a:t>LATER</a:t>
            </a:r>
          </a:p>
        </p:txBody>
      </p:sp>
      <p:sp>
        <p:nvSpPr>
          <p:cNvPr id="25" name="">
            <a:extLst xmlns:a="http://schemas.openxmlformats.org/drawingml/2006/main">
              <a:ext uri="{FF2B5EF4-FFF2-40B4-BE49-F238E27FC236}">
                <a16:creationId xmlns:a16="http://schemas.microsoft.com/office/drawing/2014/main" id="{9FF796FB-D9AD-4D65-94A4-E8EFD4085010}"/>
              </a:ext>
            </a:extLst>
          </p:cNvPr>
          <p:cNvSpPr>
            <a:spLocks xmlns:a="http://schemas.openxmlformats.org/drawingml/2006/main" noGrp="1"/>
          </p:cNvSpPr>
          <p:nvPr/>
        </p:nvSpPr>
        <p:spPr>
          <a:xfrm xmlns:a="http://schemas.openxmlformats.org/drawingml/2006/main">
            <a:off x="685800" y="4867275"/>
            <a:ext cx="10820400" cy="628650"/>
          </a:xfrm>
          <a:prstGeom xmlns:a="http://schemas.openxmlformats.org/drawingml/2006/main" prst="roundRect">
            <a:avLst>
              <a:gd name="adj" fmla="val 24242"/>
            </a:avLst>
          </a:prstGeom>
          <a:solidFill xmlns:a="http://schemas.openxmlformats.org/drawingml/2006/main">
            <a:srgbClr val="1C2740"/>
          </a:solidFill>
          <a:ln xmlns:a="http://schemas.openxmlformats.org/drawingml/2006/main" w="9525">
            <a:solidFill>
              <a:srgbClr val="26334E"/>
            </a:solidFill>
            <a:prstDash val="solid"/>
          </a:ln>
        </p:spPr>
      </p:sp>
      <p:sp>
        <p:nvSpPr>
          <p:cNvPr id="26" name="">
            <a:extLst xmlns:a="http://schemas.openxmlformats.org/drawingml/2006/main">
              <a:ext uri="{FF2B5EF4-FFF2-40B4-BE49-F238E27FC236}">
                <a16:creationId xmlns:a16="http://schemas.microsoft.com/office/drawing/2014/main" id="{0ADBA8A6-0FF2-424C-B840-3DAF7313545B}"/>
              </a:ext>
            </a:extLst>
          </p:cNvPr>
          <p:cNvSpPr>
            <a:spLocks xmlns:a="http://schemas.openxmlformats.org/drawingml/2006/main" noGrp="1"/>
          </p:cNvSpPr>
          <p:nvPr/>
        </p:nvSpPr>
        <p:spPr>
          <a:xfrm xmlns:a="http://schemas.openxmlformats.org/drawingml/2006/main">
            <a:off x="857250" y="4991100"/>
            <a:ext cx="381000" cy="381000"/>
          </a:xfrm>
          <a:prstGeom xmlns:a="http://schemas.openxmlformats.org/drawingml/2006/main" prst="ellipse">
            <a:avLst/>
          </a:prstGeom>
          <a:solidFill xmlns:a="http://schemas.openxmlformats.org/drawingml/2006/main">
            <a:srgbClr val="5BBDE1"/>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0BB71BF-87A4-4FB5-9FF5-EB01C0F50BD3}"/>
              </a:ext>
            </a:extLst>
          </p:cNvPr>
          <p:cNvSpPr>
            <a:spLocks xmlns:a="http://schemas.openxmlformats.org/drawingml/2006/main" noGrp="1"/>
          </p:cNvSpPr>
          <p:nvPr/>
        </p:nvSpPr>
        <p:spPr>
          <a:xfrm xmlns:a="http://schemas.openxmlformats.org/drawingml/2006/main">
            <a:off x="857250" y="50577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121A2C"/>
                </a:solidFill>
                <a:latin typeface="Aptos Display"/>
                <a:ea typeface="Aptos Display"/>
                <a:cs typeface="Aptos Display"/>
              </a:defRPr>
            </a:pPr>
            <a:r>
              <a:rPr sz="1200" b="1" i="0">
                <a:solidFill>
                  <a:srgbClr val="121A2C"/>
                </a:solidFill>
                <a:latin typeface="Aptos Display"/>
                <a:ea typeface="Aptos Display"/>
                <a:cs typeface="Aptos Display"/>
              </a:rPr>
              <a:t>4</a:t>
            </a:r>
          </a:p>
        </p:txBody>
      </p:sp>
      <p:sp>
        <p:nvSpPr>
          <p:cNvPr id="28" name="">
            <a:extLst xmlns:a="http://schemas.openxmlformats.org/drawingml/2006/main">
              <a:ext uri="{FF2B5EF4-FFF2-40B4-BE49-F238E27FC236}">
                <a16:creationId xmlns:a16="http://schemas.microsoft.com/office/drawing/2014/main" id="{DA96DA93-6AB1-49C2-A0DE-E18987DB085D}"/>
              </a:ext>
            </a:extLst>
          </p:cNvPr>
          <p:cNvSpPr>
            <a:spLocks xmlns:a="http://schemas.openxmlformats.org/drawingml/2006/main" noGrp="1"/>
          </p:cNvSpPr>
          <p:nvPr/>
        </p:nvSpPr>
        <p:spPr>
          <a:xfrm xmlns:a="http://schemas.openxmlformats.org/drawingml/2006/main">
            <a:off x="1447800" y="501967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FFFFFF"/>
                </a:solidFill>
                <a:latin typeface="Aptos Display"/>
                <a:ea typeface="Aptos Display"/>
                <a:cs typeface="Aptos Display"/>
              </a:defRPr>
            </a:pPr>
            <a:r>
              <a:rPr sz="1725" b="1" i="0">
                <a:solidFill>
                  <a:srgbClr val="FFFFFF"/>
                </a:solidFill>
                <a:latin typeface="Aptos Display"/>
                <a:ea typeface="Aptos Display"/>
                <a:cs typeface="Aptos Display"/>
              </a:rPr>
              <a:t>APIs + integrations</a:t>
            </a:r>
          </a:p>
        </p:txBody>
      </p:sp>
      <p:sp>
        <p:nvSpPr>
          <p:cNvPr id="29" name="">
            <a:extLst xmlns:a="http://schemas.openxmlformats.org/drawingml/2006/main">
              <a:ext uri="{FF2B5EF4-FFF2-40B4-BE49-F238E27FC236}">
                <a16:creationId xmlns:a16="http://schemas.microsoft.com/office/drawing/2014/main" id="{15EE8B54-FB5D-4371-BA77-359958AD3573}"/>
              </a:ext>
            </a:extLst>
          </p:cNvPr>
          <p:cNvSpPr>
            <a:spLocks xmlns:a="http://schemas.openxmlformats.org/drawingml/2006/main" noGrp="1"/>
          </p:cNvSpPr>
          <p:nvPr/>
        </p:nvSpPr>
        <p:spPr>
          <a:xfrm xmlns:a="http://schemas.openxmlformats.org/drawingml/2006/main">
            <a:off x="4457700" y="5029200"/>
            <a:ext cx="538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C7D0E1"/>
                </a:solidFill>
                <a:latin typeface="Aptos"/>
                <a:ea typeface="Aptos"/>
                <a:cs typeface="Aptos"/>
              </a:defRPr>
            </a:pPr>
            <a:r>
              <a:rPr sz="1350" b="0" i="0">
                <a:solidFill>
                  <a:srgbClr val="C7D0E1"/>
                </a:solidFill>
                <a:latin typeface="Aptos"/>
                <a:ea typeface="Aptos"/>
                <a:cs typeface="Aptos"/>
              </a:rPr>
              <a:t>Developer, civic, emergency and ecosystem connections.</a:t>
            </a:r>
          </a:p>
        </p:txBody>
      </p:sp>
      <p:sp>
        <p:nvSpPr>
          <p:cNvPr id="30" name="">
            <a:extLst xmlns:a="http://schemas.openxmlformats.org/drawingml/2006/main">
              <a:ext uri="{FF2B5EF4-FFF2-40B4-BE49-F238E27FC236}">
                <a16:creationId xmlns:a16="http://schemas.microsoft.com/office/drawing/2014/main" id="{EF58025C-5FCE-46DB-8E8F-9F24BE3E7065}"/>
              </a:ext>
            </a:extLst>
          </p:cNvPr>
          <p:cNvSpPr>
            <a:spLocks xmlns:a="http://schemas.openxmlformats.org/drawingml/2006/main" noGrp="1"/>
          </p:cNvSpPr>
          <p:nvPr/>
        </p:nvSpPr>
        <p:spPr>
          <a:xfrm xmlns:a="http://schemas.openxmlformats.org/drawingml/2006/main">
            <a:off x="10296525" y="5038725"/>
            <a:ext cx="933450" cy="266700"/>
          </a:xfrm>
          <a:prstGeom xmlns:a="http://schemas.openxmlformats.org/drawingml/2006/main" prst="roundRect">
            <a:avLst>
              <a:gd name="adj" fmla="val 50000"/>
            </a:avLst>
          </a:prstGeom>
          <a:solidFill xmlns:a="http://schemas.openxmlformats.org/drawingml/2006/main">
            <a:srgbClr val="5BBDE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17B8B54-8C17-4E5F-A193-3307684A96D4}"/>
              </a:ext>
            </a:extLst>
          </p:cNvPr>
          <p:cNvSpPr>
            <a:spLocks xmlns:a="http://schemas.openxmlformats.org/drawingml/2006/main" noGrp="1"/>
          </p:cNvSpPr>
          <p:nvPr/>
        </p:nvSpPr>
        <p:spPr>
          <a:xfrm xmlns:a="http://schemas.openxmlformats.org/drawingml/2006/main">
            <a:off x="10410825" y="50768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121A2C"/>
                </a:solidFill>
                <a:latin typeface="Aptos Display"/>
                <a:ea typeface="Aptos Display"/>
                <a:cs typeface="Aptos Display"/>
              </a:defRPr>
            </a:pPr>
            <a:r>
              <a:rPr sz="825" b="1" i="0">
                <a:solidFill>
                  <a:srgbClr val="121A2C"/>
                </a:solidFill>
                <a:latin typeface="Aptos Display"/>
                <a:ea typeface="Aptos Display"/>
                <a:cs typeface="Aptos Display"/>
              </a:rPr>
              <a:t>SCALE</a:t>
            </a:r>
          </a:p>
        </p:txBody>
      </p:sp>
      <p:sp>
        <p:nvSpPr>
          <p:cNvPr id="32" name="">
            <a:extLst xmlns:a="http://schemas.openxmlformats.org/drawingml/2006/main">
              <a:ext uri="{FF2B5EF4-FFF2-40B4-BE49-F238E27FC236}">
                <a16:creationId xmlns:a16="http://schemas.microsoft.com/office/drawing/2014/main" id="{CA53BF0D-C934-4544-9790-EC9D6B1E0C20}"/>
              </a:ext>
            </a:extLst>
          </p:cNvPr>
          <p:cNvSpPr>
            <a:spLocks xmlns:a="http://schemas.openxmlformats.org/drawingml/2006/main" noGrp="1"/>
          </p:cNvSpPr>
          <p:nvPr/>
        </p:nvSpPr>
        <p:spPr>
          <a:xfrm xmlns:a="http://schemas.openxmlformats.org/drawingml/2006/main">
            <a:off x="685800" y="5857875"/>
            <a:ext cx="106680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0E24405-4A75-4BF6-AA28-C33A3EACB996}"/>
              </a:ext>
            </a:extLst>
          </p:cNvPr>
          <p:cNvSpPr>
            <a:spLocks xmlns:a="http://schemas.openxmlformats.org/drawingml/2006/main" noGrp="1"/>
          </p:cNvSpPr>
          <p:nvPr/>
        </p:nvSpPr>
        <p:spPr>
          <a:xfrm xmlns:a="http://schemas.openxmlformats.org/drawingml/2006/main">
            <a:off x="800100" y="5895975"/>
            <a:ext cx="83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121A2C"/>
                </a:solidFill>
                <a:latin typeface="Aptos Display"/>
                <a:ea typeface="Aptos Display"/>
                <a:cs typeface="Aptos Display"/>
              </a:defRPr>
            </a:pPr>
            <a:r>
              <a:rPr sz="825" b="1" i="0">
                <a:solidFill>
                  <a:srgbClr val="121A2C"/>
                </a:solidFill>
                <a:latin typeface="Aptos Display"/>
                <a:ea typeface="Aptos Display"/>
                <a:cs typeface="Aptos Display"/>
              </a:rPr>
              <a:t>TRUST RULE</a:t>
            </a:r>
          </a:p>
        </p:txBody>
      </p:sp>
      <p:sp>
        <p:nvSpPr>
          <p:cNvPr id="34" name="">
            <a:extLst xmlns:a="http://schemas.openxmlformats.org/drawingml/2006/main">
              <a:ext uri="{FF2B5EF4-FFF2-40B4-BE49-F238E27FC236}">
                <a16:creationId xmlns:a16="http://schemas.microsoft.com/office/drawing/2014/main" id="{D0D36A12-1B13-400C-B3F2-1AD42308191D}"/>
              </a:ext>
            </a:extLst>
          </p:cNvPr>
          <p:cNvSpPr>
            <a:spLocks xmlns:a="http://schemas.openxmlformats.org/drawingml/2006/main" noGrp="1"/>
          </p:cNvSpPr>
          <p:nvPr/>
        </p:nvSpPr>
        <p:spPr>
          <a:xfrm xmlns:a="http://schemas.openxmlformats.org/drawingml/2006/main">
            <a:off x="1924050" y="58769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FFFFFF"/>
                </a:solidFill>
                <a:latin typeface="Aptos Display"/>
                <a:ea typeface="Aptos Display"/>
                <a:cs typeface="Aptos Display"/>
              </a:defRPr>
            </a:pPr>
            <a:r>
              <a:rPr sz="1575" b="1" i="0">
                <a:solidFill>
                  <a:srgbClr val="FFFFFF"/>
                </a:solidFill>
                <a:latin typeface="Aptos Display"/>
                <a:ea typeface="Aptos Display"/>
                <a:cs typeface="Aptos Display"/>
              </a:rPr>
              <a:t>Private resident data is never the product.</a:t>
            </a:r>
          </a:p>
        </p:txBody>
      </p:sp>
      <p:sp>
        <p:nvSpPr>
          <p:cNvPr id="35" name="">
            <a:extLst xmlns:a="http://schemas.openxmlformats.org/drawingml/2006/main">
              <a:ext uri="{FF2B5EF4-FFF2-40B4-BE49-F238E27FC236}">
                <a16:creationId xmlns:a16="http://schemas.microsoft.com/office/drawing/2014/main" id="{124243C7-242E-4EAC-A5B1-CF95334E9193}"/>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C7D0E1"/>
                </a:solidFill>
                <a:latin typeface="Aptos"/>
                <a:ea typeface="Aptos"/>
                <a:cs typeface="Aptos"/>
              </a:defRPr>
            </a:pPr>
            <a:r>
              <a:rPr sz="825" b="0" i="0">
                <a:solidFill>
                  <a:srgbClr val="C7D0E1"/>
                </a:solidFill>
                <a:latin typeface="Aptos"/>
                <a:ea typeface="Aptos"/>
                <a:cs typeface="Aptos"/>
              </a:rPr>
              <a:t>Proposed model. Current core product positioning and pricing require validation.</a:t>
            </a:r>
          </a:p>
        </p:txBody>
      </p:sp>
      <p:sp>
        <p:nvSpPr>
          <p:cNvPr id="36" name="">
            <a:extLst xmlns:a="http://schemas.openxmlformats.org/drawingml/2006/main">
              <a:ext uri="{FF2B5EF4-FFF2-40B4-BE49-F238E27FC236}">
                <a16:creationId xmlns:a16="http://schemas.microsoft.com/office/drawing/2014/main" id="{2035DBDD-2999-4D6A-91BE-A2DA2AAF41F1}"/>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FFFFFF"/>
                </a:solidFill>
                <a:latin typeface="Aptos Display"/>
                <a:ea typeface="Aptos Display"/>
                <a:cs typeface="Aptos Display"/>
              </a:defRPr>
            </a:pPr>
            <a:r>
              <a:rPr sz="900" b="1" i="0">
                <a:solidFill>
                  <a:srgbClr val="FFFFFF"/>
                </a:solidFill>
                <a:latin typeface="Aptos Display"/>
                <a:ea typeface="Aptos Display"/>
                <a:cs typeface="Aptos Display"/>
              </a:rPr>
              <a:t>13</a:t>
            </a:r>
          </a:p>
        </p:txBody>
      </p:sp>
    </p:spTree>
    <p:extLst>
      <p:ext uri="{BB962C8B-B14F-4D97-AF65-F5344CB8AC3E}">
        <p14:creationId xmlns:p14="http://schemas.microsoft.com/office/powerpoint/2010/main" val="800833852"/>
      </p:ext>
    </p:extLst>
  </p:cSld>
  <p:transition spd="fast" advClick="1">
    <p:push dir="l"/>
  </p:transition>
</p:sld>
</file>

<file path=ppt/slides/slide14.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1CBD182-6902-4F0A-B343-033594E27F4B}"/>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GO-TO-MARKET</a:t>
            </a:r>
          </a:p>
        </p:txBody>
      </p:sp>
      <p:sp>
        <p:nvSpPr>
          <p:cNvPr id="2" name="">
            <a:extLst xmlns:a="http://schemas.openxmlformats.org/drawingml/2006/main">
              <a:ext uri="{FF2B5EF4-FFF2-40B4-BE49-F238E27FC236}">
                <a16:creationId xmlns:a16="http://schemas.microsoft.com/office/drawing/2014/main" id="{3CE0265B-72A3-423A-84F5-837EB5E46FC7}"/>
              </a:ext>
            </a:extLst>
          </p:cNvPr>
          <p:cNvSpPr>
            <a:spLocks xmlns:a="http://schemas.openxmlformats.org/drawingml/2006/main" noGrp="1"/>
          </p:cNvSpPr>
          <p:nvPr/>
        </p:nvSpPr>
        <p:spPr>
          <a:xfrm xmlns:a="http://schemas.openxmlformats.org/drawingml/2006/main">
            <a:off x="685800" y="74295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750" b="1" i="0">
                <a:solidFill>
                  <a:srgbClr val="182033"/>
                </a:solidFill>
                <a:latin typeface="Aptos Display"/>
                <a:ea typeface="Aptos Display"/>
                <a:cs typeface="Aptos Display"/>
              </a:defRPr>
            </a:pPr>
            <a:r>
              <a:rPr sz="3750" b="1" i="0">
                <a:solidFill>
                  <a:srgbClr val="182033"/>
                </a:solidFill>
                <a:latin typeface="Aptos Display"/>
                <a:ea typeface="Aptos Display"/>
                <a:cs typeface="Aptos Display"/>
              </a:rPr>
              <a:t>Win the neighborhood before winning the city.</a:t>
            </a:r>
          </a:p>
        </p:txBody>
      </p:sp>
      <p:sp>
        <p:nvSpPr>
          <p:cNvPr id="3" name="">
            <a:extLst xmlns:a="http://schemas.openxmlformats.org/drawingml/2006/main">
              <a:ext uri="{FF2B5EF4-FFF2-40B4-BE49-F238E27FC236}">
                <a16:creationId xmlns:a16="http://schemas.microsoft.com/office/drawing/2014/main" id="{B88C20C9-8343-492A-85BE-3869067670AE}"/>
              </a:ext>
            </a:extLst>
          </p:cNvPr>
          <p:cNvSpPr>
            <a:spLocks xmlns:a="http://schemas.openxmlformats.org/drawingml/2006/main" noGrp="1"/>
          </p:cNvSpPr>
          <p:nvPr/>
        </p:nvSpPr>
        <p:spPr>
          <a:xfrm xmlns:a="http://schemas.openxmlformats.org/drawingml/2006/main">
            <a:off x="2314575" y="2571750"/>
            <a:ext cx="523875" cy="0"/>
          </a:xfrm>
          <a:prstGeom xmlns:a="http://schemas.openxmlformats.org/drawingml/2006/main" prst="line">
            <a:avLst/>
          </a:prstGeom>
          <a:noFill xmlns:a="http://schemas.openxmlformats.org/drawingml/2006/main"/>
          <a:ln xmlns:a="http://schemas.openxmlformats.org/drawingml/2006/main" w="28575">
            <a:solidFill>
              <a:srgbClr val="D8D2C8"/>
            </a:solidFill>
            <a:prstDash val="solid"/>
          </a:ln>
        </p:spPr>
      </p:sp>
      <p:sp>
        <p:nvSpPr>
          <p:cNvPr id="4" name="">
            <a:extLst xmlns:a="http://schemas.openxmlformats.org/drawingml/2006/main">
              <a:ext uri="{FF2B5EF4-FFF2-40B4-BE49-F238E27FC236}">
                <a16:creationId xmlns:a16="http://schemas.microsoft.com/office/drawing/2014/main" id="{B1DF8DA2-E650-4554-ACC8-972052126EDA}"/>
              </a:ext>
            </a:extLst>
          </p:cNvPr>
          <p:cNvSpPr>
            <a:spLocks xmlns:a="http://schemas.openxmlformats.org/drawingml/2006/main" noGrp="1"/>
          </p:cNvSpPr>
          <p:nvPr/>
        </p:nvSpPr>
        <p:spPr>
          <a:xfrm xmlns:a="http://schemas.openxmlformats.org/drawingml/2006/main">
            <a:off x="685800" y="2190750"/>
            <a:ext cx="762000" cy="762000"/>
          </a:xfrm>
          <a:prstGeom xmlns:a="http://schemas.openxmlformats.org/drawingml/2006/main" prst="ellipse">
            <a:avLst/>
          </a:prstGeom>
          <a:solidFill xmlns:a="http://schemas.openxmlformats.org/drawingml/2006/main">
            <a:srgbClr val="121A2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094A64-D863-41EB-8C73-FA0DEC0F8983}"/>
              </a:ext>
            </a:extLst>
          </p:cNvPr>
          <p:cNvSpPr>
            <a:spLocks xmlns:a="http://schemas.openxmlformats.org/drawingml/2006/main" noGrp="1"/>
          </p:cNvSpPr>
          <p:nvPr/>
        </p:nvSpPr>
        <p:spPr>
          <a:xfrm xmlns:a="http://schemas.openxmlformats.org/drawingml/2006/main">
            <a:off x="685800" y="23622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01</a:t>
            </a:r>
          </a:p>
        </p:txBody>
      </p:sp>
      <p:sp>
        <p:nvSpPr>
          <p:cNvPr id="6" name="">
            <a:extLst xmlns:a="http://schemas.openxmlformats.org/drawingml/2006/main">
              <a:ext uri="{FF2B5EF4-FFF2-40B4-BE49-F238E27FC236}">
                <a16:creationId xmlns:a16="http://schemas.microsoft.com/office/drawing/2014/main" id="{143A4626-F095-48B5-9EFD-6FA23210A482}"/>
              </a:ext>
            </a:extLst>
          </p:cNvPr>
          <p:cNvSpPr>
            <a:spLocks xmlns:a="http://schemas.openxmlformats.org/drawingml/2006/main" noGrp="1"/>
          </p:cNvSpPr>
          <p:nvPr/>
        </p:nvSpPr>
        <p:spPr>
          <a:xfrm xmlns:a="http://schemas.openxmlformats.org/drawingml/2006/main">
            <a:off x="638175" y="31337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82033"/>
                </a:solidFill>
                <a:latin typeface="Aptos Display"/>
                <a:ea typeface="Aptos Display"/>
                <a:cs typeface="Aptos Display"/>
              </a:defRPr>
            </a:pPr>
            <a:r>
              <a:rPr sz="1725" b="1" i="0">
                <a:solidFill>
                  <a:srgbClr val="182033"/>
                </a:solidFill>
                <a:latin typeface="Aptos Display"/>
                <a:ea typeface="Aptos Display"/>
                <a:cs typeface="Aptos Display"/>
              </a:rPr>
              <a:t>Land</a:t>
            </a:r>
          </a:p>
        </p:txBody>
      </p:sp>
      <p:sp>
        <p:nvSpPr>
          <p:cNvPr id="7" name="">
            <a:extLst xmlns:a="http://schemas.openxmlformats.org/drawingml/2006/main">
              <a:ext uri="{FF2B5EF4-FFF2-40B4-BE49-F238E27FC236}">
                <a16:creationId xmlns:a16="http://schemas.microsoft.com/office/drawing/2014/main" id="{D9E30ACD-53D7-4DD7-A9FA-DC428D7C2D41}"/>
              </a:ext>
            </a:extLst>
          </p:cNvPr>
          <p:cNvSpPr>
            <a:spLocks xmlns:a="http://schemas.openxmlformats.org/drawingml/2006/main" noGrp="1"/>
          </p:cNvSpPr>
          <p:nvPr/>
        </p:nvSpPr>
        <p:spPr>
          <a:xfrm xmlns:a="http://schemas.openxmlformats.org/drawingml/2006/main">
            <a:off x="381000" y="351472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B6474"/>
                </a:solidFill>
                <a:latin typeface="Aptos"/>
                <a:ea typeface="Aptos"/>
                <a:cs typeface="Aptos"/>
              </a:defRPr>
            </a:pPr>
            <a:r>
              <a:rPr sz="1200" b="0" i="0">
                <a:solidFill>
                  <a:srgbClr val="5B6474"/>
                </a:solidFill>
                <a:latin typeface="Aptos"/>
                <a:ea typeface="Aptos"/>
                <a:cs typeface="Aptos"/>
              </a:rPr>
              <a:t>Admin champion</a:t>
            </a:r>
          </a:p>
        </p:txBody>
      </p:sp>
      <p:sp>
        <p:nvSpPr>
          <p:cNvPr id="8" name="">
            <a:extLst xmlns:a="http://schemas.openxmlformats.org/drawingml/2006/main">
              <a:ext uri="{FF2B5EF4-FFF2-40B4-BE49-F238E27FC236}">
                <a16:creationId xmlns:a16="http://schemas.microsoft.com/office/drawing/2014/main" id="{907C09ED-C7F1-4D46-9CDE-B6709DDA2A2D}"/>
              </a:ext>
            </a:extLst>
          </p:cNvPr>
          <p:cNvSpPr>
            <a:spLocks xmlns:a="http://schemas.openxmlformats.org/drawingml/2006/main" noGrp="1"/>
          </p:cNvSpPr>
          <p:nvPr/>
        </p:nvSpPr>
        <p:spPr>
          <a:xfrm xmlns:a="http://schemas.openxmlformats.org/drawingml/2006/main">
            <a:off x="4467225" y="2571750"/>
            <a:ext cx="523875" cy="0"/>
          </a:xfrm>
          <a:prstGeom xmlns:a="http://schemas.openxmlformats.org/drawingml/2006/main" prst="line">
            <a:avLst/>
          </a:prstGeom>
          <a:noFill xmlns:a="http://schemas.openxmlformats.org/drawingml/2006/main"/>
          <a:ln xmlns:a="http://schemas.openxmlformats.org/drawingml/2006/main" w="28575">
            <a:solidFill>
              <a:srgbClr val="D8D2C8"/>
            </a:solidFill>
            <a:prstDash val="solid"/>
          </a:ln>
        </p:spPr>
      </p:sp>
      <p:sp>
        <p:nvSpPr>
          <p:cNvPr id="9" name="">
            <a:extLst xmlns:a="http://schemas.openxmlformats.org/drawingml/2006/main">
              <a:ext uri="{FF2B5EF4-FFF2-40B4-BE49-F238E27FC236}">
                <a16:creationId xmlns:a16="http://schemas.microsoft.com/office/drawing/2014/main" id="{105224C9-F5B6-4643-93D7-906B51401DE1}"/>
              </a:ext>
            </a:extLst>
          </p:cNvPr>
          <p:cNvSpPr>
            <a:spLocks xmlns:a="http://schemas.openxmlformats.org/drawingml/2006/main" noGrp="1"/>
          </p:cNvSpPr>
          <p:nvPr/>
        </p:nvSpPr>
        <p:spPr>
          <a:xfrm xmlns:a="http://schemas.openxmlformats.org/drawingml/2006/main">
            <a:off x="2838450" y="2190750"/>
            <a:ext cx="762000" cy="76200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147AC8F-0A9A-410B-AFF5-6B1AA62E2D04}"/>
              </a:ext>
            </a:extLst>
          </p:cNvPr>
          <p:cNvSpPr>
            <a:spLocks xmlns:a="http://schemas.openxmlformats.org/drawingml/2006/main" noGrp="1"/>
          </p:cNvSpPr>
          <p:nvPr/>
        </p:nvSpPr>
        <p:spPr>
          <a:xfrm xmlns:a="http://schemas.openxmlformats.org/drawingml/2006/main">
            <a:off x="2838450" y="23622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E8F07582-F042-4630-8035-61637EC14B91}"/>
              </a:ext>
            </a:extLst>
          </p:cNvPr>
          <p:cNvSpPr>
            <a:spLocks xmlns:a="http://schemas.openxmlformats.org/drawingml/2006/main" noGrp="1"/>
          </p:cNvSpPr>
          <p:nvPr/>
        </p:nvSpPr>
        <p:spPr>
          <a:xfrm xmlns:a="http://schemas.openxmlformats.org/drawingml/2006/main">
            <a:off x="2790825" y="31337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82033"/>
                </a:solidFill>
                <a:latin typeface="Aptos Display"/>
                <a:ea typeface="Aptos Display"/>
                <a:cs typeface="Aptos Display"/>
              </a:defRPr>
            </a:pPr>
            <a:r>
              <a:rPr sz="1725" b="1" i="0">
                <a:solidFill>
                  <a:srgbClr val="182033"/>
                </a:solidFill>
                <a:latin typeface="Aptos Display"/>
                <a:ea typeface="Aptos Display"/>
                <a:cs typeface="Aptos Display"/>
              </a:rPr>
              <a:t>Verify</a:t>
            </a:r>
          </a:p>
        </p:txBody>
      </p:sp>
      <p:sp>
        <p:nvSpPr>
          <p:cNvPr id="12" name="">
            <a:extLst xmlns:a="http://schemas.openxmlformats.org/drawingml/2006/main">
              <a:ext uri="{FF2B5EF4-FFF2-40B4-BE49-F238E27FC236}">
                <a16:creationId xmlns:a16="http://schemas.microsoft.com/office/drawing/2014/main" id="{5EAC6482-E532-4301-8871-016A58CC3E84}"/>
              </a:ext>
            </a:extLst>
          </p:cNvPr>
          <p:cNvSpPr>
            <a:spLocks xmlns:a="http://schemas.openxmlformats.org/drawingml/2006/main" noGrp="1"/>
          </p:cNvSpPr>
          <p:nvPr/>
        </p:nvSpPr>
        <p:spPr>
          <a:xfrm xmlns:a="http://schemas.openxmlformats.org/drawingml/2006/main">
            <a:off x="2533650" y="351472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B6474"/>
                </a:solidFill>
                <a:latin typeface="Aptos"/>
                <a:ea typeface="Aptos"/>
                <a:cs typeface="Aptos"/>
              </a:defRPr>
            </a:pPr>
            <a:r>
              <a:rPr sz="1200" b="0" i="0">
                <a:solidFill>
                  <a:srgbClr val="5B6474"/>
                </a:solidFill>
                <a:latin typeface="Aptos"/>
                <a:ea typeface="Aptos"/>
                <a:cs typeface="Aptos"/>
              </a:rPr>
              <a:t>Households</a:t>
            </a:r>
          </a:p>
        </p:txBody>
      </p:sp>
      <p:sp>
        <p:nvSpPr>
          <p:cNvPr id="13" name="">
            <a:extLst xmlns:a="http://schemas.openxmlformats.org/drawingml/2006/main">
              <a:ext uri="{FF2B5EF4-FFF2-40B4-BE49-F238E27FC236}">
                <a16:creationId xmlns:a16="http://schemas.microsoft.com/office/drawing/2014/main" id="{18A96DDE-D7E2-416F-9C71-2B837DD2CF37}"/>
              </a:ext>
            </a:extLst>
          </p:cNvPr>
          <p:cNvSpPr>
            <a:spLocks xmlns:a="http://schemas.openxmlformats.org/drawingml/2006/main" noGrp="1"/>
          </p:cNvSpPr>
          <p:nvPr/>
        </p:nvSpPr>
        <p:spPr>
          <a:xfrm xmlns:a="http://schemas.openxmlformats.org/drawingml/2006/main">
            <a:off x="6619875" y="2571750"/>
            <a:ext cx="523875" cy="0"/>
          </a:xfrm>
          <a:prstGeom xmlns:a="http://schemas.openxmlformats.org/drawingml/2006/main" prst="line">
            <a:avLst/>
          </a:prstGeom>
          <a:noFill xmlns:a="http://schemas.openxmlformats.org/drawingml/2006/main"/>
          <a:ln xmlns:a="http://schemas.openxmlformats.org/drawingml/2006/main" w="28575">
            <a:solidFill>
              <a:srgbClr val="D8D2C8"/>
            </a:solidFill>
            <a:prstDash val="solid"/>
          </a:ln>
        </p:spPr>
      </p:sp>
      <p:sp>
        <p:nvSpPr>
          <p:cNvPr id="14" name="">
            <a:extLst xmlns:a="http://schemas.openxmlformats.org/drawingml/2006/main">
              <a:ext uri="{FF2B5EF4-FFF2-40B4-BE49-F238E27FC236}">
                <a16:creationId xmlns:a16="http://schemas.microsoft.com/office/drawing/2014/main" id="{FC2D6977-48CE-41F1-B620-9EC15FC29AF5}"/>
              </a:ext>
            </a:extLst>
          </p:cNvPr>
          <p:cNvSpPr>
            <a:spLocks xmlns:a="http://schemas.openxmlformats.org/drawingml/2006/main" noGrp="1"/>
          </p:cNvSpPr>
          <p:nvPr/>
        </p:nvSpPr>
        <p:spPr>
          <a:xfrm xmlns:a="http://schemas.openxmlformats.org/drawingml/2006/main">
            <a:off x="4991100" y="2190750"/>
            <a:ext cx="762000" cy="762000"/>
          </a:xfrm>
          <a:prstGeom xmlns:a="http://schemas.openxmlformats.org/drawingml/2006/main" prst="ellipse">
            <a:avLst/>
          </a:prstGeom>
          <a:solidFill xmlns:a="http://schemas.openxmlformats.org/drawingml/2006/main">
            <a:srgbClr val="121A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6E9D89F-3335-442F-A19D-385D4F90C2B3}"/>
              </a:ext>
            </a:extLst>
          </p:cNvPr>
          <p:cNvSpPr>
            <a:spLocks xmlns:a="http://schemas.openxmlformats.org/drawingml/2006/main" noGrp="1"/>
          </p:cNvSpPr>
          <p:nvPr/>
        </p:nvSpPr>
        <p:spPr>
          <a:xfrm xmlns:a="http://schemas.openxmlformats.org/drawingml/2006/main">
            <a:off x="4991100" y="23622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03</a:t>
            </a:r>
          </a:p>
        </p:txBody>
      </p:sp>
      <p:sp>
        <p:nvSpPr>
          <p:cNvPr id="16" name="">
            <a:extLst xmlns:a="http://schemas.openxmlformats.org/drawingml/2006/main">
              <a:ext uri="{FF2B5EF4-FFF2-40B4-BE49-F238E27FC236}">
                <a16:creationId xmlns:a16="http://schemas.microsoft.com/office/drawing/2014/main" id="{0D34FCCD-64DB-4299-8BED-8F5C195A3F47}"/>
              </a:ext>
            </a:extLst>
          </p:cNvPr>
          <p:cNvSpPr>
            <a:spLocks xmlns:a="http://schemas.openxmlformats.org/drawingml/2006/main" noGrp="1"/>
          </p:cNvSpPr>
          <p:nvPr/>
        </p:nvSpPr>
        <p:spPr>
          <a:xfrm xmlns:a="http://schemas.openxmlformats.org/drawingml/2006/main">
            <a:off x="4943475" y="31337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82033"/>
                </a:solidFill>
                <a:latin typeface="Aptos Display"/>
                <a:ea typeface="Aptos Display"/>
                <a:cs typeface="Aptos Display"/>
              </a:defRPr>
            </a:pPr>
            <a:r>
              <a:rPr sz="1725" b="1" i="0">
                <a:solidFill>
                  <a:srgbClr val="182033"/>
                </a:solidFill>
                <a:latin typeface="Aptos Display"/>
                <a:ea typeface="Aptos Display"/>
                <a:cs typeface="Aptos Display"/>
              </a:rPr>
              <a:t>Seed</a:t>
            </a:r>
          </a:p>
        </p:txBody>
      </p:sp>
      <p:sp>
        <p:nvSpPr>
          <p:cNvPr id="17" name="">
            <a:extLst xmlns:a="http://schemas.openxmlformats.org/drawingml/2006/main">
              <a:ext uri="{FF2B5EF4-FFF2-40B4-BE49-F238E27FC236}">
                <a16:creationId xmlns:a16="http://schemas.microsoft.com/office/drawing/2014/main" id="{0188C03B-56EE-4F3F-A8EE-3AC205C4ACF3}"/>
              </a:ext>
            </a:extLst>
          </p:cNvPr>
          <p:cNvSpPr>
            <a:spLocks xmlns:a="http://schemas.openxmlformats.org/drawingml/2006/main" noGrp="1"/>
          </p:cNvSpPr>
          <p:nvPr/>
        </p:nvSpPr>
        <p:spPr>
          <a:xfrm xmlns:a="http://schemas.openxmlformats.org/drawingml/2006/main">
            <a:off x="4686300" y="351472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B6474"/>
                </a:solidFill>
                <a:latin typeface="Aptos"/>
                <a:ea typeface="Aptos"/>
                <a:cs typeface="Aptos"/>
              </a:defRPr>
            </a:pPr>
            <a:r>
              <a:rPr sz="1200" b="0" i="0">
                <a:solidFill>
                  <a:srgbClr val="5B6474"/>
                </a:solidFill>
                <a:latin typeface="Aptos"/>
                <a:ea typeface="Aptos"/>
                <a:cs typeface="Aptos"/>
              </a:rPr>
              <a:t>Essential utility</a:t>
            </a:r>
          </a:p>
        </p:txBody>
      </p:sp>
      <p:sp>
        <p:nvSpPr>
          <p:cNvPr id="18" name="">
            <a:extLst xmlns:a="http://schemas.openxmlformats.org/drawingml/2006/main">
              <a:ext uri="{FF2B5EF4-FFF2-40B4-BE49-F238E27FC236}">
                <a16:creationId xmlns:a16="http://schemas.microsoft.com/office/drawing/2014/main" id="{4D41B84D-1E8C-49CB-AE72-A743653541E1}"/>
              </a:ext>
            </a:extLst>
          </p:cNvPr>
          <p:cNvSpPr>
            <a:spLocks xmlns:a="http://schemas.openxmlformats.org/drawingml/2006/main" noGrp="1"/>
          </p:cNvSpPr>
          <p:nvPr/>
        </p:nvSpPr>
        <p:spPr>
          <a:xfrm xmlns:a="http://schemas.openxmlformats.org/drawingml/2006/main">
            <a:off x="8772525" y="2571750"/>
            <a:ext cx="523875" cy="0"/>
          </a:xfrm>
          <a:prstGeom xmlns:a="http://schemas.openxmlformats.org/drawingml/2006/main" prst="line">
            <a:avLst/>
          </a:prstGeom>
          <a:noFill xmlns:a="http://schemas.openxmlformats.org/drawingml/2006/main"/>
          <a:ln xmlns:a="http://schemas.openxmlformats.org/drawingml/2006/main" w="28575">
            <a:solidFill>
              <a:srgbClr val="D8D2C8"/>
            </a:solidFill>
            <a:prstDash val="solid"/>
          </a:ln>
        </p:spPr>
      </p:sp>
      <p:sp>
        <p:nvSpPr>
          <p:cNvPr id="19" name="">
            <a:extLst xmlns:a="http://schemas.openxmlformats.org/drawingml/2006/main">
              <a:ext uri="{FF2B5EF4-FFF2-40B4-BE49-F238E27FC236}">
                <a16:creationId xmlns:a16="http://schemas.microsoft.com/office/drawing/2014/main" id="{73A06922-2A7D-4487-9D70-775441AD1E39}"/>
              </a:ext>
            </a:extLst>
          </p:cNvPr>
          <p:cNvSpPr>
            <a:spLocks xmlns:a="http://schemas.openxmlformats.org/drawingml/2006/main" noGrp="1"/>
          </p:cNvSpPr>
          <p:nvPr/>
        </p:nvSpPr>
        <p:spPr>
          <a:xfrm xmlns:a="http://schemas.openxmlformats.org/drawingml/2006/main">
            <a:off x="7143750" y="2190750"/>
            <a:ext cx="762000" cy="76200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8BA54C-0C24-4AF7-98D1-2CAFCA673A60}"/>
              </a:ext>
            </a:extLst>
          </p:cNvPr>
          <p:cNvSpPr>
            <a:spLocks xmlns:a="http://schemas.openxmlformats.org/drawingml/2006/main" noGrp="1"/>
          </p:cNvSpPr>
          <p:nvPr/>
        </p:nvSpPr>
        <p:spPr>
          <a:xfrm xmlns:a="http://schemas.openxmlformats.org/drawingml/2006/main">
            <a:off x="7143750" y="23622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04</a:t>
            </a:r>
          </a:p>
        </p:txBody>
      </p:sp>
      <p:sp>
        <p:nvSpPr>
          <p:cNvPr id="21" name="">
            <a:extLst xmlns:a="http://schemas.openxmlformats.org/drawingml/2006/main">
              <a:ext uri="{FF2B5EF4-FFF2-40B4-BE49-F238E27FC236}">
                <a16:creationId xmlns:a16="http://schemas.microsoft.com/office/drawing/2014/main" id="{62A8E301-46F3-44C9-BBF3-DE8FB2F06F35}"/>
              </a:ext>
            </a:extLst>
          </p:cNvPr>
          <p:cNvSpPr>
            <a:spLocks xmlns:a="http://schemas.openxmlformats.org/drawingml/2006/main" noGrp="1"/>
          </p:cNvSpPr>
          <p:nvPr/>
        </p:nvSpPr>
        <p:spPr>
          <a:xfrm xmlns:a="http://schemas.openxmlformats.org/drawingml/2006/main">
            <a:off x="7096125" y="31337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82033"/>
                </a:solidFill>
                <a:latin typeface="Aptos Display"/>
                <a:ea typeface="Aptos Display"/>
                <a:cs typeface="Aptos Display"/>
              </a:defRPr>
            </a:pPr>
            <a:r>
              <a:rPr sz="1725" b="1" i="0">
                <a:solidFill>
                  <a:srgbClr val="182033"/>
                </a:solidFill>
                <a:latin typeface="Aptos Display"/>
                <a:ea typeface="Aptos Display"/>
                <a:cs typeface="Aptos Display"/>
              </a:rPr>
              <a:t>Prove</a:t>
            </a:r>
          </a:p>
        </p:txBody>
      </p:sp>
      <p:sp>
        <p:nvSpPr>
          <p:cNvPr id="22" name="">
            <a:extLst xmlns:a="http://schemas.openxmlformats.org/drawingml/2006/main">
              <a:ext uri="{FF2B5EF4-FFF2-40B4-BE49-F238E27FC236}">
                <a16:creationId xmlns:a16="http://schemas.microsoft.com/office/drawing/2014/main" id="{FDF4E67F-7EC9-4744-AE9C-641420BBD77C}"/>
              </a:ext>
            </a:extLst>
          </p:cNvPr>
          <p:cNvSpPr>
            <a:spLocks xmlns:a="http://schemas.openxmlformats.org/drawingml/2006/main" noGrp="1"/>
          </p:cNvSpPr>
          <p:nvPr/>
        </p:nvSpPr>
        <p:spPr>
          <a:xfrm xmlns:a="http://schemas.openxmlformats.org/drawingml/2006/main">
            <a:off x="6838950" y="351472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B6474"/>
                </a:solidFill>
                <a:latin typeface="Aptos"/>
                <a:ea typeface="Aptos"/>
                <a:cs typeface="Aptos"/>
              </a:defRPr>
            </a:pPr>
            <a:r>
              <a:rPr sz="1200" b="0" i="0">
                <a:solidFill>
                  <a:srgbClr val="5B6474"/>
                </a:solidFill>
                <a:latin typeface="Aptos"/>
                <a:ea typeface="Aptos"/>
                <a:cs typeface="Aptos"/>
              </a:rPr>
              <a:t>Weekly habits</a:t>
            </a:r>
          </a:p>
        </p:txBody>
      </p:sp>
      <p:sp>
        <p:nvSpPr>
          <p:cNvPr id="23" name="">
            <a:extLst xmlns:a="http://schemas.openxmlformats.org/drawingml/2006/main">
              <a:ext uri="{FF2B5EF4-FFF2-40B4-BE49-F238E27FC236}">
                <a16:creationId xmlns:a16="http://schemas.microsoft.com/office/drawing/2014/main" id="{69EBA12F-8EBF-4050-965A-058B0CB02D2C}"/>
              </a:ext>
            </a:extLst>
          </p:cNvPr>
          <p:cNvSpPr>
            <a:spLocks xmlns:a="http://schemas.openxmlformats.org/drawingml/2006/main" noGrp="1"/>
          </p:cNvSpPr>
          <p:nvPr/>
        </p:nvSpPr>
        <p:spPr>
          <a:xfrm xmlns:a="http://schemas.openxmlformats.org/drawingml/2006/main">
            <a:off x="9296400" y="2190750"/>
            <a:ext cx="762000" cy="762000"/>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546B52D-35C6-4D71-983A-AA88316D7C94}"/>
              </a:ext>
            </a:extLst>
          </p:cNvPr>
          <p:cNvSpPr>
            <a:spLocks xmlns:a="http://schemas.openxmlformats.org/drawingml/2006/main" noGrp="1"/>
          </p:cNvSpPr>
          <p:nvPr/>
        </p:nvSpPr>
        <p:spPr>
          <a:xfrm xmlns:a="http://schemas.openxmlformats.org/drawingml/2006/main">
            <a:off x="9296400" y="23622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05</a:t>
            </a:r>
          </a:p>
        </p:txBody>
      </p:sp>
      <p:sp>
        <p:nvSpPr>
          <p:cNvPr id="25" name="">
            <a:extLst xmlns:a="http://schemas.openxmlformats.org/drawingml/2006/main">
              <a:ext uri="{FF2B5EF4-FFF2-40B4-BE49-F238E27FC236}">
                <a16:creationId xmlns:a16="http://schemas.microsoft.com/office/drawing/2014/main" id="{8F6FC3CF-4B2C-4E91-ADC0-6869720F7851}"/>
              </a:ext>
            </a:extLst>
          </p:cNvPr>
          <p:cNvSpPr>
            <a:spLocks xmlns:a="http://schemas.openxmlformats.org/drawingml/2006/main" noGrp="1"/>
          </p:cNvSpPr>
          <p:nvPr/>
        </p:nvSpPr>
        <p:spPr>
          <a:xfrm xmlns:a="http://schemas.openxmlformats.org/drawingml/2006/main">
            <a:off x="9248775" y="31337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182033"/>
                </a:solidFill>
                <a:latin typeface="Aptos Display"/>
                <a:ea typeface="Aptos Display"/>
                <a:cs typeface="Aptos Display"/>
              </a:defRPr>
            </a:pPr>
            <a:r>
              <a:rPr sz="1725" b="1" i="0">
                <a:solidFill>
                  <a:srgbClr val="182033"/>
                </a:solidFill>
                <a:latin typeface="Aptos Display"/>
                <a:ea typeface="Aptos Display"/>
                <a:cs typeface="Aptos Display"/>
              </a:rPr>
              <a:t>Expand</a:t>
            </a:r>
          </a:p>
        </p:txBody>
      </p:sp>
      <p:sp>
        <p:nvSpPr>
          <p:cNvPr id="26" name="">
            <a:extLst xmlns:a="http://schemas.openxmlformats.org/drawingml/2006/main">
              <a:ext uri="{FF2B5EF4-FFF2-40B4-BE49-F238E27FC236}">
                <a16:creationId xmlns:a16="http://schemas.microsoft.com/office/drawing/2014/main" id="{D66A8B67-E4AD-4584-B5CA-E3E8ABED5663}"/>
              </a:ext>
            </a:extLst>
          </p:cNvPr>
          <p:cNvSpPr>
            <a:spLocks xmlns:a="http://schemas.openxmlformats.org/drawingml/2006/main" noGrp="1"/>
          </p:cNvSpPr>
          <p:nvPr/>
        </p:nvSpPr>
        <p:spPr>
          <a:xfrm xmlns:a="http://schemas.openxmlformats.org/drawingml/2006/main">
            <a:off x="8991600" y="3514725"/>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B6474"/>
                </a:solidFill>
                <a:latin typeface="Aptos"/>
                <a:ea typeface="Aptos"/>
                <a:cs typeface="Aptos"/>
              </a:defRPr>
            </a:pPr>
            <a:r>
              <a:rPr sz="1200" b="0" i="0">
                <a:solidFill>
                  <a:srgbClr val="5B6474"/>
                </a:solidFill>
                <a:latin typeface="Aptos"/>
                <a:ea typeface="Aptos"/>
                <a:cs typeface="Aptos"/>
              </a:rPr>
              <a:t>Adjacent societies</a:t>
            </a:r>
          </a:p>
        </p:txBody>
      </p:sp>
      <p:sp>
        <p:nvSpPr>
          <p:cNvPr id="27" name="">
            <a:extLst xmlns:a="http://schemas.openxmlformats.org/drawingml/2006/main">
              <a:ext uri="{FF2B5EF4-FFF2-40B4-BE49-F238E27FC236}">
                <a16:creationId xmlns:a16="http://schemas.microsoft.com/office/drawing/2014/main" id="{0922456F-CF4B-4AE3-BD49-2B5736D2ABAE}"/>
              </a:ext>
            </a:extLst>
          </p:cNvPr>
          <p:cNvSpPr>
            <a:spLocks xmlns:a="http://schemas.openxmlformats.org/drawingml/2006/main" noGrp="1"/>
          </p:cNvSpPr>
          <p:nvPr/>
        </p:nvSpPr>
        <p:spPr>
          <a:xfrm xmlns:a="http://schemas.openxmlformats.org/drawingml/2006/main">
            <a:off x="685800" y="4400550"/>
            <a:ext cx="10820400" cy="1276350"/>
          </a:xfrm>
          <a:prstGeom xmlns:a="http://schemas.openxmlformats.org/drawingml/2006/main" prst="roundRect">
            <a:avLst>
              <a:gd name="adj" fmla="val 16418"/>
            </a:avLst>
          </a:prstGeom>
          <a:solidFill xmlns:a="http://schemas.openxmlformats.org/drawingml/2006/main">
            <a:srgbClr val="121A2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CDDDC90-F118-4CB6-9B3B-4498D2A3B23A}"/>
              </a:ext>
            </a:extLst>
          </p:cNvPr>
          <p:cNvSpPr>
            <a:spLocks xmlns:a="http://schemas.openxmlformats.org/drawingml/2006/main" noGrp="1"/>
          </p:cNvSpPr>
          <p:nvPr/>
        </p:nvSpPr>
        <p:spPr>
          <a:xfrm xmlns:a="http://schemas.openxmlformats.org/drawingml/2006/main">
            <a:off x="971550" y="46672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FF6B5E"/>
                </a:solidFill>
                <a:latin typeface="Aptos Display"/>
                <a:ea typeface="Aptos Display"/>
                <a:cs typeface="Aptos Display"/>
              </a:defRPr>
            </a:pPr>
            <a:r>
              <a:rPr sz="975" b="1" i="0">
                <a:solidFill>
                  <a:srgbClr val="FF6B5E"/>
                </a:solidFill>
                <a:latin typeface="Aptos Display"/>
                <a:ea typeface="Aptos Display"/>
                <a:cs typeface="Aptos Display"/>
              </a:rPr>
              <a:t>CITY-CLUSTER PLAYBOOK</a:t>
            </a:r>
          </a:p>
        </p:txBody>
      </p:sp>
      <p:sp>
        <p:nvSpPr>
          <p:cNvPr id="29" name="">
            <a:extLst xmlns:a="http://schemas.openxmlformats.org/drawingml/2006/main">
              <a:ext uri="{FF2B5EF4-FFF2-40B4-BE49-F238E27FC236}">
                <a16:creationId xmlns:a16="http://schemas.microsoft.com/office/drawing/2014/main" id="{8DA9F359-138B-49A5-9975-63B3F23F3989}"/>
              </a:ext>
            </a:extLst>
          </p:cNvPr>
          <p:cNvSpPr>
            <a:spLocks xmlns:a="http://schemas.openxmlformats.org/drawingml/2006/main" noGrp="1"/>
          </p:cNvSpPr>
          <p:nvPr/>
        </p:nvSpPr>
        <p:spPr>
          <a:xfrm xmlns:a="http://schemas.openxmlformats.org/drawingml/2006/main">
            <a:off x="971550" y="5010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FFFFFF"/>
                </a:solidFill>
                <a:latin typeface="Aptos Display"/>
                <a:ea typeface="Aptos Display"/>
                <a:cs typeface="Aptos Display"/>
              </a:defRPr>
            </a:pPr>
            <a:r>
              <a:rPr sz="1575" b="1" i="0">
                <a:solidFill>
                  <a:srgbClr val="FFFFFF"/>
                </a:solidFill>
                <a:latin typeface="Aptos Display"/>
                <a:ea typeface="Aptos Display"/>
                <a:cs typeface="Aptos Display"/>
              </a:rPr>
              <a:t>Islamabad / Rawalpindi</a:t>
            </a:r>
          </a:p>
        </p:txBody>
      </p:sp>
      <p:sp>
        <p:nvSpPr>
          <p:cNvPr id="30" name="">
            <a:extLst xmlns:a="http://schemas.openxmlformats.org/drawingml/2006/main">
              <a:ext uri="{FF2B5EF4-FFF2-40B4-BE49-F238E27FC236}">
                <a16:creationId xmlns:a16="http://schemas.microsoft.com/office/drawing/2014/main" id="{A8736A68-AC38-4785-8138-259EC0C5B801}"/>
              </a:ext>
            </a:extLst>
          </p:cNvPr>
          <p:cNvSpPr>
            <a:spLocks xmlns:a="http://schemas.openxmlformats.org/drawingml/2006/main" noGrp="1"/>
          </p:cNvSpPr>
          <p:nvPr/>
        </p:nvSpPr>
        <p:spPr>
          <a:xfrm xmlns:a="http://schemas.openxmlformats.org/drawingml/2006/main">
            <a:off x="4057650" y="50101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FFFFFF"/>
                </a:solidFill>
                <a:latin typeface="Aptos Display"/>
                <a:ea typeface="Aptos Display"/>
                <a:cs typeface="Aptos Display"/>
              </a:defRPr>
            </a:pPr>
            <a:r>
              <a:rPr sz="1575" b="1" i="0">
                <a:solidFill>
                  <a:srgbClr val="FFFFFF"/>
                </a:solidFill>
                <a:latin typeface="Aptos Display"/>
                <a:ea typeface="Aptos Display"/>
                <a:cs typeface="Aptos Display"/>
              </a:rPr>
              <a:t>Lahore</a:t>
            </a:r>
          </a:p>
        </p:txBody>
      </p:sp>
      <p:sp>
        <p:nvSpPr>
          <p:cNvPr id="31" name="">
            <a:extLst xmlns:a="http://schemas.openxmlformats.org/drawingml/2006/main">
              <a:ext uri="{FF2B5EF4-FFF2-40B4-BE49-F238E27FC236}">
                <a16:creationId xmlns:a16="http://schemas.microsoft.com/office/drawing/2014/main" id="{D5B17102-AC1D-4305-96DF-373473EF2767}"/>
              </a:ext>
            </a:extLst>
          </p:cNvPr>
          <p:cNvSpPr>
            <a:spLocks xmlns:a="http://schemas.openxmlformats.org/drawingml/2006/main" noGrp="1"/>
          </p:cNvSpPr>
          <p:nvPr/>
        </p:nvSpPr>
        <p:spPr>
          <a:xfrm xmlns:a="http://schemas.openxmlformats.org/drawingml/2006/main">
            <a:off x="6324600" y="501015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FFFFFF"/>
                </a:solidFill>
                <a:latin typeface="Aptos Display"/>
                <a:ea typeface="Aptos Display"/>
                <a:cs typeface="Aptos Display"/>
              </a:defRPr>
            </a:pPr>
            <a:r>
              <a:rPr sz="1575" b="1" i="0">
                <a:solidFill>
                  <a:srgbClr val="FFFFFF"/>
                </a:solidFill>
                <a:latin typeface="Aptos Display"/>
                <a:ea typeface="Aptos Display"/>
                <a:cs typeface="Aptos Display"/>
              </a:rPr>
              <a:t>Karachi</a:t>
            </a:r>
          </a:p>
        </p:txBody>
      </p:sp>
      <p:sp>
        <p:nvSpPr>
          <p:cNvPr id="32" name="">
            <a:extLst xmlns:a="http://schemas.openxmlformats.org/drawingml/2006/main">
              <a:ext uri="{FF2B5EF4-FFF2-40B4-BE49-F238E27FC236}">
                <a16:creationId xmlns:a16="http://schemas.microsoft.com/office/drawing/2014/main" id="{FFE3D18A-E15C-4073-BB6F-FFEFC7C805E4}"/>
              </a:ext>
            </a:extLst>
          </p:cNvPr>
          <p:cNvSpPr>
            <a:spLocks xmlns:a="http://schemas.openxmlformats.org/drawingml/2006/main" noGrp="1"/>
          </p:cNvSpPr>
          <p:nvPr/>
        </p:nvSpPr>
        <p:spPr>
          <a:xfrm xmlns:a="http://schemas.openxmlformats.org/drawingml/2006/main">
            <a:off x="3590925" y="4695825"/>
            <a:ext cx="0" cy="666750"/>
          </a:xfrm>
          <a:prstGeom xmlns:a="http://schemas.openxmlformats.org/drawingml/2006/main" prst="line">
            <a:avLst/>
          </a:prstGeom>
          <a:noFill xmlns:a="http://schemas.openxmlformats.org/drawingml/2006/main"/>
          <a:ln xmlns:a="http://schemas.openxmlformats.org/drawingml/2006/main" w="19050">
            <a:solidFill>
              <a:srgbClr val="26334E"/>
            </a:solidFill>
            <a:prstDash val="solid"/>
          </a:ln>
        </p:spPr>
      </p:sp>
      <p:sp>
        <p:nvSpPr>
          <p:cNvPr id="33" name="">
            <a:extLst xmlns:a="http://schemas.openxmlformats.org/drawingml/2006/main">
              <a:ext uri="{FF2B5EF4-FFF2-40B4-BE49-F238E27FC236}">
                <a16:creationId xmlns:a16="http://schemas.microsoft.com/office/drawing/2014/main" id="{75F1EC29-1BC9-42A7-93C0-8B4C11925237}"/>
              </a:ext>
            </a:extLst>
          </p:cNvPr>
          <p:cNvSpPr>
            <a:spLocks xmlns:a="http://schemas.openxmlformats.org/drawingml/2006/main" noGrp="1"/>
          </p:cNvSpPr>
          <p:nvPr/>
        </p:nvSpPr>
        <p:spPr>
          <a:xfrm xmlns:a="http://schemas.openxmlformats.org/drawingml/2006/main">
            <a:off x="5791200" y="4695825"/>
            <a:ext cx="0" cy="666750"/>
          </a:xfrm>
          <a:prstGeom xmlns:a="http://schemas.openxmlformats.org/drawingml/2006/main" prst="line">
            <a:avLst/>
          </a:prstGeom>
          <a:noFill xmlns:a="http://schemas.openxmlformats.org/drawingml/2006/main"/>
          <a:ln xmlns:a="http://schemas.openxmlformats.org/drawingml/2006/main" w="19050">
            <a:solidFill>
              <a:srgbClr val="26334E"/>
            </a:solidFill>
            <a:prstDash val="solid"/>
          </a:ln>
        </p:spPr>
      </p:sp>
      <p:sp>
        <p:nvSpPr>
          <p:cNvPr id="34" name="">
            <a:extLst xmlns:a="http://schemas.openxmlformats.org/drawingml/2006/main">
              <a:ext uri="{FF2B5EF4-FFF2-40B4-BE49-F238E27FC236}">
                <a16:creationId xmlns:a16="http://schemas.microsoft.com/office/drawing/2014/main" id="{1A26BB1B-23C8-439A-B23A-D1194D523095}"/>
              </a:ext>
            </a:extLst>
          </p:cNvPr>
          <p:cNvSpPr>
            <a:spLocks xmlns:a="http://schemas.openxmlformats.org/drawingml/2006/main" noGrp="1"/>
          </p:cNvSpPr>
          <p:nvPr/>
        </p:nvSpPr>
        <p:spPr>
          <a:xfrm xmlns:a="http://schemas.openxmlformats.org/drawingml/2006/main">
            <a:off x="8096250" y="4791075"/>
            <a:ext cx="3000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r">
              <a:defRPr sz="2025" b="1" i="0">
                <a:solidFill>
                  <a:srgbClr val="D6B77A"/>
                </a:solidFill>
                <a:latin typeface="Aptos Display"/>
                <a:ea typeface="Aptos Display"/>
                <a:cs typeface="Aptos Display"/>
              </a:defRPr>
            </a:pPr>
            <a:r>
              <a:rPr sz="2025" b="1" i="0">
                <a:solidFill>
                  <a:srgbClr val="D6B77A"/>
                </a:solidFill>
                <a:latin typeface="Aptos Display"/>
                <a:ea typeface="Aptos Display"/>
                <a:cs typeface="Aptos Display"/>
              </a:rPr>
              <a:t>Sell B2B. Activate B2C. Compound locally.</a:t>
            </a:r>
          </a:p>
        </p:txBody>
      </p:sp>
      <p:sp>
        <p:nvSpPr>
          <p:cNvPr id="35" name="">
            <a:extLst xmlns:a="http://schemas.openxmlformats.org/drawingml/2006/main">
              <a:ext uri="{FF2B5EF4-FFF2-40B4-BE49-F238E27FC236}">
                <a16:creationId xmlns:a16="http://schemas.microsoft.com/office/drawing/2014/main" id="{EF077B59-96C3-4695-8311-78106FE2057A}"/>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GTM framework informed by local network-effect expansion principles.</a:t>
            </a:r>
          </a:p>
        </p:txBody>
      </p:sp>
      <p:sp>
        <p:nvSpPr>
          <p:cNvPr id="36" name="">
            <a:extLst xmlns:a="http://schemas.openxmlformats.org/drawingml/2006/main">
              <a:ext uri="{FF2B5EF4-FFF2-40B4-BE49-F238E27FC236}">
                <a16:creationId xmlns:a16="http://schemas.microsoft.com/office/drawing/2014/main" id="{75F56295-25DC-452E-91DE-0EA6A03756A5}"/>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14</a:t>
            </a:r>
          </a:p>
        </p:txBody>
      </p:sp>
    </p:spTree>
    <p:extLst>
      <p:ext uri="{BB962C8B-B14F-4D97-AF65-F5344CB8AC3E}">
        <p14:creationId xmlns:p14="http://schemas.microsoft.com/office/powerpoint/2010/main" val="592068504"/>
      </p:ext>
    </p:extLst>
  </p:cSld>
  <p:transition spd="fast" advClick="1">
    <p:fade/>
  </p:transition>
</p:sld>
</file>

<file path=ppt/slides/slide15.xml><?xml version="1.0" encoding="utf-8"?>
<p:sld xmlns:p="http://schemas.openxmlformats.org/presentationml/2006/main">
  <p:cSld>
    <p:bg>
      <p:bgPr>
        <a:solidFill xmlns:a="http://schemas.openxmlformats.org/drawingml/2006/main">
          <a:srgbClr val="121A2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3CEEC8B-8EC0-4632-941C-C08E7B7D2DA3}"/>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GROWTH ENGINE</a:t>
            </a:r>
          </a:p>
        </p:txBody>
      </p:sp>
      <p:sp>
        <p:nvSpPr>
          <p:cNvPr id="2" name="">
            <a:extLst xmlns:a="http://schemas.openxmlformats.org/drawingml/2006/main">
              <a:ext uri="{FF2B5EF4-FFF2-40B4-BE49-F238E27FC236}">
                <a16:creationId xmlns:a16="http://schemas.microsoft.com/office/drawing/2014/main" id="{63AB3F1F-18C2-4B10-AE8D-E55ED2942D44}"/>
              </a:ext>
            </a:extLst>
          </p:cNvPr>
          <p:cNvSpPr>
            <a:spLocks xmlns:a="http://schemas.openxmlformats.org/drawingml/2006/main" noGrp="1"/>
          </p:cNvSpPr>
          <p:nvPr/>
        </p:nvSpPr>
        <p:spPr>
          <a:xfrm xmlns:a="http://schemas.openxmlformats.org/drawingml/2006/main">
            <a:off x="685800" y="962025"/>
            <a:ext cx="9334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477"/>
          </a:bodyPr>
          <a:lstStyle xmlns:a="http://schemas.openxmlformats.org/drawingml/2006/main"/>
          <a:p xmlns:a="http://schemas.openxmlformats.org/drawingml/2006/main">
            <a:pPr algn="l">
              <a:defRPr sz="3750" b="1" i="0">
                <a:solidFill>
                  <a:srgbClr val="FFFFFF"/>
                </a:solidFill>
                <a:latin typeface="Aptos Display"/>
                <a:ea typeface="Aptos Display"/>
                <a:cs typeface="Aptos Display"/>
              </a:defRPr>
            </a:pPr>
            <a:r>
              <a:rPr sz="3750" b="1" i="0">
                <a:solidFill>
                  <a:srgbClr val="FFFFFF"/>
                </a:solidFill>
                <a:latin typeface="Aptos Display"/>
                <a:ea typeface="Aptos Display"/>
                <a:cs typeface="Aptos Display"/>
              </a:rPr>
              <a:t>Density turns a useful app into a defensible network.</a:t>
            </a:r>
          </a:p>
        </p:txBody>
      </p:sp>
      <p:sp>
        <p:nvSpPr>
          <p:cNvPr id="3" name="">
            <a:extLst xmlns:a="http://schemas.openxmlformats.org/drawingml/2006/main">
              <a:ext uri="{FF2B5EF4-FFF2-40B4-BE49-F238E27FC236}">
                <a16:creationId xmlns:a16="http://schemas.microsoft.com/office/drawing/2014/main" id="{834B70EF-FB60-47F0-8A18-F9F9480A856B}"/>
              </a:ext>
            </a:extLst>
          </p:cNvPr>
          <p:cNvSpPr>
            <a:spLocks xmlns:a="http://schemas.openxmlformats.org/drawingml/2006/main" noGrp="1"/>
          </p:cNvSpPr>
          <p:nvPr/>
        </p:nvSpPr>
        <p:spPr>
          <a:xfrm xmlns:a="http://schemas.openxmlformats.org/drawingml/2006/main">
            <a:off x="3171825" y="2914650"/>
            <a:ext cx="1752600" cy="1752600"/>
          </a:xfrm>
          <a:prstGeom xmlns:a="http://schemas.openxmlformats.org/drawingml/2006/main" prst="ellipse">
            <a:avLst/>
          </a:prstGeom>
          <a:solidFill xmlns:a="http://schemas.openxmlformats.org/drawingml/2006/main">
            <a:srgbClr val="F5F0E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4A4B37D-E92B-4F0A-9557-D1650D06EACA}"/>
              </a:ext>
            </a:extLst>
          </p:cNvPr>
          <p:cNvSpPr>
            <a:spLocks xmlns:a="http://schemas.openxmlformats.org/drawingml/2006/main" noGrp="1"/>
          </p:cNvSpPr>
          <p:nvPr/>
        </p:nvSpPr>
        <p:spPr>
          <a:xfrm xmlns:a="http://schemas.openxmlformats.org/drawingml/2006/main">
            <a:off x="3381375" y="3257550"/>
            <a:ext cx="1333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121A2C"/>
                </a:solidFill>
                <a:latin typeface="Aptos Display"/>
                <a:ea typeface="Aptos Display"/>
                <a:cs typeface="Aptos Display"/>
              </a:defRPr>
            </a:pPr>
            <a:r>
              <a:rPr sz="1875" b="1" i="0">
                <a:solidFill>
                  <a:srgbClr val="121A2C"/>
                </a:solidFill>
                <a:latin typeface="Aptos Display"/>
                <a:ea typeface="Aptos Display"/>
                <a:cs typeface="Aptos Display"/>
              </a:rPr>
              <a:t>TRUST</a:t>
            </a:r>
          </a:p>
          <a:p xmlns:a="http://schemas.openxmlformats.org/drawingml/2006/main">
            <a:pPr algn="ctr">
              <a:defRPr sz="1875" b="1" i="0">
                <a:solidFill>
                  <a:srgbClr val="121A2C"/>
                </a:solidFill>
                <a:latin typeface="Aptos Display"/>
                <a:ea typeface="Aptos Display"/>
                <a:cs typeface="Aptos Display"/>
              </a:defRPr>
            </a:pPr>
            <a:r>
              <a:rPr sz="1875" b="1" i="0">
                <a:solidFill>
                  <a:srgbClr val="121A2C"/>
                </a:solidFill>
                <a:latin typeface="Aptos Display"/>
                <a:ea typeface="Aptos Display"/>
                <a:cs typeface="Aptos Display"/>
              </a:rPr>
              <a:t>+</a:t>
            </a:r>
          </a:p>
          <a:p xmlns:a="http://schemas.openxmlformats.org/drawingml/2006/main">
            <a:pPr algn="ctr">
              <a:defRPr sz="1875" b="1" i="0">
                <a:solidFill>
                  <a:srgbClr val="121A2C"/>
                </a:solidFill>
                <a:latin typeface="Aptos Display"/>
                <a:ea typeface="Aptos Display"/>
                <a:cs typeface="Aptos Display"/>
              </a:defRPr>
            </a:pPr>
            <a:r>
              <a:rPr sz="1875" b="1" i="0">
                <a:solidFill>
                  <a:srgbClr val="121A2C"/>
                </a:solidFill>
                <a:latin typeface="Aptos Display"/>
                <a:ea typeface="Aptos Display"/>
                <a:cs typeface="Aptos Display"/>
              </a:rPr>
              <a:t>DENSITY</a:t>
            </a:r>
          </a:p>
        </p:txBody>
      </p:sp>
      <p:sp>
        <p:nvSpPr>
          <p:cNvPr id="5" name="">
            <a:extLst xmlns:a="http://schemas.openxmlformats.org/drawingml/2006/main">
              <a:ext uri="{FF2B5EF4-FFF2-40B4-BE49-F238E27FC236}">
                <a16:creationId xmlns:a16="http://schemas.microsoft.com/office/drawing/2014/main" id="{46087FBD-AC75-4D8F-B939-5C4BB53DB68F}"/>
              </a:ext>
            </a:extLst>
          </p:cNvPr>
          <p:cNvSpPr>
            <a:spLocks xmlns:a="http://schemas.openxmlformats.org/drawingml/2006/main" noGrp="1"/>
          </p:cNvSpPr>
          <p:nvPr/>
        </p:nvSpPr>
        <p:spPr>
          <a:xfrm xmlns:a="http://schemas.openxmlformats.org/drawingml/2006/main">
            <a:off x="3400425" y="2057400"/>
            <a:ext cx="1295400" cy="1295400"/>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9468B34-946D-41AC-867C-D3006DB77AEE}"/>
              </a:ext>
            </a:extLst>
          </p:cNvPr>
          <p:cNvSpPr>
            <a:spLocks xmlns:a="http://schemas.openxmlformats.org/drawingml/2006/main" noGrp="1"/>
          </p:cNvSpPr>
          <p:nvPr/>
        </p:nvSpPr>
        <p:spPr>
          <a:xfrm xmlns:a="http://schemas.openxmlformats.org/drawingml/2006/main">
            <a:off x="3495675" y="2447925"/>
            <a:ext cx="1104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Verified</a:t>
            </a:r>
          </a:p>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residents</a:t>
            </a:r>
          </a:p>
        </p:txBody>
      </p:sp>
      <p:sp>
        <p:nvSpPr>
          <p:cNvPr id="7" name="">
            <a:extLst xmlns:a="http://schemas.openxmlformats.org/drawingml/2006/main">
              <a:ext uri="{FF2B5EF4-FFF2-40B4-BE49-F238E27FC236}">
                <a16:creationId xmlns:a16="http://schemas.microsoft.com/office/drawing/2014/main" id="{DC8AD108-CF65-437D-9E5E-EB270E905740}"/>
              </a:ext>
            </a:extLst>
          </p:cNvPr>
          <p:cNvSpPr>
            <a:spLocks xmlns:a="http://schemas.openxmlformats.org/drawingml/2006/main" noGrp="1"/>
          </p:cNvSpPr>
          <p:nvPr/>
        </p:nvSpPr>
        <p:spPr>
          <a:xfrm xmlns:a="http://schemas.openxmlformats.org/drawingml/2006/main">
            <a:off x="5486400" y="3267075"/>
            <a:ext cx="1295400" cy="1295400"/>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0EAF8FB-0683-4375-83DF-C7AFC4E007D2}"/>
              </a:ext>
            </a:extLst>
          </p:cNvPr>
          <p:cNvSpPr>
            <a:spLocks xmlns:a="http://schemas.openxmlformats.org/drawingml/2006/main" noGrp="1"/>
          </p:cNvSpPr>
          <p:nvPr/>
        </p:nvSpPr>
        <p:spPr>
          <a:xfrm xmlns:a="http://schemas.openxmlformats.org/drawingml/2006/main">
            <a:off x="5581650" y="3657600"/>
            <a:ext cx="1104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444"/>
          </a:bodyPr>
          <a:lstStyle xmlns:a="http://schemas.openxmlformats.org/drawingml/2006/main"/>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Relevant content</a:t>
            </a:r>
          </a:p>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 local supply</a:t>
            </a:r>
          </a:p>
        </p:txBody>
      </p:sp>
      <p:sp>
        <p:nvSpPr>
          <p:cNvPr id="9" name="">
            <a:extLst xmlns:a="http://schemas.openxmlformats.org/drawingml/2006/main">
              <a:ext uri="{FF2B5EF4-FFF2-40B4-BE49-F238E27FC236}">
                <a16:creationId xmlns:a16="http://schemas.microsoft.com/office/drawing/2014/main" id="{C3F967C9-4737-47DD-BCF5-6FC5AF5B5993}"/>
              </a:ext>
            </a:extLst>
          </p:cNvPr>
          <p:cNvSpPr>
            <a:spLocks xmlns:a="http://schemas.openxmlformats.org/drawingml/2006/main" noGrp="1"/>
          </p:cNvSpPr>
          <p:nvPr/>
        </p:nvSpPr>
        <p:spPr>
          <a:xfrm xmlns:a="http://schemas.openxmlformats.org/drawingml/2006/main">
            <a:off x="3381375" y="4933950"/>
            <a:ext cx="1295400" cy="1295400"/>
          </a:xfrm>
          <a:prstGeom xmlns:a="http://schemas.openxmlformats.org/drawingml/2006/main" prst="ellipse">
            <a:avLst/>
          </a:prstGeom>
          <a:solidFill xmlns:a="http://schemas.openxmlformats.org/drawingml/2006/main">
            <a:srgbClr val="D6B7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7C0A5C-4528-491F-9209-5B79A68155FD}"/>
              </a:ext>
            </a:extLst>
          </p:cNvPr>
          <p:cNvSpPr>
            <a:spLocks xmlns:a="http://schemas.openxmlformats.org/drawingml/2006/main" noGrp="1"/>
          </p:cNvSpPr>
          <p:nvPr/>
        </p:nvSpPr>
        <p:spPr>
          <a:xfrm xmlns:a="http://schemas.openxmlformats.org/drawingml/2006/main">
            <a:off x="3476625" y="5324475"/>
            <a:ext cx="1104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121A2C"/>
                </a:solidFill>
                <a:latin typeface="Aptos Display"/>
                <a:ea typeface="Aptos Display"/>
                <a:cs typeface="Aptos Display"/>
              </a:defRPr>
            </a:pPr>
            <a:r>
              <a:rPr sz="1275" b="1" i="0">
                <a:solidFill>
                  <a:srgbClr val="121A2C"/>
                </a:solidFill>
                <a:latin typeface="Aptos Display"/>
                <a:ea typeface="Aptos Display"/>
                <a:cs typeface="Aptos Display"/>
              </a:rPr>
              <a:t>Faster response</a:t>
            </a:r>
          </a:p>
          <a:p xmlns:a="http://schemas.openxmlformats.org/drawingml/2006/main">
            <a:pPr algn="ctr">
              <a:defRPr sz="1275" b="1" i="0">
                <a:solidFill>
                  <a:srgbClr val="121A2C"/>
                </a:solidFill>
                <a:latin typeface="Aptos Display"/>
                <a:ea typeface="Aptos Display"/>
                <a:cs typeface="Aptos Display"/>
              </a:defRPr>
            </a:pPr>
            <a:r>
              <a:rPr sz="1275" b="1" i="0">
                <a:solidFill>
                  <a:srgbClr val="121A2C"/>
                </a:solidFill>
                <a:latin typeface="Aptos Display"/>
                <a:ea typeface="Aptos Display"/>
                <a:cs typeface="Aptos Display"/>
              </a:rPr>
              <a:t>+ retention</a:t>
            </a:r>
          </a:p>
        </p:txBody>
      </p:sp>
      <p:sp>
        <p:nvSpPr>
          <p:cNvPr id="11" name="">
            <a:extLst xmlns:a="http://schemas.openxmlformats.org/drawingml/2006/main">
              <a:ext uri="{FF2B5EF4-FFF2-40B4-BE49-F238E27FC236}">
                <a16:creationId xmlns:a16="http://schemas.microsoft.com/office/drawing/2014/main" id="{C8E10E9F-07BA-4A0D-B739-03D5938DC649}"/>
              </a:ext>
            </a:extLst>
          </p:cNvPr>
          <p:cNvSpPr>
            <a:spLocks xmlns:a="http://schemas.openxmlformats.org/drawingml/2006/main" noGrp="1"/>
          </p:cNvSpPr>
          <p:nvPr/>
        </p:nvSpPr>
        <p:spPr>
          <a:xfrm xmlns:a="http://schemas.openxmlformats.org/drawingml/2006/main">
            <a:off x="1343025" y="3267075"/>
            <a:ext cx="1295400" cy="1295400"/>
          </a:xfrm>
          <a:prstGeom xmlns:a="http://schemas.openxmlformats.org/drawingml/2006/main" prst="ellipse">
            <a:avLst/>
          </a:prstGeom>
          <a:solidFill xmlns:a="http://schemas.openxmlformats.org/drawingml/2006/main">
            <a:srgbClr val="5BBDE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680D684-2873-41A2-B6E1-CD9A13E9DEC4}"/>
              </a:ext>
            </a:extLst>
          </p:cNvPr>
          <p:cNvSpPr>
            <a:spLocks xmlns:a="http://schemas.openxmlformats.org/drawingml/2006/main" noGrp="1"/>
          </p:cNvSpPr>
          <p:nvPr/>
        </p:nvSpPr>
        <p:spPr>
          <a:xfrm xmlns:a="http://schemas.openxmlformats.org/drawingml/2006/main">
            <a:off x="1438275" y="3657600"/>
            <a:ext cx="1104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Organic invites</a:t>
            </a:r>
          </a:p>
          <a:p xmlns:a="http://schemas.openxmlformats.org/drawingml/2006/main">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 lower CAC</a:t>
            </a:r>
          </a:p>
        </p:txBody>
      </p:sp>
      <p:sp>
        <p:nvSpPr>
          <p:cNvPr id="13" name="">
            <a:extLst xmlns:a="http://schemas.openxmlformats.org/drawingml/2006/main">
              <a:ext uri="{FF2B5EF4-FFF2-40B4-BE49-F238E27FC236}">
                <a16:creationId xmlns:a16="http://schemas.microsoft.com/office/drawing/2014/main" id="{A4DA43DE-9296-4243-8D49-84A9B95F324C}"/>
              </a:ext>
            </a:extLst>
          </p:cNvPr>
          <p:cNvSpPr>
            <a:spLocks xmlns:a="http://schemas.openxmlformats.org/drawingml/2006/main" noGrp="1"/>
          </p:cNvSpPr>
          <p:nvPr/>
        </p:nvSpPr>
        <p:spPr>
          <a:xfrm xmlns:a="http://schemas.openxmlformats.org/drawingml/2006/main">
            <a:off x="4705350" y="2552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FFFFFF"/>
                </a:solidFill>
                <a:latin typeface="Aptos Display"/>
                <a:ea typeface="Aptos Display"/>
                <a:cs typeface="Aptos Display"/>
              </a:defRPr>
            </a:pPr>
            <a:r>
              <a:rPr sz="2250" b="1" i="0">
                <a:solidFill>
                  <a:srgbClr val="FFFFFF"/>
                </a:solidFill>
                <a:latin typeface="Aptos Display"/>
                <a:ea typeface="Aptos Display"/>
                <a:cs typeface="Aptos Display"/>
              </a:rPr>
              <a:t>→</a:t>
            </a:r>
          </a:p>
        </p:txBody>
      </p:sp>
      <p:sp>
        <p:nvSpPr>
          <p:cNvPr id="14" name="">
            <a:extLst xmlns:a="http://schemas.openxmlformats.org/drawingml/2006/main">
              <a:ext uri="{FF2B5EF4-FFF2-40B4-BE49-F238E27FC236}">
                <a16:creationId xmlns:a16="http://schemas.microsoft.com/office/drawing/2014/main" id="{A81B4A1D-D501-4BE5-8A82-B6FAD3BAEF04}"/>
              </a:ext>
            </a:extLst>
          </p:cNvPr>
          <p:cNvSpPr>
            <a:spLocks xmlns:a="http://schemas.openxmlformats.org/drawingml/2006/main" noGrp="1"/>
          </p:cNvSpPr>
          <p:nvPr/>
        </p:nvSpPr>
        <p:spPr>
          <a:xfrm xmlns:a="http://schemas.openxmlformats.org/drawingml/2006/main">
            <a:off x="5353050" y="43338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FFFFFF"/>
                </a:solidFill>
                <a:latin typeface="Aptos Display"/>
                <a:ea typeface="Aptos Display"/>
                <a:cs typeface="Aptos Display"/>
              </a:defRPr>
            </a:pPr>
            <a:r>
              <a:rPr sz="2250" b="1" i="0">
                <a:solidFill>
                  <a:srgbClr val="FFFFFF"/>
                </a:solidFill>
                <a:latin typeface="Aptos Display"/>
                <a:ea typeface="Aptos Display"/>
                <a:cs typeface="Aptos Display"/>
              </a:rPr>
              <a:t>↓</a:t>
            </a:r>
          </a:p>
        </p:txBody>
      </p:sp>
      <p:sp>
        <p:nvSpPr>
          <p:cNvPr id="15" name="">
            <a:extLst xmlns:a="http://schemas.openxmlformats.org/drawingml/2006/main">
              <a:ext uri="{FF2B5EF4-FFF2-40B4-BE49-F238E27FC236}">
                <a16:creationId xmlns:a16="http://schemas.microsoft.com/office/drawing/2014/main" id="{44FDE0B8-4D1D-4F1B-8224-830286A918AD}"/>
              </a:ext>
            </a:extLst>
          </p:cNvPr>
          <p:cNvSpPr>
            <a:spLocks xmlns:a="http://schemas.openxmlformats.org/drawingml/2006/main" noGrp="1"/>
          </p:cNvSpPr>
          <p:nvPr/>
        </p:nvSpPr>
        <p:spPr>
          <a:xfrm xmlns:a="http://schemas.openxmlformats.org/drawingml/2006/main">
            <a:off x="3028950" y="5314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FFFFFF"/>
                </a:solidFill>
                <a:latin typeface="Aptos Display"/>
                <a:ea typeface="Aptos Display"/>
                <a:cs typeface="Aptos Display"/>
              </a:defRPr>
            </a:pPr>
            <a:r>
              <a:rPr sz="2250" b="1" i="0">
                <a:solidFill>
                  <a:srgbClr val="FFFFFF"/>
                </a:solidFill>
                <a:latin typeface="Aptos Display"/>
                <a:ea typeface="Aptos Display"/>
                <a:cs typeface="Aptos Display"/>
              </a:rPr>
              <a:t>←</a:t>
            </a:r>
          </a:p>
        </p:txBody>
      </p:sp>
      <p:sp>
        <p:nvSpPr>
          <p:cNvPr id="16" name="">
            <a:extLst xmlns:a="http://schemas.openxmlformats.org/drawingml/2006/main">
              <a:ext uri="{FF2B5EF4-FFF2-40B4-BE49-F238E27FC236}">
                <a16:creationId xmlns:a16="http://schemas.microsoft.com/office/drawing/2014/main" id="{76A3250E-CF12-4710-9A86-D7329ABB3E86}"/>
              </a:ext>
            </a:extLst>
          </p:cNvPr>
          <p:cNvSpPr>
            <a:spLocks xmlns:a="http://schemas.openxmlformats.org/drawingml/2006/main" noGrp="1"/>
          </p:cNvSpPr>
          <p:nvPr/>
        </p:nvSpPr>
        <p:spPr>
          <a:xfrm xmlns:a="http://schemas.openxmlformats.org/drawingml/2006/main">
            <a:off x="2505075" y="28956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FFFFFF"/>
                </a:solidFill>
                <a:latin typeface="Aptos Display"/>
                <a:ea typeface="Aptos Display"/>
                <a:cs typeface="Aptos Display"/>
              </a:defRPr>
            </a:pPr>
            <a:r>
              <a:rPr sz="2250" b="1" i="0">
                <a:solidFill>
                  <a:srgbClr val="FFFFFF"/>
                </a:solidFill>
                <a:latin typeface="Aptos Display"/>
                <a:ea typeface="Aptos Display"/>
                <a:cs typeface="Aptos Display"/>
              </a:rPr>
              <a:t>↑</a:t>
            </a:r>
          </a:p>
        </p:txBody>
      </p:sp>
      <p:sp>
        <p:nvSpPr>
          <p:cNvPr id="17" name="">
            <a:extLst xmlns:a="http://schemas.openxmlformats.org/drawingml/2006/main">
              <a:ext uri="{FF2B5EF4-FFF2-40B4-BE49-F238E27FC236}">
                <a16:creationId xmlns:a16="http://schemas.microsoft.com/office/drawing/2014/main" id="{DC2A00DE-8131-4930-AD38-859C406B6762}"/>
              </a:ext>
            </a:extLst>
          </p:cNvPr>
          <p:cNvSpPr>
            <a:spLocks xmlns:a="http://schemas.openxmlformats.org/drawingml/2006/main" noGrp="1"/>
          </p:cNvSpPr>
          <p:nvPr/>
        </p:nvSpPr>
        <p:spPr>
          <a:xfrm xmlns:a="http://schemas.openxmlformats.org/drawingml/2006/main">
            <a:off x="7553325" y="1962150"/>
            <a:ext cx="3952875" cy="3800475"/>
          </a:xfrm>
          <a:prstGeom xmlns:a="http://schemas.openxmlformats.org/drawingml/2006/main" prst="roundRect">
            <a:avLst>
              <a:gd name="adj" fmla="val 6015"/>
            </a:avLst>
          </a:prstGeom>
          <a:solidFill xmlns:a="http://schemas.openxmlformats.org/drawingml/2006/main">
            <a:srgbClr val="F5F0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E652204-D485-41EC-AF48-B455012FF853}"/>
              </a:ext>
            </a:extLst>
          </p:cNvPr>
          <p:cNvSpPr>
            <a:spLocks xmlns:a="http://schemas.openxmlformats.org/drawingml/2006/main" noGrp="1"/>
          </p:cNvSpPr>
          <p:nvPr/>
        </p:nvSpPr>
        <p:spPr>
          <a:xfrm xmlns:a="http://schemas.openxmlformats.org/drawingml/2006/main">
            <a:off x="7877175" y="2266950"/>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What should improve</a:t>
            </a:r>
          </a:p>
          <a:p xmlns:a="http://schemas.openxmlformats.org/drawingml/2006/main">
            <a:pPr algn="l">
              <a:defRPr sz="2100" b="1" i="0">
                <a:solidFill>
                  <a:srgbClr val="182033"/>
                </a:solidFill>
                <a:latin typeface="Aptos Display"/>
                <a:ea typeface="Aptos Display"/>
                <a:cs typeface="Aptos Display"/>
              </a:defRPr>
            </a:pPr>
            <a:r>
              <a:rPr sz="2100" b="1" i="0">
                <a:solidFill>
                  <a:srgbClr val="182033"/>
                </a:solidFill>
                <a:latin typeface="Aptos Display"/>
                <a:ea typeface="Aptos Display"/>
                <a:cs typeface="Aptos Display"/>
              </a:rPr>
              <a:t>with neighborhood density</a:t>
            </a:r>
          </a:p>
        </p:txBody>
      </p:sp>
      <p:sp>
        <p:nvSpPr>
          <p:cNvPr id="19" name="">
            <a:extLst xmlns:a="http://schemas.openxmlformats.org/drawingml/2006/main">
              <a:ext uri="{FF2B5EF4-FFF2-40B4-BE49-F238E27FC236}">
                <a16:creationId xmlns:a16="http://schemas.microsoft.com/office/drawing/2014/main" id="{2140FCC4-D75B-4E18-A70A-1E617D1A985F}"/>
              </a:ext>
            </a:extLst>
          </p:cNvPr>
          <p:cNvSpPr>
            <a:spLocks xmlns:a="http://schemas.openxmlformats.org/drawingml/2006/main" noGrp="1"/>
          </p:cNvSpPr>
          <p:nvPr/>
        </p:nvSpPr>
        <p:spPr>
          <a:xfrm xmlns:a="http://schemas.openxmlformats.org/drawingml/2006/main">
            <a:off x="7877175" y="3324225"/>
            <a:ext cx="85725" cy="85725"/>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EB18373-2BAB-439D-A79C-A1CA6D480B58}"/>
              </a:ext>
            </a:extLst>
          </p:cNvPr>
          <p:cNvSpPr>
            <a:spLocks xmlns:a="http://schemas.openxmlformats.org/drawingml/2006/main" noGrp="1"/>
          </p:cNvSpPr>
          <p:nvPr/>
        </p:nvSpPr>
        <p:spPr>
          <a:xfrm xmlns:a="http://schemas.openxmlformats.org/drawingml/2006/main">
            <a:off x="8086725" y="325755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Weekly active resident rate</a:t>
            </a:r>
          </a:p>
        </p:txBody>
      </p:sp>
      <p:sp>
        <p:nvSpPr>
          <p:cNvPr id="21" name="">
            <a:extLst xmlns:a="http://schemas.openxmlformats.org/drawingml/2006/main">
              <a:ext uri="{FF2B5EF4-FFF2-40B4-BE49-F238E27FC236}">
                <a16:creationId xmlns:a16="http://schemas.microsoft.com/office/drawing/2014/main" id="{4D038761-6026-48B2-A504-A1D221B09C14}"/>
              </a:ext>
            </a:extLst>
          </p:cNvPr>
          <p:cNvSpPr>
            <a:spLocks xmlns:a="http://schemas.openxmlformats.org/drawingml/2006/main" noGrp="1"/>
          </p:cNvSpPr>
          <p:nvPr/>
        </p:nvSpPr>
        <p:spPr>
          <a:xfrm xmlns:a="http://schemas.openxmlformats.org/drawingml/2006/main">
            <a:off x="7877175" y="3771900"/>
            <a:ext cx="85725" cy="85725"/>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F25461B-CF9E-4114-8743-BB5BC6BAB0AD}"/>
              </a:ext>
            </a:extLst>
          </p:cNvPr>
          <p:cNvSpPr>
            <a:spLocks xmlns:a="http://schemas.openxmlformats.org/drawingml/2006/main" noGrp="1"/>
          </p:cNvSpPr>
          <p:nvPr/>
        </p:nvSpPr>
        <p:spPr>
          <a:xfrm xmlns:a="http://schemas.openxmlformats.org/drawingml/2006/main">
            <a:off x="8086725" y="370522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Response time to local needs</a:t>
            </a:r>
          </a:p>
        </p:txBody>
      </p:sp>
      <p:sp>
        <p:nvSpPr>
          <p:cNvPr id="23" name="">
            <a:extLst xmlns:a="http://schemas.openxmlformats.org/drawingml/2006/main">
              <a:ext uri="{FF2B5EF4-FFF2-40B4-BE49-F238E27FC236}">
                <a16:creationId xmlns:a16="http://schemas.microsoft.com/office/drawing/2014/main" id="{96373D59-97F6-42E8-B85B-0F09A0B9B825}"/>
              </a:ext>
            </a:extLst>
          </p:cNvPr>
          <p:cNvSpPr>
            <a:spLocks xmlns:a="http://schemas.openxmlformats.org/drawingml/2006/main" noGrp="1"/>
          </p:cNvSpPr>
          <p:nvPr/>
        </p:nvSpPr>
        <p:spPr>
          <a:xfrm xmlns:a="http://schemas.openxmlformats.org/drawingml/2006/main">
            <a:off x="7877175" y="4219575"/>
            <a:ext cx="85725" cy="85725"/>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CD31A59-0E3E-4832-8BD2-AF330FA8B4FC}"/>
              </a:ext>
            </a:extLst>
          </p:cNvPr>
          <p:cNvSpPr>
            <a:spLocks xmlns:a="http://schemas.openxmlformats.org/drawingml/2006/main" noGrp="1"/>
          </p:cNvSpPr>
          <p:nvPr/>
        </p:nvSpPr>
        <p:spPr>
          <a:xfrm xmlns:a="http://schemas.openxmlformats.org/drawingml/2006/main">
            <a:off x="8086725" y="4152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30-day retention</a:t>
            </a:r>
          </a:p>
        </p:txBody>
      </p:sp>
      <p:sp>
        <p:nvSpPr>
          <p:cNvPr id="25" name="">
            <a:extLst xmlns:a="http://schemas.openxmlformats.org/drawingml/2006/main">
              <a:ext uri="{FF2B5EF4-FFF2-40B4-BE49-F238E27FC236}">
                <a16:creationId xmlns:a16="http://schemas.microsoft.com/office/drawing/2014/main" id="{CA5D9CC7-F3C9-48C7-A016-B39531965C7B}"/>
              </a:ext>
            </a:extLst>
          </p:cNvPr>
          <p:cNvSpPr>
            <a:spLocks xmlns:a="http://schemas.openxmlformats.org/drawingml/2006/main" noGrp="1"/>
          </p:cNvSpPr>
          <p:nvPr/>
        </p:nvSpPr>
        <p:spPr>
          <a:xfrm xmlns:a="http://schemas.openxmlformats.org/drawingml/2006/main">
            <a:off x="7877175" y="4667250"/>
            <a:ext cx="85725" cy="85725"/>
          </a:xfrm>
          <a:prstGeom xmlns:a="http://schemas.openxmlformats.org/drawingml/2006/main" prst="ellipse">
            <a:avLst/>
          </a:prstGeom>
          <a:solidFill xmlns:a="http://schemas.openxmlformats.org/drawingml/2006/main">
            <a:srgbClr val="2E6B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3A0E3AD-44FC-4C27-987A-D623DECFFBFD}"/>
              </a:ext>
            </a:extLst>
          </p:cNvPr>
          <p:cNvSpPr>
            <a:spLocks xmlns:a="http://schemas.openxmlformats.org/drawingml/2006/main" noGrp="1"/>
          </p:cNvSpPr>
          <p:nvPr/>
        </p:nvSpPr>
        <p:spPr>
          <a:xfrm xmlns:a="http://schemas.openxmlformats.org/drawingml/2006/main">
            <a:off x="8086725" y="46005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Organic household invitations</a:t>
            </a:r>
          </a:p>
        </p:txBody>
      </p:sp>
      <p:sp>
        <p:nvSpPr>
          <p:cNvPr id="27" name="">
            <a:extLst xmlns:a="http://schemas.openxmlformats.org/drawingml/2006/main">
              <a:ext uri="{FF2B5EF4-FFF2-40B4-BE49-F238E27FC236}">
                <a16:creationId xmlns:a16="http://schemas.microsoft.com/office/drawing/2014/main" id="{F358B77F-F81F-4CC1-AD3E-6FA4C0216018}"/>
              </a:ext>
            </a:extLst>
          </p:cNvPr>
          <p:cNvSpPr>
            <a:spLocks xmlns:a="http://schemas.openxmlformats.org/drawingml/2006/main" noGrp="1"/>
          </p:cNvSpPr>
          <p:nvPr/>
        </p:nvSpPr>
        <p:spPr>
          <a:xfrm xmlns:a="http://schemas.openxmlformats.org/drawingml/2006/main">
            <a:off x="7877175" y="5114925"/>
            <a:ext cx="85725" cy="85725"/>
          </a:xfrm>
          <a:prstGeom xmlns:a="http://schemas.openxmlformats.org/drawingml/2006/main" prst="ellipse">
            <a:avLst/>
          </a:prstGeom>
          <a:solidFill xmlns:a="http://schemas.openxmlformats.org/drawingml/2006/main">
            <a:srgbClr val="FF6B5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1A1C76F-12B8-4EA2-8977-B275EE4F93A8}"/>
              </a:ext>
            </a:extLst>
          </p:cNvPr>
          <p:cNvSpPr>
            <a:spLocks xmlns:a="http://schemas.openxmlformats.org/drawingml/2006/main" noGrp="1"/>
          </p:cNvSpPr>
          <p:nvPr/>
        </p:nvSpPr>
        <p:spPr>
          <a:xfrm xmlns:a="http://schemas.openxmlformats.org/drawingml/2006/main">
            <a:off x="8086725" y="504825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Community-level unit economics</a:t>
            </a:r>
          </a:p>
        </p:txBody>
      </p:sp>
      <p:sp>
        <p:nvSpPr>
          <p:cNvPr id="29" name="">
            <a:extLst xmlns:a="http://schemas.openxmlformats.org/drawingml/2006/main">
              <a:ext uri="{FF2B5EF4-FFF2-40B4-BE49-F238E27FC236}">
                <a16:creationId xmlns:a16="http://schemas.microsoft.com/office/drawing/2014/main" id="{AD597F13-85D0-4F0F-A022-672BEA912F4A}"/>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C7D0E1"/>
                </a:solidFill>
                <a:latin typeface="Aptos"/>
                <a:ea typeface="Aptos"/>
                <a:cs typeface="Aptos"/>
              </a:defRPr>
            </a:pPr>
            <a:r>
              <a:rPr sz="825" b="0" i="0">
                <a:solidFill>
                  <a:srgbClr val="C7D0E1"/>
                </a:solidFill>
                <a:latin typeface="Aptos"/>
                <a:ea typeface="Aptos"/>
                <a:cs typeface="Aptos"/>
              </a:rPr>
              <a:t>Atomic unit: one verified neighborhood/community.</a:t>
            </a:r>
          </a:p>
        </p:txBody>
      </p:sp>
      <p:sp>
        <p:nvSpPr>
          <p:cNvPr id="30" name="">
            <a:extLst xmlns:a="http://schemas.openxmlformats.org/drawingml/2006/main">
              <a:ext uri="{FF2B5EF4-FFF2-40B4-BE49-F238E27FC236}">
                <a16:creationId xmlns:a16="http://schemas.microsoft.com/office/drawing/2014/main" id="{9A7ED306-A406-4E97-BD1E-B6DB4BD68D07}"/>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FFFFFF"/>
                </a:solidFill>
                <a:latin typeface="Aptos Display"/>
                <a:ea typeface="Aptos Display"/>
                <a:cs typeface="Aptos Display"/>
              </a:defRPr>
            </a:pPr>
            <a:r>
              <a:rPr sz="900" b="1" i="0">
                <a:solidFill>
                  <a:srgbClr val="FFFFFF"/>
                </a:solidFill>
                <a:latin typeface="Aptos Display"/>
                <a:ea typeface="Aptos Display"/>
                <a:cs typeface="Aptos Display"/>
              </a:rPr>
              <a:t>15</a:t>
            </a:r>
          </a:p>
        </p:txBody>
      </p:sp>
    </p:spTree>
    <p:extLst>
      <p:ext uri="{BB962C8B-B14F-4D97-AF65-F5344CB8AC3E}">
        <p14:creationId xmlns:p14="http://schemas.microsoft.com/office/powerpoint/2010/main" val="753289279"/>
      </p:ext>
    </p:extLst>
  </p:cSld>
  <p:transition spd="fast" advClick="1">
    <p:fade/>
  </p:transition>
</p:sld>
</file>

<file path=ppt/slides/slide16.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9D204BF-4A3D-4551-A36C-4CDB67625F85}"/>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PROJECTED GROWTH</a:t>
            </a:r>
          </a:p>
        </p:txBody>
      </p:sp>
      <p:sp>
        <p:nvSpPr>
          <p:cNvPr id="2" name="">
            <a:extLst xmlns:a="http://schemas.openxmlformats.org/drawingml/2006/main">
              <a:ext uri="{FF2B5EF4-FFF2-40B4-BE49-F238E27FC236}">
                <a16:creationId xmlns:a16="http://schemas.microsoft.com/office/drawing/2014/main" id="{5447AF7A-D9C0-4A73-A9D9-3816D60D554C}"/>
              </a:ext>
            </a:extLst>
          </p:cNvPr>
          <p:cNvSpPr>
            <a:spLocks xmlns:a="http://schemas.openxmlformats.org/drawingml/2006/main" noGrp="1"/>
          </p:cNvSpPr>
          <p:nvPr/>
        </p:nvSpPr>
        <p:spPr>
          <a:xfrm xmlns:a="http://schemas.openxmlformats.org/drawingml/2006/main">
            <a:off x="685800" y="74295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750" b="1" i="0">
                <a:solidFill>
                  <a:srgbClr val="182033"/>
                </a:solidFill>
                <a:latin typeface="Aptos Display"/>
                <a:ea typeface="Aptos Display"/>
                <a:cs typeface="Aptos Display"/>
              </a:defRPr>
            </a:pPr>
            <a:r>
              <a:rPr sz="3750" b="1" i="0">
                <a:solidFill>
                  <a:srgbClr val="182033"/>
                </a:solidFill>
                <a:latin typeface="Aptos Display"/>
                <a:ea typeface="Aptos Display"/>
                <a:cs typeface="Aptos Display"/>
              </a:rPr>
              <a:t>An illustrative path to 2.5m verified residents.</a:t>
            </a:r>
          </a:p>
        </p:txBody>
      </p:sp>
      <p:sp>
        <p:nvSpPr>
          <p:cNvPr id="3" name="">
            <a:extLst xmlns:a="http://schemas.openxmlformats.org/drawingml/2006/main">
              <a:ext uri="{FF2B5EF4-FFF2-40B4-BE49-F238E27FC236}">
                <a16:creationId xmlns:a16="http://schemas.microsoft.com/office/drawing/2014/main" id="{317BA4FE-DE72-495F-A05F-BC9B08C69D56}"/>
              </a:ext>
            </a:extLst>
          </p:cNvPr>
          <p:cNvSpPr>
            <a:spLocks xmlns:a="http://schemas.openxmlformats.org/drawingml/2006/main" noGrp="1"/>
          </p:cNvSpPr>
          <p:nvPr/>
        </p:nvSpPr>
        <p:spPr>
          <a:xfrm xmlns:a="http://schemas.openxmlformats.org/drawingml/2006/main">
            <a:off x="685800" y="1733550"/>
            <a:ext cx="7677150" cy="3838575"/>
          </a:xfrm>
          <a:prstGeom xmlns:a="http://schemas.openxmlformats.org/drawingml/2006/main" prst="roundRect">
            <a:avLst>
              <a:gd name="adj" fmla="val 5955"/>
            </a:avLst>
          </a:prstGeom>
          <a:solidFill xmlns:a="http://schemas.openxmlformats.org/drawingml/2006/main">
            <a:srgbClr val="FFFFFF"/>
          </a:solidFill>
          <a:ln xmlns:a="http://schemas.openxmlformats.org/drawingml/2006/main" w="9525">
            <a:solidFill>
              <a:srgbClr val="D8D2C8"/>
            </a:solidFill>
            <a:prstDash val="solid"/>
          </a:ln>
        </p:spPr>
      </p:sp>
      <p:graphicFrame>
        <p:nvGraphicFramePr>
          <p:cNvPr id="29" name="Chart"/>
          <p:cNvGraphicFramePr/>
          <p:nvPr/>
        </p:nvGraphicFramePr>
        <p:xfrm>
          <a:off xmlns:a="http://schemas.openxmlformats.org/drawingml/2006/main" x="971550" y="2095500"/>
          <a:ext xmlns:a="http://schemas.openxmlformats.org/drawingml/2006/main" cx="7105650" cy="2857500"/>
        </p:xfrm>
        <a:graphic xmlns:a="http://schemas.openxmlformats.org/drawingml/2006/main">
          <a:graphicData uri="http://schemas.openxmlformats.org/drawingml/2006/chart">
            <c:chart xmlns:r="http://schemas.openxmlformats.org/officeDocument/2006/relationships" xmlns:c="http://schemas.openxmlformats.org/drawingml/2006/chart" r:id="Re551d6b7f03745a0"/>
          </a:graphicData>
        </a:graphic>
      </p:graphicFrame>
      <p:sp>
        <p:nvSpPr>
          <p:cNvPr id="5" name="">
            <a:extLst xmlns:a="http://schemas.openxmlformats.org/drawingml/2006/main">
              <a:ext uri="{FF2B5EF4-FFF2-40B4-BE49-F238E27FC236}">
                <a16:creationId xmlns:a16="http://schemas.microsoft.com/office/drawing/2014/main" id="{54F386E6-EC86-40FC-BC54-C9F84DDECFED}"/>
              </a:ext>
            </a:extLst>
          </p:cNvPr>
          <p:cNvSpPr>
            <a:spLocks xmlns:a="http://schemas.openxmlformats.org/drawingml/2006/main" noGrp="1"/>
          </p:cNvSpPr>
          <p:nvPr/>
        </p:nvSpPr>
        <p:spPr>
          <a:xfrm xmlns:a="http://schemas.openxmlformats.org/drawingml/2006/main">
            <a:off x="1123950" y="51244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B6474"/>
                </a:solidFill>
                <a:latin typeface="Aptos Display"/>
                <a:ea typeface="Aptos Display"/>
                <a:cs typeface="Aptos Display"/>
              </a:defRPr>
            </a:pPr>
            <a:r>
              <a:rPr sz="900" b="1" i="0">
                <a:solidFill>
                  <a:srgbClr val="5B6474"/>
                </a:solidFill>
                <a:latin typeface="Aptos Display"/>
                <a:ea typeface="Aptos Display"/>
                <a:cs typeface="Aptos Display"/>
              </a:rPr>
              <a:t>VERIFIED RESIDENTS • MILLIONS</a:t>
            </a:r>
          </a:p>
        </p:txBody>
      </p:sp>
      <p:sp>
        <p:nvSpPr>
          <p:cNvPr id="6" name="">
            <a:extLst xmlns:a="http://schemas.openxmlformats.org/drawingml/2006/main">
              <a:ext uri="{FF2B5EF4-FFF2-40B4-BE49-F238E27FC236}">
                <a16:creationId xmlns:a16="http://schemas.microsoft.com/office/drawing/2014/main" id="{B702F2F6-6000-4529-BBB4-A1A218D105CB}"/>
              </a:ext>
            </a:extLst>
          </p:cNvPr>
          <p:cNvSpPr>
            <a:spLocks xmlns:a="http://schemas.openxmlformats.org/drawingml/2006/main" noGrp="1"/>
          </p:cNvSpPr>
          <p:nvPr/>
        </p:nvSpPr>
        <p:spPr>
          <a:xfrm xmlns:a="http://schemas.openxmlformats.org/drawingml/2006/main">
            <a:off x="8629650" y="1733550"/>
            <a:ext cx="2876550" cy="3838575"/>
          </a:xfrm>
          <a:prstGeom xmlns:a="http://schemas.openxmlformats.org/drawingml/2006/main" prst="roundRect">
            <a:avLst>
              <a:gd name="adj" fmla="val 7947"/>
            </a:avLst>
          </a:prstGeom>
          <a:solidFill xmlns:a="http://schemas.openxmlformats.org/drawingml/2006/main">
            <a:srgbClr val="121A2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35C814-C8E1-46A4-B555-3DBC29A38AA9}"/>
              </a:ext>
            </a:extLst>
          </p:cNvPr>
          <p:cNvSpPr>
            <a:spLocks xmlns:a="http://schemas.openxmlformats.org/drawingml/2006/main" noGrp="1"/>
          </p:cNvSpPr>
          <p:nvPr/>
        </p:nvSpPr>
        <p:spPr>
          <a:xfrm xmlns:a="http://schemas.openxmlformats.org/drawingml/2006/main">
            <a:off x="8896350" y="2057400"/>
            <a:ext cx="514350" cy="26670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849CB89-CC72-4EC6-85E1-BD9D09171920}"/>
              </a:ext>
            </a:extLst>
          </p:cNvPr>
          <p:cNvSpPr>
            <a:spLocks xmlns:a="http://schemas.openxmlformats.org/drawingml/2006/main" noGrp="1"/>
          </p:cNvSpPr>
          <p:nvPr/>
        </p:nvSpPr>
        <p:spPr>
          <a:xfrm xmlns:a="http://schemas.openxmlformats.org/drawingml/2006/main">
            <a:off x="9010650" y="20955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Y1</a:t>
            </a:r>
          </a:p>
        </p:txBody>
      </p:sp>
      <p:sp>
        <p:nvSpPr>
          <p:cNvPr id="9" name="">
            <a:extLst xmlns:a="http://schemas.openxmlformats.org/drawingml/2006/main">
              <a:ext uri="{FF2B5EF4-FFF2-40B4-BE49-F238E27FC236}">
                <a16:creationId xmlns:a16="http://schemas.microsoft.com/office/drawing/2014/main" id="{4C4B3EDA-C25A-4ED9-AEB8-B6F24E008FBA}"/>
              </a:ext>
            </a:extLst>
          </p:cNvPr>
          <p:cNvSpPr>
            <a:spLocks xmlns:a="http://schemas.openxmlformats.org/drawingml/2006/main" noGrp="1"/>
          </p:cNvSpPr>
          <p:nvPr/>
        </p:nvSpPr>
        <p:spPr>
          <a:xfrm xmlns:a="http://schemas.openxmlformats.org/drawingml/2006/main">
            <a:off x="9563100" y="1990725"/>
            <a:ext cx="152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FFFFFF"/>
                </a:solidFill>
                <a:latin typeface="Aptos Display"/>
                <a:ea typeface="Aptos Display"/>
                <a:cs typeface="Aptos Display"/>
              </a:defRPr>
            </a:pPr>
            <a:r>
              <a:rPr sz="2400" b="1" i="0">
                <a:solidFill>
                  <a:srgbClr val="FFFFFF"/>
                </a:solidFill>
                <a:latin typeface="Aptos Display"/>
                <a:ea typeface="Aptos Display"/>
                <a:cs typeface="Aptos Display"/>
              </a:rPr>
              <a:t>30</a:t>
            </a:r>
          </a:p>
        </p:txBody>
      </p:sp>
      <p:sp>
        <p:nvSpPr>
          <p:cNvPr id="10" name="">
            <a:extLst xmlns:a="http://schemas.openxmlformats.org/drawingml/2006/main">
              <a:ext uri="{FF2B5EF4-FFF2-40B4-BE49-F238E27FC236}">
                <a16:creationId xmlns:a16="http://schemas.microsoft.com/office/drawing/2014/main" id="{3FFF3780-E06B-4A18-B44C-C52DCF2FFD68}"/>
              </a:ext>
            </a:extLst>
          </p:cNvPr>
          <p:cNvSpPr>
            <a:spLocks xmlns:a="http://schemas.openxmlformats.org/drawingml/2006/main" noGrp="1"/>
          </p:cNvSpPr>
          <p:nvPr/>
        </p:nvSpPr>
        <p:spPr>
          <a:xfrm xmlns:a="http://schemas.openxmlformats.org/drawingml/2006/main">
            <a:off x="8896350" y="2486025"/>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7D0E1"/>
                </a:solidFill>
                <a:latin typeface="Aptos"/>
                <a:ea typeface="Aptos"/>
                <a:cs typeface="Aptos"/>
              </a:defRPr>
            </a:pPr>
            <a:r>
              <a:rPr sz="1200" b="0" i="0">
                <a:solidFill>
                  <a:srgbClr val="C7D0E1"/>
                </a:solidFill>
                <a:latin typeface="Aptos"/>
                <a:ea typeface="Aptos"/>
                <a:cs typeface="Aptos"/>
              </a:rPr>
              <a:t>communities • 10k residents</a:t>
            </a:r>
          </a:p>
        </p:txBody>
      </p:sp>
      <p:sp>
        <p:nvSpPr>
          <p:cNvPr id="11" name="">
            <a:extLst xmlns:a="http://schemas.openxmlformats.org/drawingml/2006/main">
              <a:ext uri="{FF2B5EF4-FFF2-40B4-BE49-F238E27FC236}">
                <a16:creationId xmlns:a16="http://schemas.microsoft.com/office/drawing/2014/main" id="{5EF8BA47-3873-4EB8-BEE6-0436092A25CE}"/>
              </a:ext>
            </a:extLst>
          </p:cNvPr>
          <p:cNvSpPr>
            <a:spLocks xmlns:a="http://schemas.openxmlformats.org/drawingml/2006/main" noGrp="1"/>
          </p:cNvSpPr>
          <p:nvPr/>
        </p:nvSpPr>
        <p:spPr>
          <a:xfrm xmlns:a="http://schemas.openxmlformats.org/drawingml/2006/main">
            <a:off x="8896350" y="2943225"/>
            <a:ext cx="2305050" cy="0"/>
          </a:xfrm>
          <a:prstGeom xmlns:a="http://schemas.openxmlformats.org/drawingml/2006/main" prst="line">
            <a:avLst/>
          </a:prstGeom>
          <a:noFill xmlns:a="http://schemas.openxmlformats.org/drawingml/2006/main"/>
          <a:ln xmlns:a="http://schemas.openxmlformats.org/drawingml/2006/main" w="9525">
            <a:solidFill>
              <a:srgbClr val="26334E"/>
            </a:solidFill>
            <a:prstDash val="solid"/>
          </a:ln>
        </p:spPr>
      </p:sp>
      <p:sp>
        <p:nvSpPr>
          <p:cNvPr id="12" name="">
            <a:extLst xmlns:a="http://schemas.openxmlformats.org/drawingml/2006/main">
              <a:ext uri="{FF2B5EF4-FFF2-40B4-BE49-F238E27FC236}">
                <a16:creationId xmlns:a16="http://schemas.microsoft.com/office/drawing/2014/main" id="{6011E9ED-44B1-4BD2-A665-C7C701EE1614}"/>
              </a:ext>
            </a:extLst>
          </p:cNvPr>
          <p:cNvSpPr>
            <a:spLocks xmlns:a="http://schemas.openxmlformats.org/drawingml/2006/main" noGrp="1"/>
          </p:cNvSpPr>
          <p:nvPr/>
        </p:nvSpPr>
        <p:spPr>
          <a:xfrm xmlns:a="http://schemas.openxmlformats.org/drawingml/2006/main">
            <a:off x="8896350" y="3162300"/>
            <a:ext cx="514350" cy="26670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DD1347-E67B-43D3-996D-CDA80A63BE24}"/>
              </a:ext>
            </a:extLst>
          </p:cNvPr>
          <p:cNvSpPr>
            <a:spLocks xmlns:a="http://schemas.openxmlformats.org/drawingml/2006/main" noGrp="1"/>
          </p:cNvSpPr>
          <p:nvPr/>
        </p:nvSpPr>
        <p:spPr>
          <a:xfrm xmlns:a="http://schemas.openxmlformats.org/drawingml/2006/main">
            <a:off x="9010650" y="32004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Y3</a:t>
            </a:r>
          </a:p>
        </p:txBody>
      </p:sp>
      <p:sp>
        <p:nvSpPr>
          <p:cNvPr id="14" name="">
            <a:extLst xmlns:a="http://schemas.openxmlformats.org/drawingml/2006/main">
              <a:ext uri="{FF2B5EF4-FFF2-40B4-BE49-F238E27FC236}">
                <a16:creationId xmlns:a16="http://schemas.microsoft.com/office/drawing/2014/main" id="{03AC8B7E-90B2-4CE4-AAE4-11F7C35EAA4E}"/>
              </a:ext>
            </a:extLst>
          </p:cNvPr>
          <p:cNvSpPr>
            <a:spLocks xmlns:a="http://schemas.openxmlformats.org/drawingml/2006/main" noGrp="1"/>
          </p:cNvSpPr>
          <p:nvPr/>
        </p:nvSpPr>
        <p:spPr>
          <a:xfrm xmlns:a="http://schemas.openxmlformats.org/drawingml/2006/main">
            <a:off x="9563100" y="3095625"/>
            <a:ext cx="152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FFFFFF"/>
                </a:solidFill>
                <a:latin typeface="Aptos Display"/>
                <a:ea typeface="Aptos Display"/>
                <a:cs typeface="Aptos Display"/>
              </a:defRPr>
            </a:pPr>
            <a:r>
              <a:rPr sz="2400" b="1" i="0">
                <a:solidFill>
                  <a:srgbClr val="FFFFFF"/>
                </a:solidFill>
                <a:latin typeface="Aptos Display"/>
                <a:ea typeface="Aptos Display"/>
                <a:cs typeface="Aptos Display"/>
              </a:rPr>
              <a:t>600</a:t>
            </a:r>
          </a:p>
        </p:txBody>
      </p:sp>
      <p:sp>
        <p:nvSpPr>
          <p:cNvPr id="15" name="">
            <a:extLst xmlns:a="http://schemas.openxmlformats.org/drawingml/2006/main">
              <a:ext uri="{FF2B5EF4-FFF2-40B4-BE49-F238E27FC236}">
                <a16:creationId xmlns:a16="http://schemas.microsoft.com/office/drawing/2014/main" id="{AE6E71F9-D357-427F-B103-A7BCE04DD699}"/>
              </a:ext>
            </a:extLst>
          </p:cNvPr>
          <p:cNvSpPr>
            <a:spLocks xmlns:a="http://schemas.openxmlformats.org/drawingml/2006/main" noGrp="1"/>
          </p:cNvSpPr>
          <p:nvPr/>
        </p:nvSpPr>
        <p:spPr>
          <a:xfrm xmlns:a="http://schemas.openxmlformats.org/drawingml/2006/main">
            <a:off x="8896350" y="3590925"/>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7D0E1"/>
                </a:solidFill>
                <a:latin typeface="Aptos"/>
                <a:ea typeface="Aptos"/>
                <a:cs typeface="Aptos"/>
              </a:defRPr>
            </a:pPr>
            <a:r>
              <a:rPr sz="1200" b="0" i="0">
                <a:solidFill>
                  <a:srgbClr val="C7D0E1"/>
                </a:solidFill>
                <a:latin typeface="Aptos"/>
                <a:ea typeface="Aptos"/>
                <a:cs typeface="Aptos"/>
              </a:rPr>
              <a:t>communities • 300k residents</a:t>
            </a:r>
          </a:p>
        </p:txBody>
      </p:sp>
      <p:sp>
        <p:nvSpPr>
          <p:cNvPr id="16" name="">
            <a:extLst xmlns:a="http://schemas.openxmlformats.org/drawingml/2006/main">
              <a:ext uri="{FF2B5EF4-FFF2-40B4-BE49-F238E27FC236}">
                <a16:creationId xmlns:a16="http://schemas.microsoft.com/office/drawing/2014/main" id="{5083D385-722A-4F54-80EC-1B5466BB539C}"/>
              </a:ext>
            </a:extLst>
          </p:cNvPr>
          <p:cNvSpPr>
            <a:spLocks xmlns:a="http://schemas.openxmlformats.org/drawingml/2006/main" noGrp="1"/>
          </p:cNvSpPr>
          <p:nvPr/>
        </p:nvSpPr>
        <p:spPr>
          <a:xfrm xmlns:a="http://schemas.openxmlformats.org/drawingml/2006/main">
            <a:off x="8896350" y="4048125"/>
            <a:ext cx="2305050" cy="0"/>
          </a:xfrm>
          <a:prstGeom xmlns:a="http://schemas.openxmlformats.org/drawingml/2006/main" prst="line">
            <a:avLst/>
          </a:prstGeom>
          <a:noFill xmlns:a="http://schemas.openxmlformats.org/drawingml/2006/main"/>
          <a:ln xmlns:a="http://schemas.openxmlformats.org/drawingml/2006/main" w="9525">
            <a:solidFill>
              <a:srgbClr val="26334E"/>
            </a:solidFill>
            <a:prstDash val="solid"/>
          </a:ln>
        </p:spPr>
      </p:sp>
      <p:sp>
        <p:nvSpPr>
          <p:cNvPr id="17" name="">
            <a:extLst xmlns:a="http://schemas.openxmlformats.org/drawingml/2006/main">
              <a:ext uri="{FF2B5EF4-FFF2-40B4-BE49-F238E27FC236}">
                <a16:creationId xmlns:a16="http://schemas.microsoft.com/office/drawing/2014/main" id="{EB861E6D-BC9B-42F7-AEEC-CC8D770E0F18}"/>
              </a:ext>
            </a:extLst>
          </p:cNvPr>
          <p:cNvSpPr>
            <a:spLocks xmlns:a="http://schemas.openxmlformats.org/drawingml/2006/main" noGrp="1"/>
          </p:cNvSpPr>
          <p:nvPr/>
        </p:nvSpPr>
        <p:spPr>
          <a:xfrm xmlns:a="http://schemas.openxmlformats.org/drawingml/2006/main">
            <a:off x="8896350" y="4267200"/>
            <a:ext cx="514350" cy="26670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03608E3-13B4-4F02-9642-2C6B2EBDB912}"/>
              </a:ext>
            </a:extLst>
          </p:cNvPr>
          <p:cNvSpPr>
            <a:spLocks xmlns:a="http://schemas.openxmlformats.org/drawingml/2006/main" noGrp="1"/>
          </p:cNvSpPr>
          <p:nvPr/>
        </p:nvSpPr>
        <p:spPr>
          <a:xfrm xmlns:a="http://schemas.openxmlformats.org/drawingml/2006/main">
            <a:off x="9010650" y="430530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Y5</a:t>
            </a:r>
          </a:p>
        </p:txBody>
      </p:sp>
      <p:sp>
        <p:nvSpPr>
          <p:cNvPr id="19" name="">
            <a:extLst xmlns:a="http://schemas.openxmlformats.org/drawingml/2006/main">
              <a:ext uri="{FF2B5EF4-FFF2-40B4-BE49-F238E27FC236}">
                <a16:creationId xmlns:a16="http://schemas.microsoft.com/office/drawing/2014/main" id="{9AF4A516-FF0D-4CD8-9925-9975A7C0D6C5}"/>
              </a:ext>
            </a:extLst>
          </p:cNvPr>
          <p:cNvSpPr>
            <a:spLocks xmlns:a="http://schemas.openxmlformats.org/drawingml/2006/main" noGrp="1"/>
          </p:cNvSpPr>
          <p:nvPr/>
        </p:nvSpPr>
        <p:spPr>
          <a:xfrm xmlns:a="http://schemas.openxmlformats.org/drawingml/2006/main">
            <a:off x="9563100" y="4200525"/>
            <a:ext cx="1524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FFFFFF"/>
                </a:solidFill>
                <a:latin typeface="Aptos Display"/>
                <a:ea typeface="Aptos Display"/>
                <a:cs typeface="Aptos Display"/>
              </a:defRPr>
            </a:pPr>
            <a:r>
              <a:rPr sz="2400" b="1" i="0">
                <a:solidFill>
                  <a:srgbClr val="FFFFFF"/>
                </a:solidFill>
                <a:latin typeface="Aptos Display"/>
                <a:ea typeface="Aptos Display"/>
                <a:cs typeface="Aptos Display"/>
              </a:rPr>
              <a:t>4,000</a:t>
            </a:r>
          </a:p>
        </p:txBody>
      </p:sp>
      <p:sp>
        <p:nvSpPr>
          <p:cNvPr id="20" name="">
            <a:extLst xmlns:a="http://schemas.openxmlformats.org/drawingml/2006/main">
              <a:ext uri="{FF2B5EF4-FFF2-40B4-BE49-F238E27FC236}">
                <a16:creationId xmlns:a16="http://schemas.microsoft.com/office/drawing/2014/main" id="{895D6AF1-5AAC-4D95-8182-041C58827552}"/>
              </a:ext>
            </a:extLst>
          </p:cNvPr>
          <p:cNvSpPr>
            <a:spLocks xmlns:a="http://schemas.openxmlformats.org/drawingml/2006/main" noGrp="1"/>
          </p:cNvSpPr>
          <p:nvPr/>
        </p:nvSpPr>
        <p:spPr>
          <a:xfrm xmlns:a="http://schemas.openxmlformats.org/drawingml/2006/main">
            <a:off x="8896350" y="4695825"/>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7D0E1"/>
                </a:solidFill>
                <a:latin typeface="Aptos"/>
                <a:ea typeface="Aptos"/>
                <a:cs typeface="Aptos"/>
              </a:defRPr>
            </a:pPr>
            <a:r>
              <a:rPr sz="1200" b="0" i="0">
                <a:solidFill>
                  <a:srgbClr val="C7D0E1"/>
                </a:solidFill>
                <a:latin typeface="Aptos"/>
                <a:ea typeface="Aptos"/>
                <a:cs typeface="Aptos"/>
              </a:rPr>
              <a:t>communities • 2.5m residents</a:t>
            </a:r>
          </a:p>
        </p:txBody>
      </p:sp>
      <p:sp>
        <p:nvSpPr>
          <p:cNvPr id="21" name="">
            <a:extLst xmlns:a="http://schemas.openxmlformats.org/drawingml/2006/main">
              <a:ext uri="{FF2B5EF4-FFF2-40B4-BE49-F238E27FC236}">
                <a16:creationId xmlns:a16="http://schemas.microsoft.com/office/drawing/2014/main" id="{FF9982F7-2DAA-4BE6-979D-5D98F50C5120}"/>
              </a:ext>
            </a:extLst>
          </p:cNvPr>
          <p:cNvSpPr>
            <a:spLocks xmlns:a="http://schemas.openxmlformats.org/drawingml/2006/main" noGrp="1"/>
          </p:cNvSpPr>
          <p:nvPr/>
        </p:nvSpPr>
        <p:spPr>
          <a:xfrm xmlns:a="http://schemas.openxmlformats.org/drawingml/2006/main">
            <a:off x="685800" y="5867400"/>
            <a:ext cx="257175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BB57390-5597-42E4-89ED-688A11B00E92}"/>
              </a:ext>
            </a:extLst>
          </p:cNvPr>
          <p:cNvSpPr>
            <a:spLocks xmlns:a="http://schemas.openxmlformats.org/drawingml/2006/main" noGrp="1"/>
          </p:cNvSpPr>
          <p:nvPr/>
        </p:nvSpPr>
        <p:spPr>
          <a:xfrm xmlns:a="http://schemas.openxmlformats.org/drawingml/2006/main">
            <a:off x="800100" y="5905500"/>
            <a:ext cx="2343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121A2C"/>
                </a:solidFill>
                <a:latin typeface="Aptos Display"/>
                <a:ea typeface="Aptos Display"/>
                <a:cs typeface="Aptos Display"/>
              </a:defRPr>
            </a:pPr>
            <a:r>
              <a:rPr sz="825" b="1" i="0">
                <a:solidFill>
                  <a:srgbClr val="121A2C"/>
                </a:solidFill>
                <a:latin typeface="Aptos Display"/>
                <a:ea typeface="Aptos Display"/>
                <a:cs typeface="Aptos Display"/>
              </a:rPr>
              <a:t>ILLUSTRATIVE OPERATING SCENARIO</a:t>
            </a:r>
          </a:p>
        </p:txBody>
      </p:sp>
      <p:sp>
        <p:nvSpPr>
          <p:cNvPr id="23" name="">
            <a:extLst xmlns:a="http://schemas.openxmlformats.org/drawingml/2006/main">
              <a:ext uri="{FF2B5EF4-FFF2-40B4-BE49-F238E27FC236}">
                <a16:creationId xmlns:a16="http://schemas.microsoft.com/office/drawing/2014/main" id="{F6CBE0F0-9518-465A-92BD-BA5C33D62DE4}"/>
              </a:ext>
            </a:extLst>
          </p:cNvPr>
          <p:cNvSpPr>
            <a:spLocks xmlns:a="http://schemas.openxmlformats.org/drawingml/2006/main" noGrp="1"/>
          </p:cNvSpPr>
          <p:nvPr/>
        </p:nvSpPr>
        <p:spPr>
          <a:xfrm xmlns:a="http://schemas.openxmlformats.org/drawingml/2006/main">
            <a:off x="3486150" y="5886450"/>
            <a:ext cx="7543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474"/>
                </a:solidFill>
                <a:latin typeface="Aptos"/>
                <a:ea typeface="Aptos"/>
                <a:cs typeface="Aptos"/>
              </a:defRPr>
            </a:pPr>
            <a:r>
              <a:rPr sz="1200" b="0" i="0">
                <a:solidFill>
                  <a:srgbClr val="5B6474"/>
                </a:solidFill>
                <a:latin typeface="Aptos"/>
                <a:ea typeface="Aptos"/>
                <a:cs typeface="Aptos"/>
              </a:rPr>
              <a:t>Targets for strategic planning—not current performance, a forecast or financial guidance.</a:t>
            </a:r>
          </a:p>
        </p:txBody>
      </p:sp>
      <p:sp>
        <p:nvSpPr>
          <p:cNvPr id="24" name="">
            <a:extLst xmlns:a="http://schemas.openxmlformats.org/drawingml/2006/main">
              <a:ext uri="{FF2B5EF4-FFF2-40B4-BE49-F238E27FC236}">
                <a16:creationId xmlns:a16="http://schemas.microsoft.com/office/drawing/2014/main" id="{02FFBCEC-1F8D-4BA3-9656-12BFC94177C2}"/>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Scenario assumptions: Y1 30 communities / 10k residents → Y5 4,000 / 2.5m.</a:t>
            </a:r>
          </a:p>
        </p:txBody>
      </p:sp>
      <p:sp>
        <p:nvSpPr>
          <p:cNvPr id="25" name="">
            <a:extLst xmlns:a="http://schemas.openxmlformats.org/drawingml/2006/main">
              <a:ext uri="{FF2B5EF4-FFF2-40B4-BE49-F238E27FC236}">
                <a16:creationId xmlns:a16="http://schemas.microsoft.com/office/drawing/2014/main" id="{8602DF11-ECF3-40DC-A6AC-1075BB4839FF}"/>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16</a:t>
            </a:r>
          </a:p>
        </p:txBody>
      </p:sp>
    </p:spTree>
    <p:extLst>
      <p:ext uri="{BB962C8B-B14F-4D97-AF65-F5344CB8AC3E}">
        <p14:creationId xmlns:p14="http://schemas.microsoft.com/office/powerpoint/2010/main" val="862740547"/>
      </p:ext>
    </p:extLst>
  </p:cSld>
  <p:transition spd="fast" advClick="1">
    <p:fade/>
  </p:transition>
</p:sld>
</file>

<file path=ppt/slides/slide17.xml><?xml version="1.0" encoding="utf-8"?>
<p:sld xmlns:p="http://schemas.openxmlformats.org/presentationml/2006/main">
  <p:cSld>
    <p:bg>
      <p:bgPr>
        <a:solidFill xmlns:a="http://schemas.openxmlformats.org/drawingml/2006/main">
          <a:srgbClr val="121A2C"/>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dcc48f44b884d5a"/>
          <a:srcRect xmlns:a="http://schemas.openxmlformats.org/drawingml/2006/main" l="18750" t="0" r="18750" b="0"/>
          <a:stretch xmlns:a="http://schemas.openxmlformats.org/drawingml/2006/main">
            <a:fillRect l="0" t="0" r="0" b="0"/>
          </a:stretch>
        </p:blipFill>
        <p:spPr>
          <a:xfrm xmlns:a="http://schemas.openxmlformats.org/drawingml/2006/main">
            <a:off x="4572000" y="0"/>
            <a:ext cx="7620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31EB6D-99C4-4DF2-BAA0-ED1E34C1EB49}"/>
              </a:ext>
            </a:extLst>
          </p:cNvPr>
          <p:cNvSpPr>
            <a:spLocks xmlns:a="http://schemas.openxmlformats.org/drawingml/2006/main" noGrp="1"/>
          </p:cNvSpPr>
          <p:nvPr/>
        </p:nvSpPr>
        <p:spPr>
          <a:xfrm xmlns:a="http://schemas.openxmlformats.org/drawingml/2006/main">
            <a:off x="0" y="0"/>
            <a:ext cx="5086350" cy="6858000"/>
          </a:xfrm>
          <a:prstGeom xmlns:a="http://schemas.openxmlformats.org/drawingml/2006/main" prst="rect">
            <a:avLst/>
          </a:prstGeom>
          <a:solidFill xmlns:a="http://schemas.openxmlformats.org/drawingml/2006/main">
            <a:srgbClr val="121A2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0DEAFBC-579F-48D1-A265-581C433F69F1}"/>
              </a:ext>
            </a:extLst>
          </p:cNvPr>
          <p:cNvSpPr>
            <a:spLocks xmlns:a="http://schemas.openxmlformats.org/drawingml/2006/main" noGrp="1"/>
          </p:cNvSpPr>
          <p:nvPr/>
        </p:nvSpPr>
        <p:spPr>
          <a:xfrm xmlns:a="http://schemas.openxmlformats.org/drawingml/2006/main">
            <a:off x="685800" y="4572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NATIONWIDE ROADMAP</a:t>
            </a:r>
          </a:p>
        </p:txBody>
      </p:sp>
      <p:sp>
        <p:nvSpPr>
          <p:cNvPr id="4" name="">
            <a:extLst xmlns:a="http://schemas.openxmlformats.org/drawingml/2006/main">
              <a:ext uri="{FF2B5EF4-FFF2-40B4-BE49-F238E27FC236}">
                <a16:creationId xmlns:a16="http://schemas.microsoft.com/office/drawing/2014/main" id="{E962FC20-20E8-4A20-9000-EB429C233A2D}"/>
              </a:ext>
            </a:extLst>
          </p:cNvPr>
          <p:cNvSpPr>
            <a:spLocks xmlns:a="http://schemas.openxmlformats.org/drawingml/2006/main" noGrp="1"/>
          </p:cNvSpPr>
          <p:nvPr/>
        </p:nvSpPr>
        <p:spPr>
          <a:xfrm xmlns:a="http://schemas.openxmlformats.org/drawingml/2006/main">
            <a:off x="685800" y="914400"/>
            <a:ext cx="3810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256"/>
          </a:bodyPr>
          <a:lstStyle xmlns:a="http://schemas.openxmlformats.org/drawingml/2006/main"/>
          <a:p xmlns:a="http://schemas.openxmlformats.org/drawingml/2006/main">
            <a:pPr algn="l">
              <a:defRPr sz="3525" b="1" i="0">
                <a:solidFill>
                  <a:srgbClr val="FFFFFF"/>
                </a:solidFill>
                <a:latin typeface="Aptos Display"/>
                <a:ea typeface="Aptos Display"/>
                <a:cs typeface="Aptos Display"/>
              </a:defRPr>
            </a:pPr>
            <a:r>
              <a:rPr sz="3525" b="1" i="0">
                <a:solidFill>
                  <a:srgbClr val="FFFFFF"/>
                </a:solidFill>
                <a:latin typeface="Aptos Display"/>
                <a:ea typeface="Aptos Display"/>
                <a:cs typeface="Aptos Display"/>
              </a:rPr>
              <a:t>Scale by city cluster,</a:t>
            </a:r>
          </a:p>
          <a:p xmlns:a="http://schemas.openxmlformats.org/drawingml/2006/main">
            <a:pPr algn="l">
              <a:defRPr sz="3525" b="1" i="0">
                <a:solidFill>
                  <a:srgbClr val="FFFFFF"/>
                </a:solidFill>
                <a:latin typeface="Aptos Display"/>
                <a:ea typeface="Aptos Display"/>
                <a:cs typeface="Aptos Display"/>
              </a:defRPr>
            </a:pPr>
            <a:r>
              <a:rPr sz="3525" b="1" i="0">
                <a:solidFill>
                  <a:srgbClr val="FFFFFF"/>
                </a:solidFill>
                <a:latin typeface="Aptos Display"/>
                <a:ea typeface="Aptos Display"/>
                <a:cs typeface="Aptos Display"/>
              </a:rPr>
              <a:t>not by national splash.</a:t>
            </a:r>
          </a:p>
        </p:txBody>
      </p:sp>
      <p:sp>
        <p:nvSpPr>
          <p:cNvPr id="5" name="">
            <a:extLst xmlns:a="http://schemas.openxmlformats.org/drawingml/2006/main">
              <a:ext uri="{FF2B5EF4-FFF2-40B4-BE49-F238E27FC236}">
                <a16:creationId xmlns:a16="http://schemas.microsoft.com/office/drawing/2014/main" id="{228ACCCE-296D-4996-A535-1464DD77F683}"/>
              </a:ext>
            </a:extLst>
          </p:cNvPr>
          <p:cNvSpPr>
            <a:spLocks xmlns:a="http://schemas.openxmlformats.org/drawingml/2006/main" noGrp="1"/>
          </p:cNvSpPr>
          <p:nvPr/>
        </p:nvSpPr>
        <p:spPr>
          <a:xfrm xmlns:a="http://schemas.openxmlformats.org/drawingml/2006/main">
            <a:off x="685800" y="2343150"/>
            <a:ext cx="838200" cy="26670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AD58BB-7BAD-4FD2-92AD-F942F6C04A0E}"/>
              </a:ext>
            </a:extLst>
          </p:cNvPr>
          <p:cNvSpPr>
            <a:spLocks xmlns:a="http://schemas.openxmlformats.org/drawingml/2006/main" noGrp="1"/>
          </p:cNvSpPr>
          <p:nvPr/>
        </p:nvSpPr>
        <p:spPr>
          <a:xfrm xmlns:a="http://schemas.openxmlformats.org/drawingml/2006/main">
            <a:off x="800100" y="23812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0–12m</a:t>
            </a:r>
          </a:p>
        </p:txBody>
      </p:sp>
      <p:sp>
        <p:nvSpPr>
          <p:cNvPr id="7" name="">
            <a:extLst xmlns:a="http://schemas.openxmlformats.org/drawingml/2006/main">
              <a:ext uri="{FF2B5EF4-FFF2-40B4-BE49-F238E27FC236}">
                <a16:creationId xmlns:a16="http://schemas.microsoft.com/office/drawing/2014/main" id="{E0A1E32E-3D7D-4FA4-82E4-05EB5086EA92}"/>
              </a:ext>
            </a:extLst>
          </p:cNvPr>
          <p:cNvSpPr>
            <a:spLocks xmlns:a="http://schemas.openxmlformats.org/drawingml/2006/main" noGrp="1"/>
          </p:cNvSpPr>
          <p:nvPr/>
        </p:nvSpPr>
        <p:spPr>
          <a:xfrm xmlns:a="http://schemas.openxmlformats.org/drawingml/2006/main">
            <a:off x="1685925" y="2314575"/>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FFFFFF"/>
                </a:solidFill>
                <a:latin typeface="Aptos Display"/>
                <a:ea typeface="Aptos Display"/>
                <a:cs typeface="Aptos Display"/>
              </a:defRPr>
            </a:pPr>
            <a:r>
              <a:rPr sz="1725" b="1" i="0">
                <a:solidFill>
                  <a:srgbClr val="FFFFFF"/>
                </a:solidFill>
                <a:latin typeface="Aptos Display"/>
                <a:ea typeface="Aptos Display"/>
                <a:cs typeface="Aptos Display"/>
              </a:rPr>
              <a:t>Prove density</a:t>
            </a:r>
          </a:p>
        </p:txBody>
      </p:sp>
      <p:sp>
        <p:nvSpPr>
          <p:cNvPr id="8" name="">
            <a:extLst xmlns:a="http://schemas.openxmlformats.org/drawingml/2006/main">
              <a:ext uri="{FF2B5EF4-FFF2-40B4-BE49-F238E27FC236}">
                <a16:creationId xmlns:a16="http://schemas.microsoft.com/office/drawing/2014/main" id="{37E78CE7-35BD-4497-8807-A5B04E76E60D}"/>
              </a:ext>
            </a:extLst>
          </p:cNvPr>
          <p:cNvSpPr>
            <a:spLocks xmlns:a="http://schemas.openxmlformats.org/drawingml/2006/main" noGrp="1"/>
          </p:cNvSpPr>
          <p:nvPr/>
        </p:nvSpPr>
        <p:spPr>
          <a:xfrm xmlns:a="http://schemas.openxmlformats.org/drawingml/2006/main">
            <a:off x="1685925" y="2657475"/>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B8C2D6"/>
                </a:solidFill>
                <a:latin typeface="Aptos"/>
                <a:ea typeface="Aptos"/>
                <a:cs typeface="Aptos"/>
              </a:defRPr>
            </a:pPr>
            <a:r>
              <a:rPr sz="1125" b="0" i="0">
                <a:solidFill>
                  <a:srgbClr val="B8C2D6"/>
                </a:solidFill>
                <a:latin typeface="Aptos"/>
                <a:ea typeface="Aptos"/>
                <a:cs typeface="Aptos"/>
              </a:rPr>
              <a:t>Islamabad/Rawalpindi, Lahore, Karachi • 30 communities</a:t>
            </a:r>
          </a:p>
        </p:txBody>
      </p:sp>
      <p:sp>
        <p:nvSpPr>
          <p:cNvPr id="9" name="">
            <a:extLst xmlns:a="http://schemas.openxmlformats.org/drawingml/2006/main">
              <a:ext uri="{FF2B5EF4-FFF2-40B4-BE49-F238E27FC236}">
                <a16:creationId xmlns:a16="http://schemas.microsoft.com/office/drawing/2014/main" id="{6309327D-E561-44A8-8A9A-977A681D4500}"/>
              </a:ext>
            </a:extLst>
          </p:cNvPr>
          <p:cNvSpPr>
            <a:spLocks xmlns:a="http://schemas.openxmlformats.org/drawingml/2006/main" noGrp="1"/>
          </p:cNvSpPr>
          <p:nvPr/>
        </p:nvSpPr>
        <p:spPr>
          <a:xfrm xmlns:a="http://schemas.openxmlformats.org/drawingml/2006/main">
            <a:off x="685800" y="3238500"/>
            <a:ext cx="838200" cy="26670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BA3FB7-1A2F-44EE-B974-6F314586F02B}"/>
              </a:ext>
            </a:extLst>
          </p:cNvPr>
          <p:cNvSpPr>
            <a:spLocks xmlns:a="http://schemas.openxmlformats.org/drawingml/2006/main" noGrp="1"/>
          </p:cNvSpPr>
          <p:nvPr/>
        </p:nvSpPr>
        <p:spPr>
          <a:xfrm xmlns:a="http://schemas.openxmlformats.org/drawingml/2006/main">
            <a:off x="800100" y="327660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12–24m</a:t>
            </a:r>
          </a:p>
        </p:txBody>
      </p:sp>
      <p:sp>
        <p:nvSpPr>
          <p:cNvPr id="11" name="">
            <a:extLst xmlns:a="http://schemas.openxmlformats.org/drawingml/2006/main">
              <a:ext uri="{FF2B5EF4-FFF2-40B4-BE49-F238E27FC236}">
                <a16:creationId xmlns:a16="http://schemas.microsoft.com/office/drawing/2014/main" id="{3DCB28D6-2734-45C7-B45B-FE9DFCEE6550}"/>
              </a:ext>
            </a:extLst>
          </p:cNvPr>
          <p:cNvSpPr>
            <a:spLocks xmlns:a="http://schemas.openxmlformats.org/drawingml/2006/main" noGrp="1"/>
          </p:cNvSpPr>
          <p:nvPr/>
        </p:nvSpPr>
        <p:spPr>
          <a:xfrm xmlns:a="http://schemas.openxmlformats.org/drawingml/2006/main">
            <a:off x="1685925" y="3209925"/>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FFFFFF"/>
                </a:solidFill>
                <a:latin typeface="Aptos Display"/>
                <a:ea typeface="Aptos Display"/>
                <a:cs typeface="Aptos Display"/>
              </a:defRPr>
            </a:pPr>
            <a:r>
              <a:rPr sz="1725" b="1" i="0">
                <a:solidFill>
                  <a:srgbClr val="FFFFFF"/>
                </a:solidFill>
                <a:latin typeface="Aptos Display"/>
                <a:ea typeface="Aptos Display"/>
                <a:cs typeface="Aptos Display"/>
              </a:rPr>
              <a:t>Replicate</a:t>
            </a:r>
          </a:p>
        </p:txBody>
      </p:sp>
      <p:sp>
        <p:nvSpPr>
          <p:cNvPr id="12" name="">
            <a:extLst xmlns:a="http://schemas.openxmlformats.org/drawingml/2006/main">
              <a:ext uri="{FF2B5EF4-FFF2-40B4-BE49-F238E27FC236}">
                <a16:creationId xmlns:a16="http://schemas.microsoft.com/office/drawing/2014/main" id="{C4F3CAC2-B491-4601-B575-88F36F7782C3}"/>
              </a:ext>
            </a:extLst>
          </p:cNvPr>
          <p:cNvSpPr>
            <a:spLocks xmlns:a="http://schemas.openxmlformats.org/drawingml/2006/main" noGrp="1"/>
          </p:cNvSpPr>
          <p:nvPr/>
        </p:nvSpPr>
        <p:spPr>
          <a:xfrm xmlns:a="http://schemas.openxmlformats.org/drawingml/2006/main">
            <a:off x="1685925" y="3552825"/>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B8C2D6"/>
                </a:solidFill>
                <a:latin typeface="Aptos"/>
                <a:ea typeface="Aptos"/>
                <a:cs typeface="Aptos"/>
              </a:defRPr>
            </a:pPr>
            <a:r>
              <a:rPr sz="1125" b="0" i="0">
                <a:solidFill>
                  <a:srgbClr val="B8C2D6"/>
                </a:solidFill>
                <a:latin typeface="Aptos"/>
                <a:ea typeface="Aptos"/>
                <a:cs typeface="Aptos"/>
              </a:rPr>
              <a:t>Seven-city playbook • 150 communities</a:t>
            </a:r>
          </a:p>
        </p:txBody>
      </p:sp>
      <p:sp>
        <p:nvSpPr>
          <p:cNvPr id="13" name="">
            <a:extLst xmlns:a="http://schemas.openxmlformats.org/drawingml/2006/main">
              <a:ext uri="{FF2B5EF4-FFF2-40B4-BE49-F238E27FC236}">
                <a16:creationId xmlns:a16="http://schemas.microsoft.com/office/drawing/2014/main" id="{022990C7-DE1E-4023-B57F-7F8F07A7A177}"/>
              </a:ext>
            </a:extLst>
          </p:cNvPr>
          <p:cNvSpPr>
            <a:spLocks xmlns:a="http://schemas.openxmlformats.org/drawingml/2006/main" noGrp="1"/>
          </p:cNvSpPr>
          <p:nvPr/>
        </p:nvSpPr>
        <p:spPr>
          <a:xfrm xmlns:a="http://schemas.openxmlformats.org/drawingml/2006/main">
            <a:off x="685800" y="4133850"/>
            <a:ext cx="838200" cy="26670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513CC9-670A-4197-BF85-072FD8F0EE25}"/>
              </a:ext>
            </a:extLst>
          </p:cNvPr>
          <p:cNvSpPr>
            <a:spLocks xmlns:a="http://schemas.openxmlformats.org/drawingml/2006/main" noGrp="1"/>
          </p:cNvSpPr>
          <p:nvPr/>
        </p:nvSpPr>
        <p:spPr>
          <a:xfrm xmlns:a="http://schemas.openxmlformats.org/drawingml/2006/main">
            <a:off x="800100" y="417195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24–36m</a:t>
            </a:r>
          </a:p>
        </p:txBody>
      </p:sp>
      <p:sp>
        <p:nvSpPr>
          <p:cNvPr id="15" name="">
            <a:extLst xmlns:a="http://schemas.openxmlformats.org/drawingml/2006/main">
              <a:ext uri="{FF2B5EF4-FFF2-40B4-BE49-F238E27FC236}">
                <a16:creationId xmlns:a16="http://schemas.microsoft.com/office/drawing/2014/main" id="{933F1A2B-712E-4C1B-8F5F-EE195ABF4DA2}"/>
              </a:ext>
            </a:extLst>
          </p:cNvPr>
          <p:cNvSpPr>
            <a:spLocks xmlns:a="http://schemas.openxmlformats.org/drawingml/2006/main" noGrp="1"/>
          </p:cNvSpPr>
          <p:nvPr/>
        </p:nvSpPr>
        <p:spPr>
          <a:xfrm xmlns:a="http://schemas.openxmlformats.org/drawingml/2006/main">
            <a:off x="1685925" y="4105275"/>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FFFFFF"/>
                </a:solidFill>
                <a:latin typeface="Aptos Display"/>
                <a:ea typeface="Aptos Display"/>
                <a:cs typeface="Aptos Display"/>
              </a:defRPr>
            </a:pPr>
            <a:r>
              <a:rPr sz="1725" b="1" i="0">
                <a:solidFill>
                  <a:srgbClr val="FFFFFF"/>
                </a:solidFill>
                <a:latin typeface="Aptos Display"/>
                <a:ea typeface="Aptos Display"/>
                <a:cs typeface="Aptos Display"/>
              </a:rPr>
              <a:t>Regionalize</a:t>
            </a:r>
          </a:p>
        </p:txBody>
      </p:sp>
      <p:sp>
        <p:nvSpPr>
          <p:cNvPr id="16" name="">
            <a:extLst xmlns:a="http://schemas.openxmlformats.org/drawingml/2006/main">
              <a:ext uri="{FF2B5EF4-FFF2-40B4-BE49-F238E27FC236}">
                <a16:creationId xmlns:a16="http://schemas.microsoft.com/office/drawing/2014/main" id="{8D1930FA-B1AD-4BE4-A10D-E39705C90AC8}"/>
              </a:ext>
            </a:extLst>
          </p:cNvPr>
          <p:cNvSpPr>
            <a:spLocks xmlns:a="http://schemas.openxmlformats.org/drawingml/2006/main" noGrp="1"/>
          </p:cNvSpPr>
          <p:nvPr/>
        </p:nvSpPr>
        <p:spPr>
          <a:xfrm xmlns:a="http://schemas.openxmlformats.org/drawingml/2006/main">
            <a:off x="1685925" y="4448175"/>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B8C2D6"/>
                </a:solidFill>
                <a:latin typeface="Aptos"/>
                <a:ea typeface="Aptos"/>
                <a:cs typeface="Aptos"/>
              </a:defRPr>
            </a:pPr>
            <a:r>
              <a:rPr sz="1125" b="0" i="0">
                <a:solidFill>
                  <a:srgbClr val="B8C2D6"/>
                </a:solidFill>
                <a:latin typeface="Aptos"/>
                <a:ea typeface="Aptos"/>
                <a:cs typeface="Aptos"/>
              </a:rPr>
              <a:t>Local operations, Urdu/localization, partner integrations • 600 communities</a:t>
            </a:r>
          </a:p>
        </p:txBody>
      </p:sp>
      <p:sp>
        <p:nvSpPr>
          <p:cNvPr id="17" name="">
            <a:extLst xmlns:a="http://schemas.openxmlformats.org/drawingml/2006/main">
              <a:ext uri="{FF2B5EF4-FFF2-40B4-BE49-F238E27FC236}">
                <a16:creationId xmlns:a16="http://schemas.microsoft.com/office/drawing/2014/main" id="{92BC8188-FF5E-4DE1-A6C0-1F2A7DF64B95}"/>
              </a:ext>
            </a:extLst>
          </p:cNvPr>
          <p:cNvSpPr>
            <a:spLocks xmlns:a="http://schemas.openxmlformats.org/drawingml/2006/main" noGrp="1"/>
          </p:cNvSpPr>
          <p:nvPr/>
        </p:nvSpPr>
        <p:spPr>
          <a:xfrm xmlns:a="http://schemas.openxmlformats.org/drawingml/2006/main">
            <a:off x="685800" y="5029200"/>
            <a:ext cx="838200" cy="26670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08E8CFF-E4E4-4C7D-989F-07D54A22830E}"/>
              </a:ext>
            </a:extLst>
          </p:cNvPr>
          <p:cNvSpPr>
            <a:spLocks xmlns:a="http://schemas.openxmlformats.org/drawingml/2006/main" noGrp="1"/>
          </p:cNvSpPr>
          <p:nvPr/>
        </p:nvSpPr>
        <p:spPr>
          <a:xfrm xmlns:a="http://schemas.openxmlformats.org/drawingml/2006/main">
            <a:off x="800100" y="5067300"/>
            <a:ext cx="609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FFFFFF"/>
                </a:solidFill>
                <a:latin typeface="Aptos Display"/>
                <a:ea typeface="Aptos Display"/>
                <a:cs typeface="Aptos Display"/>
              </a:defRPr>
            </a:pPr>
            <a:r>
              <a:rPr sz="825" b="1" i="0">
                <a:solidFill>
                  <a:srgbClr val="FFFFFF"/>
                </a:solidFill>
                <a:latin typeface="Aptos Display"/>
                <a:ea typeface="Aptos Display"/>
                <a:cs typeface="Aptos Display"/>
              </a:rPr>
              <a:t>36–60m</a:t>
            </a:r>
          </a:p>
        </p:txBody>
      </p:sp>
      <p:sp>
        <p:nvSpPr>
          <p:cNvPr id="19" name="">
            <a:extLst xmlns:a="http://schemas.openxmlformats.org/drawingml/2006/main">
              <a:ext uri="{FF2B5EF4-FFF2-40B4-BE49-F238E27FC236}">
                <a16:creationId xmlns:a16="http://schemas.microsoft.com/office/drawing/2014/main" id="{64F26D25-5E7D-468A-B0BA-FC4CA8CB9DEE}"/>
              </a:ext>
            </a:extLst>
          </p:cNvPr>
          <p:cNvSpPr>
            <a:spLocks xmlns:a="http://schemas.openxmlformats.org/drawingml/2006/main" noGrp="1"/>
          </p:cNvSpPr>
          <p:nvPr/>
        </p:nvSpPr>
        <p:spPr>
          <a:xfrm xmlns:a="http://schemas.openxmlformats.org/drawingml/2006/main">
            <a:off x="1685925" y="5000625"/>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FFFFFF"/>
                </a:solidFill>
                <a:latin typeface="Aptos Display"/>
                <a:ea typeface="Aptos Display"/>
                <a:cs typeface="Aptos Display"/>
              </a:defRPr>
            </a:pPr>
            <a:r>
              <a:rPr sz="1725" b="1" i="0">
                <a:solidFill>
                  <a:srgbClr val="FFFFFF"/>
                </a:solidFill>
                <a:latin typeface="Aptos Display"/>
                <a:ea typeface="Aptos Display"/>
                <a:cs typeface="Aptos Display"/>
              </a:rPr>
              <a:t>National platform</a:t>
            </a:r>
          </a:p>
        </p:txBody>
      </p:sp>
      <p:sp>
        <p:nvSpPr>
          <p:cNvPr id="20" name="">
            <a:extLst xmlns:a="http://schemas.openxmlformats.org/drawingml/2006/main">
              <a:ext uri="{FF2B5EF4-FFF2-40B4-BE49-F238E27FC236}">
                <a16:creationId xmlns:a16="http://schemas.microsoft.com/office/drawing/2014/main" id="{4872E677-38F0-4622-AD6B-6AB111CFD31C}"/>
              </a:ext>
            </a:extLst>
          </p:cNvPr>
          <p:cNvSpPr>
            <a:spLocks xmlns:a="http://schemas.openxmlformats.org/drawingml/2006/main" noGrp="1"/>
          </p:cNvSpPr>
          <p:nvPr/>
        </p:nvSpPr>
        <p:spPr>
          <a:xfrm xmlns:a="http://schemas.openxmlformats.org/drawingml/2006/main">
            <a:off x="1685925" y="5343525"/>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B8C2D6"/>
                </a:solidFill>
                <a:latin typeface="Aptos"/>
                <a:ea typeface="Aptos"/>
                <a:cs typeface="Aptos"/>
              </a:defRPr>
            </a:pPr>
            <a:r>
              <a:rPr sz="1125" b="0" i="0">
                <a:solidFill>
                  <a:srgbClr val="B8C2D6"/>
                </a:solidFill>
                <a:latin typeface="Aptos"/>
                <a:ea typeface="Aptos"/>
                <a:cs typeface="Aptos"/>
              </a:rPr>
              <a:t>APIs and ecosystem partnerships • 4,000 communities</a:t>
            </a:r>
          </a:p>
        </p:txBody>
      </p:sp>
      <p:sp>
        <p:nvSpPr>
          <p:cNvPr id="21" name="">
            <a:extLst xmlns:a="http://schemas.openxmlformats.org/drawingml/2006/main">
              <a:ext uri="{FF2B5EF4-FFF2-40B4-BE49-F238E27FC236}">
                <a16:creationId xmlns:a16="http://schemas.microsoft.com/office/drawing/2014/main" id="{3BB8EDA6-FF13-49BC-8ADC-A25480A8CAB2}"/>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C7D0E1"/>
                </a:solidFill>
                <a:latin typeface="Aptos"/>
                <a:ea typeface="Aptos"/>
                <a:cs typeface="Aptos"/>
              </a:defRPr>
            </a:pPr>
            <a:r>
              <a:rPr sz="825" b="0" i="0">
                <a:solidFill>
                  <a:srgbClr val="C7D0E1"/>
                </a:solidFill>
                <a:latin typeface="Aptos"/>
                <a:ea typeface="Aptos"/>
                <a:cs typeface="Aptos"/>
              </a:rPr>
              <a:t>Roadmap and community counts are illustrative execution targets.</a:t>
            </a:r>
          </a:p>
        </p:txBody>
      </p:sp>
      <p:sp>
        <p:nvSpPr>
          <p:cNvPr id="22" name="">
            <a:extLst xmlns:a="http://schemas.openxmlformats.org/drawingml/2006/main">
              <a:ext uri="{FF2B5EF4-FFF2-40B4-BE49-F238E27FC236}">
                <a16:creationId xmlns:a16="http://schemas.microsoft.com/office/drawing/2014/main" id="{D2AC5DB0-1CD0-4E23-BF93-ED25DF6BAA7D}"/>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FFFFFF"/>
                </a:solidFill>
                <a:latin typeface="Aptos Display"/>
                <a:ea typeface="Aptos Display"/>
                <a:cs typeface="Aptos Display"/>
              </a:defRPr>
            </a:pPr>
            <a:r>
              <a:rPr sz="900" b="1" i="0">
                <a:solidFill>
                  <a:srgbClr val="FFFFFF"/>
                </a:solidFill>
                <a:latin typeface="Aptos Display"/>
                <a:ea typeface="Aptos Display"/>
                <a:cs typeface="Aptos Display"/>
              </a:rPr>
              <a:t>17</a:t>
            </a:r>
          </a:p>
        </p:txBody>
      </p:sp>
    </p:spTree>
    <p:extLst>
      <p:ext uri="{BB962C8B-B14F-4D97-AF65-F5344CB8AC3E}">
        <p14:creationId xmlns:p14="http://schemas.microsoft.com/office/powerpoint/2010/main" val="612910385"/>
      </p:ext>
    </p:extLst>
  </p:cSld>
  <p:transition spd="fast" advClick="1">
    <p:push dir="l"/>
  </p:transition>
</p:sld>
</file>

<file path=ppt/slides/slide18.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5127BB9-0E89-4B3C-8718-5219E6C50F20}"/>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SWOT ANALYSIS</a:t>
            </a:r>
          </a:p>
        </p:txBody>
      </p:sp>
      <p:sp>
        <p:nvSpPr>
          <p:cNvPr id="2" name="">
            <a:extLst xmlns:a="http://schemas.openxmlformats.org/drawingml/2006/main">
              <a:ext uri="{FF2B5EF4-FFF2-40B4-BE49-F238E27FC236}">
                <a16:creationId xmlns:a16="http://schemas.microsoft.com/office/drawing/2014/main" id="{27AA29EC-1811-46FF-A8FC-3AD145BF82DA}"/>
              </a:ext>
            </a:extLst>
          </p:cNvPr>
          <p:cNvSpPr>
            <a:spLocks xmlns:a="http://schemas.openxmlformats.org/drawingml/2006/main" noGrp="1"/>
          </p:cNvSpPr>
          <p:nvPr/>
        </p:nvSpPr>
        <p:spPr>
          <a:xfrm xmlns:a="http://schemas.openxmlformats.org/drawingml/2006/main">
            <a:off x="685800" y="74295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75" b="1" i="0">
                <a:solidFill>
                  <a:srgbClr val="182033"/>
                </a:solidFill>
                <a:latin typeface="Aptos Display"/>
                <a:ea typeface="Aptos Display"/>
                <a:cs typeface="Aptos Display"/>
              </a:defRPr>
            </a:pPr>
            <a:r>
              <a:rPr sz="3675" b="1" i="0">
                <a:solidFill>
                  <a:srgbClr val="182033"/>
                </a:solidFill>
                <a:latin typeface="Aptos Display"/>
                <a:ea typeface="Aptos Display"/>
                <a:cs typeface="Aptos Display"/>
              </a:rPr>
              <a:t>A strong wedge—with honest execution constraints.</a:t>
            </a:r>
          </a:p>
        </p:txBody>
      </p:sp>
      <p:sp>
        <p:nvSpPr>
          <p:cNvPr id="3" name="">
            <a:extLst xmlns:a="http://schemas.openxmlformats.org/drawingml/2006/main">
              <a:ext uri="{FF2B5EF4-FFF2-40B4-BE49-F238E27FC236}">
                <a16:creationId xmlns:a16="http://schemas.microsoft.com/office/drawing/2014/main" id="{8282B007-3F04-4DD4-BDF3-AC855CA4F859}"/>
              </a:ext>
            </a:extLst>
          </p:cNvPr>
          <p:cNvSpPr>
            <a:spLocks xmlns:a="http://schemas.openxmlformats.org/drawingml/2006/main" noGrp="1"/>
          </p:cNvSpPr>
          <p:nvPr/>
        </p:nvSpPr>
        <p:spPr>
          <a:xfrm xmlns:a="http://schemas.openxmlformats.org/drawingml/2006/main">
            <a:off x="685800" y="1733550"/>
            <a:ext cx="5143500" cy="1752600"/>
          </a:xfrm>
          <a:prstGeom xmlns:a="http://schemas.openxmlformats.org/drawingml/2006/main" prst="roundRect">
            <a:avLst>
              <a:gd name="adj" fmla="val 11957"/>
            </a:avLst>
          </a:prstGeom>
          <a:solidFill xmlns:a="http://schemas.openxmlformats.org/drawingml/2006/main">
            <a:srgbClr val="121A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4D33B6D-8ECC-4054-8863-255D0F66D14D}"/>
              </a:ext>
            </a:extLst>
          </p:cNvPr>
          <p:cNvSpPr>
            <a:spLocks xmlns:a="http://schemas.openxmlformats.org/drawingml/2006/main" noGrp="1"/>
          </p:cNvSpPr>
          <p:nvPr/>
        </p:nvSpPr>
        <p:spPr>
          <a:xfrm xmlns:a="http://schemas.openxmlformats.org/drawingml/2006/main">
            <a:off x="914400" y="1905000"/>
            <a:ext cx="495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FF6B5E"/>
                </a:solidFill>
                <a:latin typeface="Aptos Display"/>
                <a:ea typeface="Aptos Display"/>
                <a:cs typeface="Aptos Display"/>
              </a:defRPr>
            </a:pPr>
            <a:r>
              <a:rPr sz="3450" b="1" i="0">
                <a:solidFill>
                  <a:srgbClr val="FF6B5E"/>
                </a:solidFill>
                <a:latin typeface="Aptos Display"/>
                <a:ea typeface="Aptos Display"/>
                <a:cs typeface="Aptos Display"/>
              </a:rPr>
              <a:t>S</a:t>
            </a:r>
          </a:p>
        </p:txBody>
      </p:sp>
      <p:sp>
        <p:nvSpPr>
          <p:cNvPr id="5" name="">
            <a:extLst xmlns:a="http://schemas.openxmlformats.org/drawingml/2006/main">
              <a:ext uri="{FF2B5EF4-FFF2-40B4-BE49-F238E27FC236}">
                <a16:creationId xmlns:a16="http://schemas.microsoft.com/office/drawing/2014/main" id="{5BBD6237-2D53-473D-AD68-FFD51D6C0876}"/>
              </a:ext>
            </a:extLst>
          </p:cNvPr>
          <p:cNvSpPr>
            <a:spLocks xmlns:a="http://schemas.openxmlformats.org/drawingml/2006/main" noGrp="1"/>
          </p:cNvSpPr>
          <p:nvPr/>
        </p:nvSpPr>
        <p:spPr>
          <a:xfrm xmlns:a="http://schemas.openxmlformats.org/drawingml/2006/main">
            <a:off x="1562100" y="19621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FFFFFF"/>
                </a:solidFill>
                <a:latin typeface="Aptos Display"/>
                <a:ea typeface="Aptos Display"/>
                <a:cs typeface="Aptos Display"/>
              </a:defRPr>
            </a:pPr>
            <a:r>
              <a:rPr sz="2025" b="1" i="0">
                <a:solidFill>
                  <a:srgbClr val="FFFFFF"/>
                </a:solidFill>
                <a:latin typeface="Aptos Display"/>
                <a:ea typeface="Aptos Display"/>
                <a:cs typeface="Aptos Display"/>
              </a:rPr>
              <a:t>Strengths</a:t>
            </a:r>
          </a:p>
        </p:txBody>
      </p:sp>
      <p:sp>
        <p:nvSpPr>
          <p:cNvPr id="6" name="">
            <a:extLst xmlns:a="http://schemas.openxmlformats.org/drawingml/2006/main">
              <a:ext uri="{FF2B5EF4-FFF2-40B4-BE49-F238E27FC236}">
                <a16:creationId xmlns:a16="http://schemas.microsoft.com/office/drawing/2014/main" id="{A205C221-1BD5-49CE-B750-97EEB00CEDA8}"/>
              </a:ext>
            </a:extLst>
          </p:cNvPr>
          <p:cNvSpPr>
            <a:spLocks xmlns:a="http://schemas.openxmlformats.org/drawingml/2006/main" noGrp="1"/>
          </p:cNvSpPr>
          <p:nvPr/>
        </p:nvSpPr>
        <p:spPr>
          <a:xfrm xmlns:a="http://schemas.openxmlformats.org/drawingml/2006/main">
            <a:off x="1562100" y="2419350"/>
            <a:ext cx="3905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D7DFEC"/>
                </a:solidFill>
                <a:latin typeface="Aptos"/>
                <a:ea typeface="Aptos"/>
                <a:cs typeface="Aptos"/>
              </a:defRPr>
            </a:pPr>
            <a:r>
              <a:rPr sz="1350" b="0" i="0">
                <a:solidFill>
                  <a:srgbClr val="D7DFEC"/>
                </a:solidFill>
                <a:latin typeface="Aptos"/>
                <a:ea typeface="Aptos"/>
                <a:cs typeface="Aptos"/>
              </a:rPr>
              <a:t>• Pakistan-first resident experience</a:t>
            </a:r>
          </a:p>
          <a:p xmlns:a="http://schemas.openxmlformats.org/drawingml/2006/main">
            <a:pPr algn="l">
              <a:defRPr sz="1350" b="0" i="0">
                <a:solidFill>
                  <a:srgbClr val="D7DFEC"/>
                </a:solidFill>
                <a:latin typeface="Aptos"/>
                <a:ea typeface="Aptos"/>
                <a:cs typeface="Aptos"/>
              </a:defRPr>
            </a:pPr>
            <a:r>
              <a:rPr sz="1350" b="0" i="0">
                <a:solidFill>
                  <a:srgbClr val="D7DFEC"/>
                </a:solidFill>
                <a:latin typeface="Aptos"/>
                <a:ea typeface="Aptos"/>
                <a:cs typeface="Aptos"/>
              </a:rPr>
              <a:t>• Verified community graph</a:t>
            </a:r>
          </a:p>
          <a:p xmlns:a="http://schemas.openxmlformats.org/drawingml/2006/main">
            <a:pPr algn="l">
              <a:defRPr sz="1350" b="0" i="0">
                <a:solidFill>
                  <a:srgbClr val="D7DFEC"/>
                </a:solidFill>
                <a:latin typeface="Aptos"/>
                <a:ea typeface="Aptos"/>
                <a:cs typeface="Aptos"/>
              </a:defRPr>
            </a:pPr>
            <a:r>
              <a:rPr sz="1350" b="0" i="0">
                <a:solidFill>
                  <a:srgbClr val="D7DFEC"/>
                </a:solidFill>
                <a:latin typeface="Aptos"/>
                <a:ea typeface="Aptos"/>
                <a:cs typeface="Aptos"/>
              </a:rPr>
              <a:t>• Broad working product + installable PWA</a:t>
            </a:r>
          </a:p>
        </p:txBody>
      </p:sp>
      <p:sp>
        <p:nvSpPr>
          <p:cNvPr id="7" name="">
            <a:extLst xmlns:a="http://schemas.openxmlformats.org/drawingml/2006/main">
              <a:ext uri="{FF2B5EF4-FFF2-40B4-BE49-F238E27FC236}">
                <a16:creationId xmlns:a16="http://schemas.microsoft.com/office/drawing/2014/main" id="{168A7F12-02A7-476A-9ACF-7B9536566980}"/>
              </a:ext>
            </a:extLst>
          </p:cNvPr>
          <p:cNvSpPr>
            <a:spLocks xmlns:a="http://schemas.openxmlformats.org/drawingml/2006/main" noGrp="1"/>
          </p:cNvSpPr>
          <p:nvPr/>
        </p:nvSpPr>
        <p:spPr>
          <a:xfrm xmlns:a="http://schemas.openxmlformats.org/drawingml/2006/main">
            <a:off x="6096000" y="1733550"/>
            <a:ext cx="5143500" cy="1752600"/>
          </a:xfrm>
          <a:prstGeom xmlns:a="http://schemas.openxmlformats.org/drawingml/2006/main" prst="roundRect">
            <a:avLst>
              <a:gd name="adj" fmla="val 11957"/>
            </a:avLst>
          </a:prstGeom>
          <a:solidFill xmlns:a="http://schemas.openxmlformats.org/drawingml/2006/main">
            <a:srgbClr val="F9DEDA"/>
          </a:solidFill>
          <a:ln xmlns:a="http://schemas.openxmlformats.org/drawingml/2006/main" w="9525">
            <a:solidFill>
              <a:srgbClr val="D8D2C8"/>
            </a:solidFill>
            <a:prstDash val="solid"/>
          </a:ln>
        </p:spPr>
      </p:sp>
      <p:sp>
        <p:nvSpPr>
          <p:cNvPr id="8" name="">
            <a:extLst xmlns:a="http://schemas.openxmlformats.org/drawingml/2006/main">
              <a:ext uri="{FF2B5EF4-FFF2-40B4-BE49-F238E27FC236}">
                <a16:creationId xmlns:a16="http://schemas.microsoft.com/office/drawing/2014/main" id="{228A50B5-D2A3-4169-872D-112E4DD4C269}"/>
              </a:ext>
            </a:extLst>
          </p:cNvPr>
          <p:cNvSpPr>
            <a:spLocks xmlns:a="http://schemas.openxmlformats.org/drawingml/2006/main" noGrp="1"/>
          </p:cNvSpPr>
          <p:nvPr/>
        </p:nvSpPr>
        <p:spPr>
          <a:xfrm xmlns:a="http://schemas.openxmlformats.org/drawingml/2006/main">
            <a:off x="6324600" y="1905000"/>
            <a:ext cx="495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FF6B5E"/>
                </a:solidFill>
                <a:latin typeface="Aptos Display"/>
                <a:ea typeface="Aptos Display"/>
                <a:cs typeface="Aptos Display"/>
              </a:defRPr>
            </a:pPr>
            <a:r>
              <a:rPr sz="3450" b="1" i="0">
                <a:solidFill>
                  <a:srgbClr val="FF6B5E"/>
                </a:solidFill>
                <a:latin typeface="Aptos Display"/>
                <a:ea typeface="Aptos Display"/>
                <a:cs typeface="Aptos Display"/>
              </a:rPr>
              <a:t>W</a:t>
            </a:r>
          </a:p>
        </p:txBody>
      </p:sp>
      <p:sp>
        <p:nvSpPr>
          <p:cNvPr id="9" name="">
            <a:extLst xmlns:a="http://schemas.openxmlformats.org/drawingml/2006/main">
              <a:ext uri="{FF2B5EF4-FFF2-40B4-BE49-F238E27FC236}">
                <a16:creationId xmlns:a16="http://schemas.microsoft.com/office/drawing/2014/main" id="{0420AE78-B244-42C6-AB7B-8BD4A0298807}"/>
              </a:ext>
            </a:extLst>
          </p:cNvPr>
          <p:cNvSpPr>
            <a:spLocks xmlns:a="http://schemas.openxmlformats.org/drawingml/2006/main" noGrp="1"/>
          </p:cNvSpPr>
          <p:nvPr/>
        </p:nvSpPr>
        <p:spPr>
          <a:xfrm xmlns:a="http://schemas.openxmlformats.org/drawingml/2006/main">
            <a:off x="6972300" y="19621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182033"/>
                </a:solidFill>
                <a:latin typeface="Aptos Display"/>
                <a:ea typeface="Aptos Display"/>
                <a:cs typeface="Aptos Display"/>
              </a:defRPr>
            </a:pPr>
            <a:r>
              <a:rPr sz="2025" b="1" i="0">
                <a:solidFill>
                  <a:srgbClr val="182033"/>
                </a:solidFill>
                <a:latin typeface="Aptos Display"/>
                <a:ea typeface="Aptos Display"/>
                <a:cs typeface="Aptos Display"/>
              </a:rPr>
              <a:t>Weaknesses</a:t>
            </a:r>
          </a:p>
        </p:txBody>
      </p:sp>
      <p:sp>
        <p:nvSpPr>
          <p:cNvPr id="10" name="">
            <a:extLst xmlns:a="http://schemas.openxmlformats.org/drawingml/2006/main">
              <a:ext uri="{FF2B5EF4-FFF2-40B4-BE49-F238E27FC236}">
                <a16:creationId xmlns:a16="http://schemas.microsoft.com/office/drawing/2014/main" id="{9C485FED-7800-476D-8167-2086CD2A538A}"/>
              </a:ext>
            </a:extLst>
          </p:cNvPr>
          <p:cNvSpPr>
            <a:spLocks xmlns:a="http://schemas.openxmlformats.org/drawingml/2006/main" noGrp="1"/>
          </p:cNvSpPr>
          <p:nvPr/>
        </p:nvSpPr>
        <p:spPr>
          <a:xfrm xmlns:a="http://schemas.openxmlformats.org/drawingml/2006/main">
            <a:off x="6972300" y="2419350"/>
            <a:ext cx="3905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 Cold-start in every neighborhood</a:t>
            </a:r>
          </a:p>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 Monetization and CAC/LTV unproven</a:t>
            </a:r>
          </a:p>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 Admin-champion dependence</a:t>
            </a:r>
          </a:p>
        </p:txBody>
      </p:sp>
      <p:sp>
        <p:nvSpPr>
          <p:cNvPr id="11" name="">
            <a:extLst xmlns:a="http://schemas.openxmlformats.org/drawingml/2006/main">
              <a:ext uri="{FF2B5EF4-FFF2-40B4-BE49-F238E27FC236}">
                <a16:creationId xmlns:a16="http://schemas.microsoft.com/office/drawing/2014/main" id="{57EC1F1E-1A9B-4B11-8032-410D1F08C38B}"/>
              </a:ext>
            </a:extLst>
          </p:cNvPr>
          <p:cNvSpPr>
            <a:spLocks xmlns:a="http://schemas.openxmlformats.org/drawingml/2006/main" noGrp="1"/>
          </p:cNvSpPr>
          <p:nvPr/>
        </p:nvSpPr>
        <p:spPr>
          <a:xfrm xmlns:a="http://schemas.openxmlformats.org/drawingml/2006/main">
            <a:off x="685800" y="3733800"/>
            <a:ext cx="5143500" cy="1752600"/>
          </a:xfrm>
          <a:prstGeom xmlns:a="http://schemas.openxmlformats.org/drawingml/2006/main" prst="roundRect">
            <a:avLst>
              <a:gd name="adj" fmla="val 11957"/>
            </a:avLst>
          </a:prstGeom>
          <a:solidFill xmlns:a="http://schemas.openxmlformats.org/drawingml/2006/main">
            <a:srgbClr val="DCE7FF"/>
          </a:solidFill>
          <a:ln xmlns:a="http://schemas.openxmlformats.org/drawingml/2006/main" w="9525">
            <a:solidFill>
              <a:srgbClr val="D8D2C8"/>
            </a:solidFill>
            <a:prstDash val="solid"/>
          </a:ln>
        </p:spPr>
      </p:sp>
      <p:sp>
        <p:nvSpPr>
          <p:cNvPr id="12" name="">
            <a:extLst xmlns:a="http://schemas.openxmlformats.org/drawingml/2006/main">
              <a:ext uri="{FF2B5EF4-FFF2-40B4-BE49-F238E27FC236}">
                <a16:creationId xmlns:a16="http://schemas.microsoft.com/office/drawing/2014/main" id="{1E8033FD-0A57-4137-AE6D-F98D1D282C14}"/>
              </a:ext>
            </a:extLst>
          </p:cNvPr>
          <p:cNvSpPr>
            <a:spLocks xmlns:a="http://schemas.openxmlformats.org/drawingml/2006/main" noGrp="1"/>
          </p:cNvSpPr>
          <p:nvPr/>
        </p:nvSpPr>
        <p:spPr>
          <a:xfrm xmlns:a="http://schemas.openxmlformats.org/drawingml/2006/main">
            <a:off x="914400" y="3905250"/>
            <a:ext cx="495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2E6BFF"/>
                </a:solidFill>
                <a:latin typeface="Aptos Display"/>
                <a:ea typeface="Aptos Display"/>
                <a:cs typeface="Aptos Display"/>
              </a:defRPr>
            </a:pPr>
            <a:r>
              <a:rPr sz="3450" b="1" i="0">
                <a:solidFill>
                  <a:srgbClr val="2E6BFF"/>
                </a:solidFill>
                <a:latin typeface="Aptos Display"/>
                <a:ea typeface="Aptos Display"/>
                <a:cs typeface="Aptos Display"/>
              </a:rPr>
              <a:t>O</a:t>
            </a:r>
          </a:p>
        </p:txBody>
      </p:sp>
      <p:sp>
        <p:nvSpPr>
          <p:cNvPr id="13" name="">
            <a:extLst xmlns:a="http://schemas.openxmlformats.org/drawingml/2006/main">
              <a:ext uri="{FF2B5EF4-FFF2-40B4-BE49-F238E27FC236}">
                <a16:creationId xmlns:a16="http://schemas.microsoft.com/office/drawing/2014/main" id="{CD51E36A-1D35-4009-8099-F2B85883D6DE}"/>
              </a:ext>
            </a:extLst>
          </p:cNvPr>
          <p:cNvSpPr>
            <a:spLocks xmlns:a="http://schemas.openxmlformats.org/drawingml/2006/main" noGrp="1"/>
          </p:cNvSpPr>
          <p:nvPr/>
        </p:nvSpPr>
        <p:spPr>
          <a:xfrm xmlns:a="http://schemas.openxmlformats.org/drawingml/2006/main">
            <a:off x="1562100" y="39624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182033"/>
                </a:solidFill>
                <a:latin typeface="Aptos Display"/>
                <a:ea typeface="Aptos Display"/>
                <a:cs typeface="Aptos Display"/>
              </a:defRPr>
            </a:pPr>
            <a:r>
              <a:rPr sz="2025" b="1" i="0">
                <a:solidFill>
                  <a:srgbClr val="182033"/>
                </a:solidFill>
                <a:latin typeface="Aptos Display"/>
                <a:ea typeface="Aptos Display"/>
                <a:cs typeface="Aptos Display"/>
              </a:rPr>
              <a:t>Opportunities</a:t>
            </a:r>
          </a:p>
        </p:txBody>
      </p:sp>
      <p:sp>
        <p:nvSpPr>
          <p:cNvPr id="14" name="">
            <a:extLst xmlns:a="http://schemas.openxmlformats.org/drawingml/2006/main">
              <a:ext uri="{FF2B5EF4-FFF2-40B4-BE49-F238E27FC236}">
                <a16:creationId xmlns:a16="http://schemas.microsoft.com/office/drawing/2014/main" id="{70A7363F-5F29-4C48-955F-E9161467A245}"/>
              </a:ext>
            </a:extLst>
          </p:cNvPr>
          <p:cNvSpPr>
            <a:spLocks xmlns:a="http://schemas.openxmlformats.org/drawingml/2006/main" noGrp="1"/>
          </p:cNvSpPr>
          <p:nvPr/>
        </p:nvSpPr>
        <p:spPr>
          <a:xfrm xmlns:a="http://schemas.openxmlformats.org/drawingml/2006/main">
            <a:off x="1562100" y="4419600"/>
            <a:ext cx="3905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 15.0m urban households</a:t>
            </a:r>
          </a:p>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 Local services and commerce</a:t>
            </a:r>
          </a:p>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 Developer, civic, safety and payment partners</a:t>
            </a:r>
          </a:p>
        </p:txBody>
      </p:sp>
      <p:sp>
        <p:nvSpPr>
          <p:cNvPr id="15" name="">
            <a:extLst xmlns:a="http://schemas.openxmlformats.org/drawingml/2006/main">
              <a:ext uri="{FF2B5EF4-FFF2-40B4-BE49-F238E27FC236}">
                <a16:creationId xmlns:a16="http://schemas.microsoft.com/office/drawing/2014/main" id="{F8AEA4B9-701C-45C7-B5FC-F78025CF933A}"/>
              </a:ext>
            </a:extLst>
          </p:cNvPr>
          <p:cNvSpPr>
            <a:spLocks xmlns:a="http://schemas.openxmlformats.org/drawingml/2006/main" noGrp="1"/>
          </p:cNvSpPr>
          <p:nvPr/>
        </p:nvSpPr>
        <p:spPr>
          <a:xfrm xmlns:a="http://schemas.openxmlformats.org/drawingml/2006/main">
            <a:off x="6096000" y="3733800"/>
            <a:ext cx="5143500" cy="1752600"/>
          </a:xfrm>
          <a:prstGeom xmlns:a="http://schemas.openxmlformats.org/drawingml/2006/main" prst="roundRect">
            <a:avLst>
              <a:gd name="adj" fmla="val 11957"/>
            </a:avLst>
          </a:prstGeom>
          <a:solidFill xmlns:a="http://schemas.openxmlformats.org/drawingml/2006/main">
            <a:srgbClr val="EEE3CE"/>
          </a:solidFill>
          <a:ln xmlns:a="http://schemas.openxmlformats.org/drawingml/2006/main" w="9525">
            <a:solidFill>
              <a:srgbClr val="D8D2C8"/>
            </a:solidFill>
            <a:prstDash val="solid"/>
          </a:ln>
        </p:spPr>
      </p:sp>
      <p:sp>
        <p:nvSpPr>
          <p:cNvPr id="16" name="">
            <a:extLst xmlns:a="http://schemas.openxmlformats.org/drawingml/2006/main">
              <a:ext uri="{FF2B5EF4-FFF2-40B4-BE49-F238E27FC236}">
                <a16:creationId xmlns:a16="http://schemas.microsoft.com/office/drawing/2014/main" id="{89B25660-939A-4BDF-84A1-80ACFEC65261}"/>
              </a:ext>
            </a:extLst>
          </p:cNvPr>
          <p:cNvSpPr>
            <a:spLocks xmlns:a="http://schemas.openxmlformats.org/drawingml/2006/main" noGrp="1"/>
          </p:cNvSpPr>
          <p:nvPr/>
        </p:nvSpPr>
        <p:spPr>
          <a:xfrm xmlns:a="http://schemas.openxmlformats.org/drawingml/2006/main">
            <a:off x="6324600" y="3905250"/>
            <a:ext cx="495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D6B77A"/>
                </a:solidFill>
                <a:latin typeface="Aptos Display"/>
                <a:ea typeface="Aptos Display"/>
                <a:cs typeface="Aptos Display"/>
              </a:defRPr>
            </a:pPr>
            <a:r>
              <a:rPr sz="3450" b="1" i="0">
                <a:solidFill>
                  <a:srgbClr val="D6B77A"/>
                </a:solidFill>
                <a:latin typeface="Aptos Display"/>
                <a:ea typeface="Aptos Display"/>
                <a:cs typeface="Aptos Display"/>
              </a:rPr>
              <a:t>T</a:t>
            </a:r>
          </a:p>
        </p:txBody>
      </p:sp>
      <p:sp>
        <p:nvSpPr>
          <p:cNvPr id="17" name="">
            <a:extLst xmlns:a="http://schemas.openxmlformats.org/drawingml/2006/main">
              <a:ext uri="{FF2B5EF4-FFF2-40B4-BE49-F238E27FC236}">
                <a16:creationId xmlns:a16="http://schemas.microsoft.com/office/drawing/2014/main" id="{4A756D06-0C66-479C-906E-2680166AE079}"/>
              </a:ext>
            </a:extLst>
          </p:cNvPr>
          <p:cNvSpPr>
            <a:spLocks xmlns:a="http://schemas.openxmlformats.org/drawingml/2006/main" noGrp="1"/>
          </p:cNvSpPr>
          <p:nvPr/>
        </p:nvSpPr>
        <p:spPr>
          <a:xfrm xmlns:a="http://schemas.openxmlformats.org/drawingml/2006/main">
            <a:off x="6972300" y="396240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182033"/>
                </a:solidFill>
                <a:latin typeface="Aptos Display"/>
                <a:ea typeface="Aptos Display"/>
                <a:cs typeface="Aptos Display"/>
              </a:defRPr>
            </a:pPr>
            <a:r>
              <a:rPr sz="2025" b="1" i="0">
                <a:solidFill>
                  <a:srgbClr val="182033"/>
                </a:solidFill>
                <a:latin typeface="Aptos Display"/>
                <a:ea typeface="Aptos Display"/>
                <a:cs typeface="Aptos Display"/>
              </a:rPr>
              <a:t>Threats</a:t>
            </a:r>
          </a:p>
        </p:txBody>
      </p:sp>
      <p:sp>
        <p:nvSpPr>
          <p:cNvPr id="18" name="">
            <a:extLst xmlns:a="http://schemas.openxmlformats.org/drawingml/2006/main">
              <a:ext uri="{FF2B5EF4-FFF2-40B4-BE49-F238E27FC236}">
                <a16:creationId xmlns:a16="http://schemas.microsoft.com/office/drawing/2014/main" id="{249087AD-37B2-4E14-9128-97B4B5352A56}"/>
              </a:ext>
            </a:extLst>
          </p:cNvPr>
          <p:cNvSpPr>
            <a:spLocks xmlns:a="http://schemas.openxmlformats.org/drawingml/2006/main" noGrp="1"/>
          </p:cNvSpPr>
          <p:nvPr/>
        </p:nvSpPr>
        <p:spPr>
          <a:xfrm xmlns:a="http://schemas.openxmlformats.org/drawingml/2006/main">
            <a:off x="6972300" y="4419600"/>
            <a:ext cx="3905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 Chat-platform inertia</a:t>
            </a:r>
          </a:p>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 Emerging local software category</a:t>
            </a:r>
          </a:p>
          <a:p xmlns:a="http://schemas.openxmlformats.org/drawingml/2006/main">
            <a:pPr algn="l">
              <a:defRPr sz="1350" b="0" i="0">
                <a:solidFill>
                  <a:srgbClr val="5B6474"/>
                </a:solidFill>
                <a:latin typeface="Aptos"/>
                <a:ea typeface="Aptos"/>
                <a:cs typeface="Aptos"/>
              </a:defRPr>
            </a:pPr>
            <a:r>
              <a:rPr sz="1350" b="0" i="0">
                <a:solidFill>
                  <a:srgbClr val="5B6474"/>
                </a:solidFill>
                <a:latin typeface="Aptos"/>
                <a:ea typeface="Aptos"/>
                <a:cs typeface="Aptos"/>
              </a:rPr>
              <a:t>• Privacy/security and fragmented procurement</a:t>
            </a:r>
          </a:p>
        </p:txBody>
      </p:sp>
      <p:sp>
        <p:nvSpPr>
          <p:cNvPr id="19" name="">
            <a:extLst xmlns:a="http://schemas.openxmlformats.org/drawingml/2006/main">
              <a:ext uri="{FF2B5EF4-FFF2-40B4-BE49-F238E27FC236}">
                <a16:creationId xmlns:a16="http://schemas.microsoft.com/office/drawing/2014/main" id="{40143426-F391-4F7C-9FDB-7E98DAF5E2C1}"/>
              </a:ext>
            </a:extLst>
          </p:cNvPr>
          <p:cNvSpPr>
            <a:spLocks xmlns:a="http://schemas.openxmlformats.org/drawingml/2006/main" noGrp="1"/>
          </p:cNvSpPr>
          <p:nvPr/>
        </p:nvSpPr>
        <p:spPr>
          <a:xfrm xmlns:a="http://schemas.openxmlformats.org/drawingml/2006/main">
            <a:off x="685800" y="5848350"/>
            <a:ext cx="184785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FFF53AA-1200-4A15-970A-CBF1192751F5}"/>
              </a:ext>
            </a:extLst>
          </p:cNvPr>
          <p:cNvSpPr>
            <a:spLocks xmlns:a="http://schemas.openxmlformats.org/drawingml/2006/main" noGrp="1"/>
          </p:cNvSpPr>
          <p:nvPr/>
        </p:nvSpPr>
        <p:spPr>
          <a:xfrm xmlns:a="http://schemas.openxmlformats.org/drawingml/2006/main">
            <a:off x="800100" y="58864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825" b="1" i="0">
                <a:solidFill>
                  <a:srgbClr val="121A2C"/>
                </a:solidFill>
                <a:latin typeface="Aptos Display"/>
                <a:ea typeface="Aptos Display"/>
                <a:cs typeface="Aptos Display"/>
              </a:defRPr>
            </a:pPr>
            <a:r>
              <a:rPr sz="825" b="1" i="0">
                <a:solidFill>
                  <a:srgbClr val="121A2C"/>
                </a:solidFill>
                <a:latin typeface="Aptos Display"/>
                <a:ea typeface="Aptos Display"/>
                <a:cs typeface="Aptos Display"/>
              </a:rPr>
              <a:t>STRATEGIC IMPLICATION</a:t>
            </a:r>
          </a:p>
        </p:txBody>
      </p:sp>
      <p:sp>
        <p:nvSpPr>
          <p:cNvPr id="21" name="">
            <a:extLst xmlns:a="http://schemas.openxmlformats.org/drawingml/2006/main">
              <a:ext uri="{FF2B5EF4-FFF2-40B4-BE49-F238E27FC236}">
                <a16:creationId xmlns:a16="http://schemas.microsoft.com/office/drawing/2014/main" id="{146FC9D5-215A-4DAB-A61E-0532344C719C}"/>
              </a:ext>
            </a:extLst>
          </p:cNvPr>
          <p:cNvSpPr>
            <a:spLocks xmlns:a="http://schemas.openxmlformats.org/drawingml/2006/main" noGrp="1"/>
          </p:cNvSpPr>
          <p:nvPr/>
        </p:nvSpPr>
        <p:spPr>
          <a:xfrm xmlns:a="http://schemas.openxmlformats.org/drawingml/2006/main">
            <a:off x="2762250" y="5867400"/>
            <a:ext cx="8191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182033"/>
                </a:solidFill>
                <a:latin typeface="Aptos Display"/>
                <a:ea typeface="Aptos Display"/>
                <a:cs typeface="Aptos Display"/>
              </a:defRPr>
            </a:pPr>
            <a:r>
              <a:rPr sz="1500" b="1" i="0">
                <a:solidFill>
                  <a:srgbClr val="182033"/>
                </a:solidFill>
                <a:latin typeface="Aptos Display"/>
                <a:ea typeface="Aptos Display"/>
                <a:cs typeface="Aptos Display"/>
              </a:rPr>
              <a:t>Win on trust + weekly utility; scale only after the neighborhood unit is repeatable.</a:t>
            </a:r>
          </a:p>
        </p:txBody>
      </p:sp>
      <p:sp>
        <p:nvSpPr>
          <p:cNvPr id="22" name="">
            <a:extLst xmlns:a="http://schemas.openxmlformats.org/drawingml/2006/main">
              <a:ext uri="{FF2B5EF4-FFF2-40B4-BE49-F238E27FC236}">
                <a16:creationId xmlns:a16="http://schemas.microsoft.com/office/drawing/2014/main" id="{77CFC91D-7FAF-45A9-9F2A-B65D38C41A8D}"/>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SWOT combines current product evidence, official market data and explicit planning risks.</a:t>
            </a:r>
          </a:p>
        </p:txBody>
      </p:sp>
      <p:sp>
        <p:nvSpPr>
          <p:cNvPr id="23" name="">
            <a:extLst xmlns:a="http://schemas.openxmlformats.org/drawingml/2006/main">
              <a:ext uri="{FF2B5EF4-FFF2-40B4-BE49-F238E27FC236}">
                <a16:creationId xmlns:a16="http://schemas.microsoft.com/office/drawing/2014/main" id="{A1EC7F0F-D976-41C9-99F2-B6F1D87A255D}"/>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18</a:t>
            </a:r>
          </a:p>
        </p:txBody>
      </p:sp>
    </p:spTree>
    <p:extLst>
      <p:ext uri="{BB962C8B-B14F-4D97-AF65-F5344CB8AC3E}">
        <p14:creationId xmlns:p14="http://schemas.microsoft.com/office/powerpoint/2010/main" val="590543209"/>
      </p:ext>
    </p:extLst>
  </p:cSld>
  <p:transition spd="fast" advClick="1">
    <p:fade/>
  </p:transition>
</p:sld>
</file>

<file path=ppt/slides/slide19.xml><?xml version="1.0" encoding="utf-8"?>
<p:sld xmlns:p="http://schemas.openxmlformats.org/presentationml/2006/main">
  <p:cSld>
    <p:bg>
      <p:bgPr>
        <a:solidFill xmlns:a="http://schemas.openxmlformats.org/drawingml/2006/main">
          <a:srgbClr val="121A2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96E1073A-2089-45C1-83D5-092F25ABAA17}"/>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SCALE GATES</a:t>
            </a:r>
          </a:p>
        </p:txBody>
      </p:sp>
      <p:sp>
        <p:nvSpPr>
          <p:cNvPr id="2" name="">
            <a:extLst xmlns:a="http://schemas.openxmlformats.org/drawingml/2006/main">
              <a:ext uri="{FF2B5EF4-FFF2-40B4-BE49-F238E27FC236}">
                <a16:creationId xmlns:a16="http://schemas.microsoft.com/office/drawing/2014/main" id="{D8B7ED3A-5EBD-409B-9695-12EC85D8ED6D}"/>
              </a:ext>
            </a:extLst>
          </p:cNvPr>
          <p:cNvSpPr>
            <a:spLocks xmlns:a="http://schemas.openxmlformats.org/drawingml/2006/main" noGrp="1"/>
          </p:cNvSpPr>
          <p:nvPr/>
        </p:nvSpPr>
        <p:spPr>
          <a:xfrm xmlns:a="http://schemas.openxmlformats.org/drawingml/2006/main">
            <a:off x="685800" y="962025"/>
            <a:ext cx="1009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918"/>
          </a:bodyPr>
          <a:lstStyle xmlns:a="http://schemas.openxmlformats.org/drawingml/2006/main"/>
          <a:p xmlns:a="http://schemas.openxmlformats.org/drawingml/2006/main">
            <a:pPr algn="l">
              <a:defRPr sz="3600" b="1" i="0">
                <a:solidFill>
                  <a:srgbClr val="FFFFFF"/>
                </a:solidFill>
                <a:latin typeface="Aptos Display"/>
                <a:ea typeface="Aptos Display"/>
                <a:cs typeface="Aptos Display"/>
              </a:defRPr>
            </a:pPr>
            <a:r>
              <a:rPr sz="3600" b="1" i="0">
                <a:solidFill>
                  <a:srgbClr val="FFFFFF"/>
                </a:solidFill>
                <a:latin typeface="Aptos Display"/>
                <a:ea typeface="Aptos Display"/>
                <a:cs typeface="Aptos Display"/>
              </a:rPr>
              <a:t>Before nationwide scale, prove one repeatable neighborhood unit.</a:t>
            </a:r>
          </a:p>
        </p:txBody>
      </p:sp>
      <p:sp>
        <p:nvSpPr>
          <p:cNvPr id="3" name="">
            <a:extLst xmlns:a="http://schemas.openxmlformats.org/drawingml/2006/main">
              <a:ext uri="{FF2B5EF4-FFF2-40B4-BE49-F238E27FC236}">
                <a16:creationId xmlns:a16="http://schemas.microsoft.com/office/drawing/2014/main" id="{FEB44588-E9FF-4238-A88C-E96B2290E90F}"/>
              </a:ext>
            </a:extLst>
          </p:cNvPr>
          <p:cNvSpPr>
            <a:spLocks xmlns:a="http://schemas.openxmlformats.org/drawingml/2006/main" noGrp="1"/>
          </p:cNvSpPr>
          <p:nvPr/>
        </p:nvSpPr>
        <p:spPr>
          <a:xfrm xmlns:a="http://schemas.openxmlformats.org/drawingml/2006/main">
            <a:off x="685800" y="1933575"/>
            <a:ext cx="5619750" cy="3800475"/>
          </a:xfrm>
          <a:prstGeom xmlns:a="http://schemas.openxmlformats.org/drawingml/2006/main" prst="roundRect">
            <a:avLst>
              <a:gd name="adj" fmla="val 6015"/>
            </a:avLst>
          </a:prstGeom>
          <a:solidFill xmlns:a="http://schemas.openxmlformats.org/drawingml/2006/main">
            <a:srgbClr val="F5F0E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BFA302-FB6B-48EC-80E2-4CA17FF1AD4D}"/>
              </a:ext>
            </a:extLst>
          </p:cNvPr>
          <p:cNvSpPr>
            <a:spLocks xmlns:a="http://schemas.openxmlformats.org/drawingml/2006/main" noGrp="1"/>
          </p:cNvSpPr>
          <p:nvPr/>
        </p:nvSpPr>
        <p:spPr>
          <a:xfrm xmlns:a="http://schemas.openxmlformats.org/drawingml/2006/main">
            <a:off x="990600" y="2209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FF6B5E"/>
                </a:solidFill>
                <a:latin typeface="Aptos Display"/>
                <a:ea typeface="Aptos Display"/>
                <a:cs typeface="Aptos Display"/>
              </a:defRPr>
            </a:pPr>
            <a:r>
              <a:rPr sz="975" b="1" i="0">
                <a:solidFill>
                  <a:srgbClr val="FF6B5E"/>
                </a:solidFill>
                <a:latin typeface="Aptos Display"/>
                <a:ea typeface="Aptos Display"/>
                <a:cs typeface="Aptos Display"/>
              </a:rPr>
              <a:t>90-DAY PILOT SCORECARD</a:t>
            </a:r>
          </a:p>
        </p:txBody>
      </p:sp>
      <p:sp>
        <p:nvSpPr>
          <p:cNvPr id="5" name="">
            <a:extLst xmlns:a="http://schemas.openxmlformats.org/drawingml/2006/main">
              <a:ext uri="{FF2B5EF4-FFF2-40B4-BE49-F238E27FC236}">
                <a16:creationId xmlns:a16="http://schemas.microsoft.com/office/drawing/2014/main" id="{B84704D9-133B-4E50-AD70-3E4589BE57AA}"/>
              </a:ext>
            </a:extLst>
          </p:cNvPr>
          <p:cNvSpPr>
            <a:spLocks xmlns:a="http://schemas.openxmlformats.org/drawingml/2006/main" noGrp="1"/>
          </p:cNvSpPr>
          <p:nvPr/>
        </p:nvSpPr>
        <p:spPr>
          <a:xfrm xmlns:a="http://schemas.openxmlformats.org/drawingml/2006/main">
            <a:off x="990600" y="273367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FF6B5E"/>
                </a:solidFill>
                <a:latin typeface="Aptos Display"/>
                <a:ea typeface="Aptos Display"/>
                <a:cs typeface="Aptos Display"/>
              </a:defRPr>
            </a:pPr>
            <a:r>
              <a:rPr sz="2175" b="1" i="0">
                <a:solidFill>
                  <a:srgbClr val="FF6B5E"/>
                </a:solidFill>
                <a:latin typeface="Aptos Display"/>
                <a:ea typeface="Aptos Display"/>
                <a:cs typeface="Aptos Display"/>
              </a:rPr>
              <a:t>≥65%</a:t>
            </a:r>
          </a:p>
        </p:txBody>
      </p:sp>
      <p:sp>
        <p:nvSpPr>
          <p:cNvPr id="6" name="">
            <a:extLst xmlns:a="http://schemas.openxmlformats.org/drawingml/2006/main">
              <a:ext uri="{FF2B5EF4-FFF2-40B4-BE49-F238E27FC236}">
                <a16:creationId xmlns:a16="http://schemas.microsoft.com/office/drawing/2014/main" id="{8A66BFD6-04AA-492E-970F-640FFD89865A}"/>
              </a:ext>
            </a:extLst>
          </p:cNvPr>
          <p:cNvSpPr>
            <a:spLocks xmlns:a="http://schemas.openxmlformats.org/drawingml/2006/main" noGrp="1"/>
          </p:cNvSpPr>
          <p:nvPr/>
        </p:nvSpPr>
        <p:spPr>
          <a:xfrm xmlns:a="http://schemas.openxmlformats.org/drawingml/2006/main">
            <a:off x="1905000" y="27527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474"/>
                </a:solidFill>
                <a:latin typeface="Aptos"/>
                <a:ea typeface="Aptos"/>
                <a:cs typeface="Aptos"/>
              </a:defRPr>
            </a:pPr>
            <a:r>
              <a:rPr sz="1200" b="0" i="0">
                <a:solidFill>
                  <a:srgbClr val="5B6474"/>
                </a:solidFill>
                <a:latin typeface="Aptos"/>
                <a:ea typeface="Aptos"/>
                <a:cs typeface="Aptos"/>
              </a:rPr>
              <a:t>households activated</a:t>
            </a:r>
          </a:p>
        </p:txBody>
      </p:sp>
      <p:sp>
        <p:nvSpPr>
          <p:cNvPr id="7" name="">
            <a:extLst xmlns:a="http://schemas.openxmlformats.org/drawingml/2006/main">
              <a:ext uri="{FF2B5EF4-FFF2-40B4-BE49-F238E27FC236}">
                <a16:creationId xmlns:a16="http://schemas.microsoft.com/office/drawing/2014/main" id="{4676FAA1-35C7-48E1-8C61-9A737D3BE174}"/>
              </a:ext>
            </a:extLst>
          </p:cNvPr>
          <p:cNvSpPr>
            <a:spLocks xmlns:a="http://schemas.openxmlformats.org/drawingml/2006/main" noGrp="1"/>
          </p:cNvSpPr>
          <p:nvPr/>
        </p:nvSpPr>
        <p:spPr>
          <a:xfrm xmlns:a="http://schemas.openxmlformats.org/drawingml/2006/main">
            <a:off x="990600" y="3295650"/>
            <a:ext cx="2209800" cy="0"/>
          </a:xfrm>
          <a:prstGeom xmlns:a="http://schemas.openxmlformats.org/drawingml/2006/main" prst="line">
            <a:avLst/>
          </a:prstGeom>
          <a:noFill xmlns:a="http://schemas.openxmlformats.org/drawingml/2006/main"/>
          <a:ln xmlns:a="http://schemas.openxmlformats.org/drawingml/2006/main" w="9525">
            <a:solidFill>
              <a:srgbClr val="D8D2C8"/>
            </a:solidFill>
            <a:prstDash val="solid"/>
          </a:ln>
        </p:spPr>
      </p:sp>
      <p:sp>
        <p:nvSpPr>
          <p:cNvPr id="8" name="">
            <a:extLst xmlns:a="http://schemas.openxmlformats.org/drawingml/2006/main">
              <a:ext uri="{FF2B5EF4-FFF2-40B4-BE49-F238E27FC236}">
                <a16:creationId xmlns:a16="http://schemas.microsoft.com/office/drawing/2014/main" id="{4A7A2E55-2C67-46F4-8EBE-F6CFA6BED3FF}"/>
              </a:ext>
            </a:extLst>
          </p:cNvPr>
          <p:cNvSpPr>
            <a:spLocks xmlns:a="http://schemas.openxmlformats.org/drawingml/2006/main" noGrp="1"/>
          </p:cNvSpPr>
          <p:nvPr/>
        </p:nvSpPr>
        <p:spPr>
          <a:xfrm xmlns:a="http://schemas.openxmlformats.org/drawingml/2006/main">
            <a:off x="3524250" y="273367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2E6BFF"/>
                </a:solidFill>
                <a:latin typeface="Aptos Display"/>
                <a:ea typeface="Aptos Display"/>
                <a:cs typeface="Aptos Display"/>
              </a:defRPr>
            </a:pPr>
            <a:r>
              <a:rPr sz="2175" b="1" i="0">
                <a:solidFill>
                  <a:srgbClr val="2E6BFF"/>
                </a:solidFill>
                <a:latin typeface="Aptos Display"/>
                <a:ea typeface="Aptos Display"/>
                <a:cs typeface="Aptos Display"/>
              </a:rPr>
              <a:t>≥45%</a:t>
            </a:r>
          </a:p>
        </p:txBody>
      </p:sp>
      <p:sp>
        <p:nvSpPr>
          <p:cNvPr id="9" name="">
            <a:extLst xmlns:a="http://schemas.openxmlformats.org/drawingml/2006/main">
              <a:ext uri="{FF2B5EF4-FFF2-40B4-BE49-F238E27FC236}">
                <a16:creationId xmlns:a16="http://schemas.microsoft.com/office/drawing/2014/main" id="{9E397E17-E4B8-4527-BDD4-3976E43E2BE0}"/>
              </a:ext>
            </a:extLst>
          </p:cNvPr>
          <p:cNvSpPr>
            <a:spLocks xmlns:a="http://schemas.openxmlformats.org/drawingml/2006/main" noGrp="1"/>
          </p:cNvSpPr>
          <p:nvPr/>
        </p:nvSpPr>
        <p:spPr>
          <a:xfrm xmlns:a="http://schemas.openxmlformats.org/drawingml/2006/main">
            <a:off x="4438650" y="27527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474"/>
                </a:solidFill>
                <a:latin typeface="Aptos"/>
                <a:ea typeface="Aptos"/>
                <a:cs typeface="Aptos"/>
              </a:defRPr>
            </a:pPr>
            <a:r>
              <a:rPr sz="1200" b="0" i="0">
                <a:solidFill>
                  <a:srgbClr val="5B6474"/>
                </a:solidFill>
                <a:latin typeface="Aptos"/>
                <a:ea typeface="Aptos"/>
                <a:cs typeface="Aptos"/>
              </a:rPr>
              <a:t>30-day resident retention</a:t>
            </a:r>
          </a:p>
        </p:txBody>
      </p:sp>
      <p:sp>
        <p:nvSpPr>
          <p:cNvPr id="10" name="">
            <a:extLst xmlns:a="http://schemas.openxmlformats.org/drawingml/2006/main">
              <a:ext uri="{FF2B5EF4-FFF2-40B4-BE49-F238E27FC236}">
                <a16:creationId xmlns:a16="http://schemas.microsoft.com/office/drawing/2014/main" id="{8EE39A13-FF0C-4A2E-965E-C639EC889D4A}"/>
              </a:ext>
            </a:extLst>
          </p:cNvPr>
          <p:cNvSpPr>
            <a:spLocks xmlns:a="http://schemas.openxmlformats.org/drawingml/2006/main" noGrp="1"/>
          </p:cNvSpPr>
          <p:nvPr/>
        </p:nvSpPr>
        <p:spPr>
          <a:xfrm xmlns:a="http://schemas.openxmlformats.org/drawingml/2006/main">
            <a:off x="3524250" y="3295650"/>
            <a:ext cx="2209800" cy="0"/>
          </a:xfrm>
          <a:prstGeom xmlns:a="http://schemas.openxmlformats.org/drawingml/2006/main" prst="line">
            <a:avLst/>
          </a:prstGeom>
          <a:noFill xmlns:a="http://schemas.openxmlformats.org/drawingml/2006/main"/>
          <a:ln xmlns:a="http://schemas.openxmlformats.org/drawingml/2006/main" w="9525">
            <a:solidFill>
              <a:srgbClr val="D8D2C8"/>
            </a:solidFill>
            <a:prstDash val="solid"/>
          </a:ln>
        </p:spPr>
      </p:sp>
      <p:sp>
        <p:nvSpPr>
          <p:cNvPr id="11" name="">
            <a:extLst xmlns:a="http://schemas.openxmlformats.org/drawingml/2006/main">
              <a:ext uri="{FF2B5EF4-FFF2-40B4-BE49-F238E27FC236}">
                <a16:creationId xmlns:a16="http://schemas.microsoft.com/office/drawing/2014/main" id="{81BEDA20-2AD8-40E1-93A3-3AB5AB24162E}"/>
              </a:ext>
            </a:extLst>
          </p:cNvPr>
          <p:cNvSpPr>
            <a:spLocks xmlns:a="http://schemas.openxmlformats.org/drawingml/2006/main" noGrp="1"/>
          </p:cNvSpPr>
          <p:nvPr/>
        </p:nvSpPr>
        <p:spPr>
          <a:xfrm xmlns:a="http://schemas.openxmlformats.org/drawingml/2006/main">
            <a:off x="990600" y="355282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FF6B5E"/>
                </a:solidFill>
                <a:latin typeface="Aptos Display"/>
                <a:ea typeface="Aptos Display"/>
                <a:cs typeface="Aptos Display"/>
              </a:defRPr>
            </a:pPr>
            <a:r>
              <a:rPr sz="2175" b="1" i="0">
                <a:solidFill>
                  <a:srgbClr val="FF6B5E"/>
                </a:solidFill>
                <a:latin typeface="Aptos Display"/>
                <a:ea typeface="Aptos Display"/>
                <a:cs typeface="Aptos Display"/>
              </a:rPr>
              <a:t>≥60%</a:t>
            </a:r>
          </a:p>
        </p:txBody>
      </p:sp>
      <p:sp>
        <p:nvSpPr>
          <p:cNvPr id="12" name="">
            <a:extLst xmlns:a="http://schemas.openxmlformats.org/drawingml/2006/main">
              <a:ext uri="{FF2B5EF4-FFF2-40B4-BE49-F238E27FC236}">
                <a16:creationId xmlns:a16="http://schemas.microsoft.com/office/drawing/2014/main" id="{F8805C67-A713-4A54-81C3-9808A1C22F41}"/>
              </a:ext>
            </a:extLst>
          </p:cNvPr>
          <p:cNvSpPr>
            <a:spLocks xmlns:a="http://schemas.openxmlformats.org/drawingml/2006/main" noGrp="1"/>
          </p:cNvSpPr>
          <p:nvPr/>
        </p:nvSpPr>
        <p:spPr>
          <a:xfrm xmlns:a="http://schemas.openxmlformats.org/drawingml/2006/main">
            <a:off x="1905000" y="357187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474"/>
                </a:solidFill>
                <a:latin typeface="Aptos"/>
                <a:ea typeface="Aptos"/>
                <a:cs typeface="Aptos"/>
              </a:defRPr>
            </a:pPr>
            <a:r>
              <a:rPr sz="1200" b="0" i="0">
                <a:solidFill>
                  <a:srgbClr val="5B6474"/>
                </a:solidFill>
                <a:latin typeface="Aptos"/>
                <a:ea typeface="Aptos"/>
                <a:cs typeface="Aptos"/>
              </a:rPr>
              <a:t>new invitations organic</a:t>
            </a:r>
          </a:p>
        </p:txBody>
      </p:sp>
      <p:sp>
        <p:nvSpPr>
          <p:cNvPr id="13" name="">
            <a:extLst xmlns:a="http://schemas.openxmlformats.org/drawingml/2006/main">
              <a:ext uri="{FF2B5EF4-FFF2-40B4-BE49-F238E27FC236}">
                <a16:creationId xmlns:a16="http://schemas.microsoft.com/office/drawing/2014/main" id="{38B32DD8-219E-4A1D-91B4-00B50ABA4945}"/>
              </a:ext>
            </a:extLst>
          </p:cNvPr>
          <p:cNvSpPr>
            <a:spLocks xmlns:a="http://schemas.openxmlformats.org/drawingml/2006/main" noGrp="1"/>
          </p:cNvSpPr>
          <p:nvPr/>
        </p:nvSpPr>
        <p:spPr>
          <a:xfrm xmlns:a="http://schemas.openxmlformats.org/drawingml/2006/main">
            <a:off x="990600" y="4114800"/>
            <a:ext cx="2209800" cy="0"/>
          </a:xfrm>
          <a:prstGeom xmlns:a="http://schemas.openxmlformats.org/drawingml/2006/main" prst="line">
            <a:avLst/>
          </a:prstGeom>
          <a:noFill xmlns:a="http://schemas.openxmlformats.org/drawingml/2006/main"/>
          <a:ln xmlns:a="http://schemas.openxmlformats.org/drawingml/2006/main" w="9525">
            <a:solidFill>
              <a:srgbClr val="D8D2C8"/>
            </a:solidFill>
            <a:prstDash val="solid"/>
          </a:ln>
        </p:spPr>
      </p:sp>
      <p:sp>
        <p:nvSpPr>
          <p:cNvPr id="14" name="">
            <a:extLst xmlns:a="http://schemas.openxmlformats.org/drawingml/2006/main">
              <a:ext uri="{FF2B5EF4-FFF2-40B4-BE49-F238E27FC236}">
                <a16:creationId xmlns:a16="http://schemas.microsoft.com/office/drawing/2014/main" id="{E3B2342E-9161-4DD4-A0FF-E8AEB7B91F45}"/>
              </a:ext>
            </a:extLst>
          </p:cNvPr>
          <p:cNvSpPr>
            <a:spLocks xmlns:a="http://schemas.openxmlformats.org/drawingml/2006/main" noGrp="1"/>
          </p:cNvSpPr>
          <p:nvPr/>
        </p:nvSpPr>
        <p:spPr>
          <a:xfrm xmlns:a="http://schemas.openxmlformats.org/drawingml/2006/main">
            <a:off x="3524250" y="355282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2E6BFF"/>
                </a:solidFill>
                <a:latin typeface="Aptos Display"/>
                <a:ea typeface="Aptos Display"/>
                <a:cs typeface="Aptos Display"/>
              </a:defRPr>
            </a:pPr>
            <a:r>
              <a:rPr sz="2175" b="1" i="0">
                <a:solidFill>
                  <a:srgbClr val="2E6BFF"/>
                </a:solidFill>
                <a:latin typeface="Aptos Display"/>
                <a:ea typeface="Aptos Display"/>
                <a:cs typeface="Aptos Display"/>
              </a:rPr>
              <a:t>≥70%</a:t>
            </a:r>
          </a:p>
        </p:txBody>
      </p:sp>
      <p:sp>
        <p:nvSpPr>
          <p:cNvPr id="15" name="">
            <a:extLst xmlns:a="http://schemas.openxmlformats.org/drawingml/2006/main">
              <a:ext uri="{FF2B5EF4-FFF2-40B4-BE49-F238E27FC236}">
                <a16:creationId xmlns:a16="http://schemas.microsoft.com/office/drawing/2014/main" id="{8D489732-E43C-4FF9-B91A-9643B49BF073}"/>
              </a:ext>
            </a:extLst>
          </p:cNvPr>
          <p:cNvSpPr>
            <a:spLocks xmlns:a="http://schemas.openxmlformats.org/drawingml/2006/main" noGrp="1"/>
          </p:cNvSpPr>
          <p:nvPr/>
        </p:nvSpPr>
        <p:spPr>
          <a:xfrm xmlns:a="http://schemas.openxmlformats.org/drawingml/2006/main">
            <a:off x="4438650" y="357187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474"/>
                </a:solidFill>
                <a:latin typeface="Aptos"/>
                <a:ea typeface="Aptos"/>
                <a:cs typeface="Aptos"/>
              </a:defRPr>
            </a:pPr>
            <a:r>
              <a:rPr sz="1200" b="0" i="0">
                <a:solidFill>
                  <a:srgbClr val="5B6474"/>
                </a:solidFill>
                <a:latin typeface="Aptos"/>
                <a:ea typeface="Aptos"/>
                <a:cs typeface="Aptos"/>
              </a:rPr>
              <a:t>weekly admin activity</a:t>
            </a:r>
          </a:p>
        </p:txBody>
      </p:sp>
      <p:sp>
        <p:nvSpPr>
          <p:cNvPr id="16" name="">
            <a:extLst xmlns:a="http://schemas.openxmlformats.org/drawingml/2006/main">
              <a:ext uri="{FF2B5EF4-FFF2-40B4-BE49-F238E27FC236}">
                <a16:creationId xmlns:a16="http://schemas.microsoft.com/office/drawing/2014/main" id="{479B91FE-19DB-459C-AC94-08AB7CCC3740}"/>
              </a:ext>
            </a:extLst>
          </p:cNvPr>
          <p:cNvSpPr>
            <a:spLocks xmlns:a="http://schemas.openxmlformats.org/drawingml/2006/main" noGrp="1"/>
          </p:cNvSpPr>
          <p:nvPr/>
        </p:nvSpPr>
        <p:spPr>
          <a:xfrm xmlns:a="http://schemas.openxmlformats.org/drawingml/2006/main">
            <a:off x="3524250" y="4114800"/>
            <a:ext cx="2209800" cy="0"/>
          </a:xfrm>
          <a:prstGeom xmlns:a="http://schemas.openxmlformats.org/drawingml/2006/main" prst="line">
            <a:avLst/>
          </a:prstGeom>
          <a:noFill xmlns:a="http://schemas.openxmlformats.org/drawingml/2006/main"/>
          <a:ln xmlns:a="http://schemas.openxmlformats.org/drawingml/2006/main" w="9525">
            <a:solidFill>
              <a:srgbClr val="D8D2C8"/>
            </a:solidFill>
            <a:prstDash val="solid"/>
          </a:ln>
        </p:spPr>
      </p:sp>
      <p:sp>
        <p:nvSpPr>
          <p:cNvPr id="17" name="">
            <a:extLst xmlns:a="http://schemas.openxmlformats.org/drawingml/2006/main">
              <a:ext uri="{FF2B5EF4-FFF2-40B4-BE49-F238E27FC236}">
                <a16:creationId xmlns:a16="http://schemas.microsoft.com/office/drawing/2014/main" id="{D13DEC28-4D33-4854-B92D-A45F455E2472}"/>
              </a:ext>
            </a:extLst>
          </p:cNvPr>
          <p:cNvSpPr>
            <a:spLocks xmlns:a="http://schemas.openxmlformats.org/drawingml/2006/main" noGrp="1"/>
          </p:cNvSpPr>
          <p:nvPr/>
        </p:nvSpPr>
        <p:spPr>
          <a:xfrm xmlns:a="http://schemas.openxmlformats.org/drawingml/2006/main">
            <a:off x="990600" y="437197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FF6B5E"/>
                </a:solidFill>
                <a:latin typeface="Aptos Display"/>
                <a:ea typeface="Aptos Display"/>
                <a:cs typeface="Aptos Display"/>
              </a:defRPr>
            </a:pPr>
            <a:r>
              <a:rPr sz="2175" b="1" i="0">
                <a:solidFill>
                  <a:srgbClr val="FF6B5E"/>
                </a:solidFill>
                <a:latin typeface="Aptos Display"/>
                <a:ea typeface="Aptos Display"/>
                <a:cs typeface="Aptos Display"/>
              </a:rPr>
              <a:t>&lt;5m</a:t>
            </a:r>
          </a:p>
        </p:txBody>
      </p:sp>
      <p:sp>
        <p:nvSpPr>
          <p:cNvPr id="18" name="">
            <a:extLst xmlns:a="http://schemas.openxmlformats.org/drawingml/2006/main">
              <a:ext uri="{FF2B5EF4-FFF2-40B4-BE49-F238E27FC236}">
                <a16:creationId xmlns:a16="http://schemas.microsoft.com/office/drawing/2014/main" id="{76CE1BE8-D3CD-4FDD-BAE4-E025255FE851}"/>
              </a:ext>
            </a:extLst>
          </p:cNvPr>
          <p:cNvSpPr>
            <a:spLocks xmlns:a="http://schemas.openxmlformats.org/drawingml/2006/main" noGrp="1"/>
          </p:cNvSpPr>
          <p:nvPr/>
        </p:nvSpPr>
        <p:spPr>
          <a:xfrm xmlns:a="http://schemas.openxmlformats.org/drawingml/2006/main">
            <a:off x="1905000" y="43910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474"/>
                </a:solidFill>
                <a:latin typeface="Aptos"/>
                <a:ea typeface="Aptos"/>
                <a:cs typeface="Aptos"/>
              </a:defRPr>
            </a:pPr>
            <a:r>
              <a:rPr sz="1200" b="0" i="0">
                <a:solidFill>
                  <a:srgbClr val="5B6474"/>
                </a:solidFill>
                <a:latin typeface="Aptos"/>
                <a:ea typeface="Aptos"/>
                <a:cs typeface="Aptos"/>
              </a:rPr>
              <a:t>safety-alert delivery</a:t>
            </a:r>
          </a:p>
        </p:txBody>
      </p:sp>
      <p:sp>
        <p:nvSpPr>
          <p:cNvPr id="19" name="">
            <a:extLst xmlns:a="http://schemas.openxmlformats.org/drawingml/2006/main">
              <a:ext uri="{FF2B5EF4-FFF2-40B4-BE49-F238E27FC236}">
                <a16:creationId xmlns:a16="http://schemas.microsoft.com/office/drawing/2014/main" id="{D22BE97B-F0B8-45C4-98A3-BD8996C51D16}"/>
              </a:ext>
            </a:extLst>
          </p:cNvPr>
          <p:cNvSpPr>
            <a:spLocks xmlns:a="http://schemas.openxmlformats.org/drawingml/2006/main" noGrp="1"/>
          </p:cNvSpPr>
          <p:nvPr/>
        </p:nvSpPr>
        <p:spPr>
          <a:xfrm xmlns:a="http://schemas.openxmlformats.org/drawingml/2006/main">
            <a:off x="990600" y="4933950"/>
            <a:ext cx="2209800" cy="0"/>
          </a:xfrm>
          <a:prstGeom xmlns:a="http://schemas.openxmlformats.org/drawingml/2006/main" prst="line">
            <a:avLst/>
          </a:prstGeom>
          <a:noFill xmlns:a="http://schemas.openxmlformats.org/drawingml/2006/main"/>
          <a:ln xmlns:a="http://schemas.openxmlformats.org/drawingml/2006/main" w="9525">
            <a:solidFill>
              <a:srgbClr val="D8D2C8"/>
            </a:solidFill>
            <a:prstDash val="solid"/>
          </a:ln>
        </p:spPr>
      </p:sp>
      <p:sp>
        <p:nvSpPr>
          <p:cNvPr id="20" name="">
            <a:extLst xmlns:a="http://schemas.openxmlformats.org/drawingml/2006/main">
              <a:ext uri="{FF2B5EF4-FFF2-40B4-BE49-F238E27FC236}">
                <a16:creationId xmlns:a16="http://schemas.microsoft.com/office/drawing/2014/main" id="{DE3B8848-9E66-4818-8A44-BA0BDAE5826D}"/>
              </a:ext>
            </a:extLst>
          </p:cNvPr>
          <p:cNvSpPr>
            <a:spLocks xmlns:a="http://schemas.openxmlformats.org/drawingml/2006/main" noGrp="1"/>
          </p:cNvSpPr>
          <p:nvPr/>
        </p:nvSpPr>
        <p:spPr>
          <a:xfrm xmlns:a="http://schemas.openxmlformats.org/drawingml/2006/main">
            <a:off x="3524250" y="4371975"/>
            <a:ext cx="876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2E6BFF"/>
                </a:solidFill>
                <a:latin typeface="Aptos Display"/>
                <a:ea typeface="Aptos Display"/>
                <a:cs typeface="Aptos Display"/>
              </a:defRPr>
            </a:pPr>
            <a:r>
              <a:rPr sz="2175" b="1" i="0">
                <a:solidFill>
                  <a:srgbClr val="2E6BFF"/>
                </a:solidFill>
                <a:latin typeface="Aptos Display"/>
                <a:ea typeface="Aptos Display"/>
                <a:cs typeface="Aptos Display"/>
              </a:rPr>
              <a:t>&lt;24h</a:t>
            </a:r>
          </a:p>
        </p:txBody>
      </p:sp>
      <p:sp>
        <p:nvSpPr>
          <p:cNvPr id="21" name="">
            <a:extLst xmlns:a="http://schemas.openxmlformats.org/drawingml/2006/main">
              <a:ext uri="{FF2B5EF4-FFF2-40B4-BE49-F238E27FC236}">
                <a16:creationId xmlns:a16="http://schemas.microsoft.com/office/drawing/2014/main" id="{43946890-3397-4141-AE24-2F4EC6256DC1}"/>
              </a:ext>
            </a:extLst>
          </p:cNvPr>
          <p:cNvSpPr>
            <a:spLocks xmlns:a="http://schemas.openxmlformats.org/drawingml/2006/main" noGrp="1"/>
          </p:cNvSpPr>
          <p:nvPr/>
        </p:nvSpPr>
        <p:spPr>
          <a:xfrm xmlns:a="http://schemas.openxmlformats.org/drawingml/2006/main">
            <a:off x="4438650" y="4391025"/>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B6474"/>
                </a:solidFill>
                <a:latin typeface="Aptos"/>
                <a:ea typeface="Aptos"/>
                <a:cs typeface="Aptos"/>
              </a:defRPr>
            </a:pPr>
            <a:r>
              <a:rPr sz="1200" b="0" i="0">
                <a:solidFill>
                  <a:srgbClr val="5B6474"/>
                </a:solidFill>
                <a:latin typeface="Aptos"/>
                <a:ea typeface="Aptos"/>
                <a:cs typeface="Aptos"/>
              </a:rPr>
              <a:t>marketplace first response</a:t>
            </a:r>
          </a:p>
        </p:txBody>
      </p:sp>
      <p:sp>
        <p:nvSpPr>
          <p:cNvPr id="22" name="">
            <a:extLst xmlns:a="http://schemas.openxmlformats.org/drawingml/2006/main">
              <a:ext uri="{FF2B5EF4-FFF2-40B4-BE49-F238E27FC236}">
                <a16:creationId xmlns:a16="http://schemas.microsoft.com/office/drawing/2014/main" id="{8324ACE1-3DE2-4EDA-8D85-CEDD8A559968}"/>
              </a:ext>
            </a:extLst>
          </p:cNvPr>
          <p:cNvSpPr>
            <a:spLocks xmlns:a="http://schemas.openxmlformats.org/drawingml/2006/main" noGrp="1"/>
          </p:cNvSpPr>
          <p:nvPr/>
        </p:nvSpPr>
        <p:spPr>
          <a:xfrm xmlns:a="http://schemas.openxmlformats.org/drawingml/2006/main">
            <a:off x="3524250" y="4933950"/>
            <a:ext cx="2209800" cy="0"/>
          </a:xfrm>
          <a:prstGeom xmlns:a="http://schemas.openxmlformats.org/drawingml/2006/main" prst="line">
            <a:avLst/>
          </a:prstGeom>
          <a:noFill xmlns:a="http://schemas.openxmlformats.org/drawingml/2006/main"/>
          <a:ln xmlns:a="http://schemas.openxmlformats.org/drawingml/2006/main" w="9525">
            <a:solidFill>
              <a:srgbClr val="D8D2C8"/>
            </a:solidFill>
            <a:prstDash val="solid"/>
          </a:ln>
        </p:spPr>
      </p:sp>
      <p:sp>
        <p:nvSpPr>
          <p:cNvPr id="23" name="">
            <a:extLst xmlns:a="http://schemas.openxmlformats.org/drawingml/2006/main">
              <a:ext uri="{FF2B5EF4-FFF2-40B4-BE49-F238E27FC236}">
                <a16:creationId xmlns:a16="http://schemas.microsoft.com/office/drawing/2014/main" id="{0EA849DD-3B99-44C1-8F90-AAB224001108}"/>
              </a:ext>
            </a:extLst>
          </p:cNvPr>
          <p:cNvSpPr>
            <a:spLocks xmlns:a="http://schemas.openxmlformats.org/drawingml/2006/main" noGrp="1"/>
          </p:cNvSpPr>
          <p:nvPr/>
        </p:nvSpPr>
        <p:spPr>
          <a:xfrm xmlns:a="http://schemas.openxmlformats.org/drawingml/2006/main">
            <a:off x="6572250" y="1933575"/>
            <a:ext cx="4933950" cy="3800475"/>
          </a:xfrm>
          <a:prstGeom xmlns:a="http://schemas.openxmlformats.org/drawingml/2006/main" prst="roundRect">
            <a:avLst>
              <a:gd name="adj" fmla="val 6015"/>
            </a:avLst>
          </a:prstGeom>
          <a:solidFill xmlns:a="http://schemas.openxmlformats.org/drawingml/2006/main">
            <a:srgbClr val="1C2740"/>
          </a:solidFill>
          <a:ln xmlns:a="http://schemas.openxmlformats.org/drawingml/2006/main" w="9525">
            <a:solidFill>
              <a:srgbClr val="26334E"/>
            </a:solidFill>
            <a:prstDash val="solid"/>
          </a:ln>
        </p:spPr>
      </p:sp>
      <p:sp>
        <p:nvSpPr>
          <p:cNvPr id="24" name="">
            <a:extLst xmlns:a="http://schemas.openxmlformats.org/drawingml/2006/main">
              <a:ext uri="{FF2B5EF4-FFF2-40B4-BE49-F238E27FC236}">
                <a16:creationId xmlns:a16="http://schemas.microsoft.com/office/drawing/2014/main" id="{F82274B1-4FD0-47AC-AE7B-1AB720FE9CE4}"/>
              </a:ext>
            </a:extLst>
          </p:cNvPr>
          <p:cNvSpPr>
            <a:spLocks xmlns:a="http://schemas.openxmlformats.org/drawingml/2006/main" noGrp="1"/>
          </p:cNvSpPr>
          <p:nvPr/>
        </p:nvSpPr>
        <p:spPr>
          <a:xfrm xmlns:a="http://schemas.openxmlformats.org/drawingml/2006/main">
            <a:off x="6877050" y="22098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5BBDE1"/>
                </a:solidFill>
                <a:latin typeface="Aptos Display"/>
                <a:ea typeface="Aptos Display"/>
                <a:cs typeface="Aptos Display"/>
              </a:defRPr>
            </a:pPr>
            <a:r>
              <a:rPr sz="975" b="1" i="0">
                <a:solidFill>
                  <a:srgbClr val="5BBDE1"/>
                </a:solidFill>
                <a:latin typeface="Aptos Display"/>
                <a:ea typeface="Aptos Display"/>
                <a:cs typeface="Aptos Display"/>
              </a:rPr>
              <a:t>RISK → MITIGATION</a:t>
            </a:r>
          </a:p>
        </p:txBody>
      </p:sp>
      <p:sp>
        <p:nvSpPr>
          <p:cNvPr id="25" name="">
            <a:extLst xmlns:a="http://schemas.openxmlformats.org/drawingml/2006/main">
              <a:ext uri="{FF2B5EF4-FFF2-40B4-BE49-F238E27FC236}">
                <a16:creationId xmlns:a16="http://schemas.microsoft.com/office/drawing/2014/main" id="{CD559DF3-8A62-4106-A4AF-7E9BAF1CD85A}"/>
              </a:ext>
            </a:extLst>
          </p:cNvPr>
          <p:cNvSpPr>
            <a:spLocks xmlns:a="http://schemas.openxmlformats.org/drawingml/2006/main" noGrp="1"/>
          </p:cNvSpPr>
          <p:nvPr/>
        </p:nvSpPr>
        <p:spPr>
          <a:xfrm xmlns:a="http://schemas.openxmlformats.org/drawingml/2006/main">
            <a:off x="6877050" y="2714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FFFFF"/>
                </a:solidFill>
                <a:latin typeface="Aptos Display"/>
                <a:ea typeface="Aptos Display"/>
                <a:cs typeface="Aptos Display"/>
              </a:defRPr>
            </a:pPr>
            <a:r>
              <a:rPr sz="1425" b="1" i="0">
                <a:solidFill>
                  <a:srgbClr val="FFFFFF"/>
                </a:solidFill>
                <a:latin typeface="Aptos Display"/>
                <a:ea typeface="Aptos Display"/>
                <a:cs typeface="Aptos Display"/>
              </a:rPr>
              <a:t>Cold start</a:t>
            </a:r>
          </a:p>
        </p:txBody>
      </p:sp>
      <p:sp>
        <p:nvSpPr>
          <p:cNvPr id="26" name="">
            <a:extLst xmlns:a="http://schemas.openxmlformats.org/drawingml/2006/main">
              <a:ext uri="{FF2B5EF4-FFF2-40B4-BE49-F238E27FC236}">
                <a16:creationId xmlns:a16="http://schemas.microsoft.com/office/drawing/2014/main" id="{4B6B5F78-26F6-4CB9-8143-D5622D795277}"/>
              </a:ext>
            </a:extLst>
          </p:cNvPr>
          <p:cNvSpPr>
            <a:spLocks xmlns:a="http://schemas.openxmlformats.org/drawingml/2006/main" noGrp="1"/>
          </p:cNvSpPr>
          <p:nvPr/>
        </p:nvSpPr>
        <p:spPr>
          <a:xfrm xmlns:a="http://schemas.openxmlformats.org/drawingml/2006/main">
            <a:off x="8324850" y="271462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6B5E"/>
                </a:solidFill>
                <a:latin typeface="Aptos Display"/>
                <a:ea typeface="Aptos Display"/>
                <a:cs typeface="Aptos Display"/>
              </a:defRPr>
            </a:pPr>
            <a:r>
              <a:rPr sz="1500" b="1" i="0">
                <a:solidFill>
                  <a:srgbClr val="FF6B5E"/>
                </a:solidFill>
                <a:latin typeface="Aptos Display"/>
                <a:ea typeface="Aptos Display"/>
                <a:cs typeface="Aptos Display"/>
              </a:rPr>
              <a:t>→</a:t>
            </a:r>
          </a:p>
        </p:txBody>
      </p:sp>
      <p:sp>
        <p:nvSpPr>
          <p:cNvPr id="27" name="">
            <a:extLst xmlns:a="http://schemas.openxmlformats.org/drawingml/2006/main">
              <a:ext uri="{FF2B5EF4-FFF2-40B4-BE49-F238E27FC236}">
                <a16:creationId xmlns:a16="http://schemas.microsoft.com/office/drawing/2014/main" id="{17BE84B6-6D99-4294-ACF5-33DF386CA979}"/>
              </a:ext>
            </a:extLst>
          </p:cNvPr>
          <p:cNvSpPr>
            <a:spLocks xmlns:a="http://schemas.openxmlformats.org/drawingml/2006/main" noGrp="1"/>
          </p:cNvSpPr>
          <p:nvPr/>
        </p:nvSpPr>
        <p:spPr>
          <a:xfrm xmlns:a="http://schemas.openxmlformats.org/drawingml/2006/main">
            <a:off x="8715375" y="2695575"/>
            <a:ext cx="2438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7D0E1"/>
                </a:solidFill>
                <a:latin typeface="Aptos"/>
                <a:ea typeface="Aptos"/>
                <a:cs typeface="Aptos"/>
              </a:defRPr>
            </a:pPr>
            <a:r>
              <a:rPr sz="1200" b="0" i="0">
                <a:solidFill>
                  <a:srgbClr val="C7D0E1"/>
                </a:solidFill>
                <a:latin typeface="Aptos"/>
                <a:ea typeface="Aptos"/>
                <a:cs typeface="Aptos"/>
              </a:rPr>
              <a:t>Admin-led onboarding + seeded essential utility</a:t>
            </a:r>
          </a:p>
        </p:txBody>
      </p:sp>
      <p:sp>
        <p:nvSpPr>
          <p:cNvPr id="28" name="">
            <a:extLst xmlns:a="http://schemas.openxmlformats.org/drawingml/2006/main">
              <a:ext uri="{FF2B5EF4-FFF2-40B4-BE49-F238E27FC236}">
                <a16:creationId xmlns:a16="http://schemas.microsoft.com/office/drawing/2014/main" id="{07006C10-BAA7-4E4E-8600-FA59E09BC356}"/>
              </a:ext>
            </a:extLst>
          </p:cNvPr>
          <p:cNvSpPr>
            <a:spLocks xmlns:a="http://schemas.openxmlformats.org/drawingml/2006/main" noGrp="1"/>
          </p:cNvSpPr>
          <p:nvPr/>
        </p:nvSpPr>
        <p:spPr>
          <a:xfrm xmlns:a="http://schemas.openxmlformats.org/drawingml/2006/main">
            <a:off x="6877050" y="3257550"/>
            <a:ext cx="4276725" cy="0"/>
          </a:xfrm>
          <a:prstGeom xmlns:a="http://schemas.openxmlformats.org/drawingml/2006/main" prst="line">
            <a:avLst/>
          </a:prstGeom>
          <a:noFill xmlns:a="http://schemas.openxmlformats.org/drawingml/2006/main"/>
          <a:ln xmlns:a="http://schemas.openxmlformats.org/drawingml/2006/main" w="9525">
            <a:solidFill>
              <a:srgbClr val="26334E"/>
            </a:solidFill>
            <a:prstDash val="solid"/>
          </a:ln>
        </p:spPr>
      </p:sp>
      <p:sp>
        <p:nvSpPr>
          <p:cNvPr id="29" name="">
            <a:extLst xmlns:a="http://schemas.openxmlformats.org/drawingml/2006/main">
              <a:ext uri="{FF2B5EF4-FFF2-40B4-BE49-F238E27FC236}">
                <a16:creationId xmlns:a16="http://schemas.microsoft.com/office/drawing/2014/main" id="{7A3C833C-D6C6-42DF-9922-451CA03950F4}"/>
              </a:ext>
            </a:extLst>
          </p:cNvPr>
          <p:cNvSpPr>
            <a:spLocks xmlns:a="http://schemas.openxmlformats.org/drawingml/2006/main" noGrp="1"/>
          </p:cNvSpPr>
          <p:nvPr/>
        </p:nvSpPr>
        <p:spPr>
          <a:xfrm xmlns:a="http://schemas.openxmlformats.org/drawingml/2006/main">
            <a:off x="6877050" y="34099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FFFFF"/>
                </a:solidFill>
                <a:latin typeface="Aptos Display"/>
                <a:ea typeface="Aptos Display"/>
                <a:cs typeface="Aptos Display"/>
              </a:defRPr>
            </a:pPr>
            <a:r>
              <a:rPr sz="1425" b="1" i="0">
                <a:solidFill>
                  <a:srgbClr val="FFFFFF"/>
                </a:solidFill>
                <a:latin typeface="Aptos Display"/>
                <a:ea typeface="Aptos Display"/>
                <a:cs typeface="Aptos Display"/>
              </a:rPr>
              <a:t>Trust incident</a:t>
            </a:r>
          </a:p>
        </p:txBody>
      </p:sp>
      <p:sp>
        <p:nvSpPr>
          <p:cNvPr id="30" name="">
            <a:extLst xmlns:a="http://schemas.openxmlformats.org/drawingml/2006/main">
              <a:ext uri="{FF2B5EF4-FFF2-40B4-BE49-F238E27FC236}">
                <a16:creationId xmlns:a16="http://schemas.microsoft.com/office/drawing/2014/main" id="{EFAED168-F261-438F-83C1-05BD3795D22B}"/>
              </a:ext>
            </a:extLst>
          </p:cNvPr>
          <p:cNvSpPr>
            <a:spLocks xmlns:a="http://schemas.openxmlformats.org/drawingml/2006/main" noGrp="1"/>
          </p:cNvSpPr>
          <p:nvPr/>
        </p:nvSpPr>
        <p:spPr>
          <a:xfrm xmlns:a="http://schemas.openxmlformats.org/drawingml/2006/main">
            <a:off x="8324850" y="340995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2E6BFF"/>
                </a:solidFill>
                <a:latin typeface="Aptos Display"/>
                <a:ea typeface="Aptos Display"/>
                <a:cs typeface="Aptos Display"/>
              </a:defRPr>
            </a:pPr>
            <a:r>
              <a:rPr sz="1500" b="1" i="0">
                <a:solidFill>
                  <a:srgbClr val="2E6BFF"/>
                </a:solidFill>
                <a:latin typeface="Aptos Display"/>
                <a:ea typeface="Aptos Display"/>
                <a:cs typeface="Aptos Display"/>
              </a:rPr>
              <a:t>→</a:t>
            </a:r>
          </a:p>
        </p:txBody>
      </p:sp>
      <p:sp>
        <p:nvSpPr>
          <p:cNvPr id="31" name="">
            <a:extLst xmlns:a="http://schemas.openxmlformats.org/drawingml/2006/main">
              <a:ext uri="{FF2B5EF4-FFF2-40B4-BE49-F238E27FC236}">
                <a16:creationId xmlns:a16="http://schemas.microsoft.com/office/drawing/2014/main" id="{5FB0044A-FF01-441A-9C03-5795ED3F0EEA}"/>
              </a:ext>
            </a:extLst>
          </p:cNvPr>
          <p:cNvSpPr>
            <a:spLocks xmlns:a="http://schemas.openxmlformats.org/drawingml/2006/main" noGrp="1"/>
          </p:cNvSpPr>
          <p:nvPr/>
        </p:nvSpPr>
        <p:spPr>
          <a:xfrm xmlns:a="http://schemas.openxmlformats.org/drawingml/2006/main">
            <a:off x="8715375" y="3390900"/>
            <a:ext cx="2438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7D0E1"/>
                </a:solidFill>
                <a:latin typeface="Aptos"/>
                <a:ea typeface="Aptos"/>
                <a:cs typeface="Aptos"/>
              </a:defRPr>
            </a:pPr>
            <a:r>
              <a:rPr sz="1200" b="0" i="0">
                <a:solidFill>
                  <a:srgbClr val="C7D0E1"/>
                </a:solidFill>
                <a:latin typeface="Aptos"/>
                <a:ea typeface="Aptos"/>
                <a:cs typeface="Aptos"/>
              </a:rPr>
              <a:t>Least-privilege roles + moderation + audit</a:t>
            </a:r>
          </a:p>
        </p:txBody>
      </p:sp>
      <p:sp>
        <p:nvSpPr>
          <p:cNvPr id="32" name="">
            <a:extLst xmlns:a="http://schemas.openxmlformats.org/drawingml/2006/main">
              <a:ext uri="{FF2B5EF4-FFF2-40B4-BE49-F238E27FC236}">
                <a16:creationId xmlns:a16="http://schemas.microsoft.com/office/drawing/2014/main" id="{86492E8C-4009-45CB-AFDA-222489649A77}"/>
              </a:ext>
            </a:extLst>
          </p:cNvPr>
          <p:cNvSpPr>
            <a:spLocks xmlns:a="http://schemas.openxmlformats.org/drawingml/2006/main" noGrp="1"/>
          </p:cNvSpPr>
          <p:nvPr/>
        </p:nvSpPr>
        <p:spPr>
          <a:xfrm xmlns:a="http://schemas.openxmlformats.org/drawingml/2006/main">
            <a:off x="6877050" y="3952875"/>
            <a:ext cx="4276725" cy="0"/>
          </a:xfrm>
          <a:prstGeom xmlns:a="http://schemas.openxmlformats.org/drawingml/2006/main" prst="line">
            <a:avLst/>
          </a:prstGeom>
          <a:noFill xmlns:a="http://schemas.openxmlformats.org/drawingml/2006/main"/>
          <a:ln xmlns:a="http://schemas.openxmlformats.org/drawingml/2006/main" w="9525">
            <a:solidFill>
              <a:srgbClr val="26334E"/>
            </a:solidFill>
            <a:prstDash val="solid"/>
          </a:ln>
        </p:spPr>
      </p:sp>
      <p:sp>
        <p:nvSpPr>
          <p:cNvPr id="33" name="">
            <a:extLst xmlns:a="http://schemas.openxmlformats.org/drawingml/2006/main">
              <a:ext uri="{FF2B5EF4-FFF2-40B4-BE49-F238E27FC236}">
                <a16:creationId xmlns:a16="http://schemas.microsoft.com/office/drawing/2014/main" id="{2F40B9E7-97EB-4D08-8515-4D7801D443C4}"/>
              </a:ext>
            </a:extLst>
          </p:cNvPr>
          <p:cNvSpPr>
            <a:spLocks xmlns:a="http://schemas.openxmlformats.org/drawingml/2006/main" noGrp="1"/>
          </p:cNvSpPr>
          <p:nvPr/>
        </p:nvSpPr>
        <p:spPr>
          <a:xfrm xmlns:a="http://schemas.openxmlformats.org/drawingml/2006/main">
            <a:off x="6877050" y="41052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60"/>
          </a:bodyPr>
          <a:lstStyle xmlns:a="http://schemas.openxmlformats.org/drawingml/2006/main"/>
          <a:p xmlns:a="http://schemas.openxmlformats.org/drawingml/2006/main">
            <a:pPr algn="l">
              <a:defRPr sz="1425" b="1" i="0">
                <a:solidFill>
                  <a:srgbClr val="FFFFFF"/>
                </a:solidFill>
                <a:latin typeface="Aptos Display"/>
                <a:ea typeface="Aptos Display"/>
                <a:cs typeface="Aptos Display"/>
              </a:defRPr>
            </a:pPr>
            <a:r>
              <a:rPr sz="1425" b="1" i="0">
                <a:solidFill>
                  <a:srgbClr val="FFFFFF"/>
                </a:solidFill>
                <a:latin typeface="Aptos Display"/>
                <a:ea typeface="Aptos Display"/>
                <a:cs typeface="Aptos Display"/>
              </a:rPr>
              <a:t>Weak monetization</a:t>
            </a:r>
          </a:p>
        </p:txBody>
      </p:sp>
      <p:sp>
        <p:nvSpPr>
          <p:cNvPr id="34" name="">
            <a:extLst xmlns:a="http://schemas.openxmlformats.org/drawingml/2006/main">
              <a:ext uri="{FF2B5EF4-FFF2-40B4-BE49-F238E27FC236}">
                <a16:creationId xmlns:a16="http://schemas.microsoft.com/office/drawing/2014/main" id="{31A359EE-5CBF-434E-8A8C-2B6497963A49}"/>
              </a:ext>
            </a:extLst>
          </p:cNvPr>
          <p:cNvSpPr>
            <a:spLocks xmlns:a="http://schemas.openxmlformats.org/drawingml/2006/main" noGrp="1"/>
          </p:cNvSpPr>
          <p:nvPr/>
        </p:nvSpPr>
        <p:spPr>
          <a:xfrm xmlns:a="http://schemas.openxmlformats.org/drawingml/2006/main">
            <a:off x="8324850" y="4105275"/>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6B5E"/>
                </a:solidFill>
                <a:latin typeface="Aptos Display"/>
                <a:ea typeface="Aptos Display"/>
                <a:cs typeface="Aptos Display"/>
              </a:defRPr>
            </a:pPr>
            <a:r>
              <a:rPr sz="1500" b="1" i="0">
                <a:solidFill>
                  <a:srgbClr val="FF6B5E"/>
                </a:solidFill>
                <a:latin typeface="Aptos Display"/>
                <a:ea typeface="Aptos Display"/>
                <a:cs typeface="Aptos Display"/>
              </a:rPr>
              <a:t>→</a:t>
            </a:r>
          </a:p>
        </p:txBody>
      </p:sp>
      <p:sp>
        <p:nvSpPr>
          <p:cNvPr id="35" name="">
            <a:extLst xmlns:a="http://schemas.openxmlformats.org/drawingml/2006/main">
              <a:ext uri="{FF2B5EF4-FFF2-40B4-BE49-F238E27FC236}">
                <a16:creationId xmlns:a16="http://schemas.microsoft.com/office/drawing/2014/main" id="{7F7D88A3-B43F-4F91-8A48-A21C7D5E5344}"/>
              </a:ext>
            </a:extLst>
          </p:cNvPr>
          <p:cNvSpPr>
            <a:spLocks xmlns:a="http://schemas.openxmlformats.org/drawingml/2006/main" noGrp="1"/>
          </p:cNvSpPr>
          <p:nvPr/>
        </p:nvSpPr>
        <p:spPr>
          <a:xfrm xmlns:a="http://schemas.openxmlformats.org/drawingml/2006/main">
            <a:off x="8715375" y="4086225"/>
            <a:ext cx="2438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7D0E1"/>
                </a:solidFill>
                <a:latin typeface="Aptos"/>
                <a:ea typeface="Aptos"/>
                <a:cs typeface="Aptos"/>
              </a:defRPr>
            </a:pPr>
            <a:r>
              <a:rPr sz="1200" b="0" i="0">
                <a:solidFill>
                  <a:srgbClr val="C7D0E1"/>
                </a:solidFill>
                <a:latin typeface="Aptos"/>
                <a:ea typeface="Aptos"/>
                <a:cs typeface="Aptos"/>
              </a:rPr>
              <a:t>Delay paid layers until engagement gates</a:t>
            </a:r>
          </a:p>
        </p:txBody>
      </p:sp>
      <p:sp>
        <p:nvSpPr>
          <p:cNvPr id="36" name="">
            <a:extLst xmlns:a="http://schemas.openxmlformats.org/drawingml/2006/main">
              <a:ext uri="{FF2B5EF4-FFF2-40B4-BE49-F238E27FC236}">
                <a16:creationId xmlns:a16="http://schemas.microsoft.com/office/drawing/2014/main" id="{A27BBE94-12DE-4B96-BEE3-2EB213EB15FC}"/>
              </a:ext>
            </a:extLst>
          </p:cNvPr>
          <p:cNvSpPr>
            <a:spLocks xmlns:a="http://schemas.openxmlformats.org/drawingml/2006/main" noGrp="1"/>
          </p:cNvSpPr>
          <p:nvPr/>
        </p:nvSpPr>
        <p:spPr>
          <a:xfrm xmlns:a="http://schemas.openxmlformats.org/drawingml/2006/main">
            <a:off x="6877050" y="4648200"/>
            <a:ext cx="4276725" cy="0"/>
          </a:xfrm>
          <a:prstGeom xmlns:a="http://schemas.openxmlformats.org/drawingml/2006/main" prst="line">
            <a:avLst/>
          </a:prstGeom>
          <a:noFill xmlns:a="http://schemas.openxmlformats.org/drawingml/2006/main"/>
          <a:ln xmlns:a="http://schemas.openxmlformats.org/drawingml/2006/main" w="9525">
            <a:solidFill>
              <a:srgbClr val="26334E"/>
            </a:solidFill>
            <a:prstDash val="solid"/>
          </a:ln>
        </p:spPr>
      </p:sp>
      <p:sp>
        <p:nvSpPr>
          <p:cNvPr id="37" name="">
            <a:extLst xmlns:a="http://schemas.openxmlformats.org/drawingml/2006/main">
              <a:ext uri="{FF2B5EF4-FFF2-40B4-BE49-F238E27FC236}">
                <a16:creationId xmlns:a16="http://schemas.microsoft.com/office/drawing/2014/main" id="{27748BF3-B132-4DCD-B83E-901B46CEA815}"/>
              </a:ext>
            </a:extLst>
          </p:cNvPr>
          <p:cNvSpPr>
            <a:spLocks xmlns:a="http://schemas.openxmlformats.org/drawingml/2006/main" noGrp="1"/>
          </p:cNvSpPr>
          <p:nvPr/>
        </p:nvSpPr>
        <p:spPr>
          <a:xfrm xmlns:a="http://schemas.openxmlformats.org/drawingml/2006/main">
            <a:off x="6877050" y="48006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366"/>
          </a:bodyPr>
          <a:lstStyle xmlns:a="http://schemas.openxmlformats.org/drawingml/2006/main"/>
          <a:p xmlns:a="http://schemas.openxmlformats.org/drawingml/2006/main">
            <a:pPr algn="l">
              <a:defRPr sz="1425" b="1" i="0">
                <a:solidFill>
                  <a:srgbClr val="FFFFFF"/>
                </a:solidFill>
                <a:latin typeface="Aptos Display"/>
                <a:ea typeface="Aptos Display"/>
                <a:cs typeface="Aptos Display"/>
              </a:defRPr>
            </a:pPr>
            <a:r>
              <a:rPr sz="1425" b="1" i="0">
                <a:solidFill>
                  <a:srgbClr val="FFFFFF"/>
                </a:solidFill>
                <a:latin typeface="Aptos Display"/>
                <a:ea typeface="Aptos Display"/>
                <a:cs typeface="Aptos Display"/>
              </a:rPr>
              <a:t>Fragmented procurement</a:t>
            </a:r>
          </a:p>
        </p:txBody>
      </p:sp>
      <p:sp>
        <p:nvSpPr>
          <p:cNvPr id="38" name="">
            <a:extLst xmlns:a="http://schemas.openxmlformats.org/drawingml/2006/main">
              <a:ext uri="{FF2B5EF4-FFF2-40B4-BE49-F238E27FC236}">
                <a16:creationId xmlns:a16="http://schemas.microsoft.com/office/drawing/2014/main" id="{0F040946-53A7-47AB-8CE5-6C72E131C015}"/>
              </a:ext>
            </a:extLst>
          </p:cNvPr>
          <p:cNvSpPr>
            <a:spLocks xmlns:a="http://schemas.openxmlformats.org/drawingml/2006/main" noGrp="1"/>
          </p:cNvSpPr>
          <p:nvPr/>
        </p:nvSpPr>
        <p:spPr>
          <a:xfrm xmlns:a="http://schemas.openxmlformats.org/drawingml/2006/main">
            <a:off x="8324850" y="4800600"/>
            <a:ext cx="30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2E6BFF"/>
                </a:solidFill>
                <a:latin typeface="Aptos Display"/>
                <a:ea typeface="Aptos Display"/>
                <a:cs typeface="Aptos Display"/>
              </a:defRPr>
            </a:pPr>
            <a:r>
              <a:rPr sz="1500" b="1" i="0">
                <a:solidFill>
                  <a:srgbClr val="2E6BFF"/>
                </a:solidFill>
                <a:latin typeface="Aptos Display"/>
                <a:ea typeface="Aptos Display"/>
                <a:cs typeface="Aptos Display"/>
              </a:rPr>
              <a:t>→</a:t>
            </a:r>
          </a:p>
        </p:txBody>
      </p:sp>
      <p:sp>
        <p:nvSpPr>
          <p:cNvPr id="39" name="">
            <a:extLst xmlns:a="http://schemas.openxmlformats.org/drawingml/2006/main">
              <a:ext uri="{FF2B5EF4-FFF2-40B4-BE49-F238E27FC236}">
                <a16:creationId xmlns:a16="http://schemas.microsoft.com/office/drawing/2014/main" id="{16E31802-5C8C-47D1-90CB-F164973C9F17}"/>
              </a:ext>
            </a:extLst>
          </p:cNvPr>
          <p:cNvSpPr>
            <a:spLocks xmlns:a="http://schemas.openxmlformats.org/drawingml/2006/main" noGrp="1"/>
          </p:cNvSpPr>
          <p:nvPr/>
        </p:nvSpPr>
        <p:spPr>
          <a:xfrm xmlns:a="http://schemas.openxmlformats.org/drawingml/2006/main">
            <a:off x="8715375" y="4781550"/>
            <a:ext cx="2438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C7D0E1"/>
                </a:solidFill>
                <a:latin typeface="Aptos"/>
                <a:ea typeface="Aptos"/>
                <a:cs typeface="Aptos"/>
              </a:defRPr>
            </a:pPr>
            <a:r>
              <a:rPr sz="1200" b="0" i="0">
                <a:solidFill>
                  <a:srgbClr val="C7D0E1"/>
                </a:solidFill>
                <a:latin typeface="Aptos"/>
                <a:ea typeface="Aptos"/>
                <a:cs typeface="Aptos"/>
              </a:rPr>
              <a:t>Standardized pilot contract + proof pack</a:t>
            </a:r>
          </a:p>
        </p:txBody>
      </p:sp>
      <p:sp>
        <p:nvSpPr>
          <p:cNvPr id="40" name="">
            <a:extLst xmlns:a="http://schemas.openxmlformats.org/drawingml/2006/main">
              <a:ext uri="{FF2B5EF4-FFF2-40B4-BE49-F238E27FC236}">
                <a16:creationId xmlns:a16="http://schemas.microsoft.com/office/drawing/2014/main" id="{BF55B714-F1CB-4B04-9E1B-F20F400C292B}"/>
              </a:ext>
            </a:extLst>
          </p:cNvPr>
          <p:cNvSpPr>
            <a:spLocks xmlns:a="http://schemas.openxmlformats.org/drawingml/2006/main" noGrp="1"/>
          </p:cNvSpPr>
          <p:nvPr/>
        </p:nvSpPr>
        <p:spPr>
          <a:xfrm xmlns:a="http://schemas.openxmlformats.org/drawingml/2006/main">
            <a:off x="4581525" y="5962650"/>
            <a:ext cx="302895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4205AB8-A23A-43EE-91BB-C61574B49CB5}"/>
              </a:ext>
            </a:extLst>
          </p:cNvPr>
          <p:cNvSpPr>
            <a:spLocks xmlns:a="http://schemas.openxmlformats.org/drawingml/2006/main" noGrp="1"/>
          </p:cNvSpPr>
          <p:nvPr/>
        </p:nvSpPr>
        <p:spPr>
          <a:xfrm xmlns:a="http://schemas.openxmlformats.org/drawingml/2006/main">
            <a:off x="4695825" y="60007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i="0">
                <a:solidFill>
                  <a:srgbClr val="121A2C"/>
                </a:solidFill>
                <a:latin typeface="Aptos Display"/>
                <a:ea typeface="Aptos Display"/>
                <a:cs typeface="Aptos Display"/>
              </a:defRPr>
            </a:pPr>
            <a:r>
              <a:rPr sz="975" b="1" i="0">
                <a:solidFill>
                  <a:srgbClr val="121A2C"/>
                </a:solidFill>
                <a:latin typeface="Aptos Display"/>
                <a:ea typeface="Aptos Display"/>
                <a:cs typeface="Aptos Display"/>
              </a:rPr>
              <a:t>GATES, NOT VANITY METRICS</a:t>
            </a:r>
          </a:p>
        </p:txBody>
      </p:sp>
      <p:sp>
        <p:nvSpPr>
          <p:cNvPr id="42" name="">
            <a:extLst xmlns:a="http://schemas.openxmlformats.org/drawingml/2006/main">
              <a:ext uri="{FF2B5EF4-FFF2-40B4-BE49-F238E27FC236}">
                <a16:creationId xmlns:a16="http://schemas.microsoft.com/office/drawing/2014/main" id="{777B3F57-6422-4D61-B794-4D1A9F07D7A0}"/>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C7D0E1"/>
                </a:solidFill>
                <a:latin typeface="Aptos"/>
                <a:ea typeface="Aptos"/>
                <a:cs typeface="Aptos"/>
              </a:defRPr>
            </a:pPr>
            <a:r>
              <a:rPr sz="825" b="0" i="0">
                <a:solidFill>
                  <a:srgbClr val="C7D0E1"/>
                </a:solidFill>
                <a:latin typeface="Aptos"/>
                <a:ea typeface="Aptos"/>
                <a:cs typeface="Aptos"/>
              </a:rPr>
              <a:t>All pilot metrics are proposed targets for validation, not current performance.</a:t>
            </a:r>
          </a:p>
        </p:txBody>
      </p:sp>
      <p:sp>
        <p:nvSpPr>
          <p:cNvPr id="43" name="">
            <a:extLst xmlns:a="http://schemas.openxmlformats.org/drawingml/2006/main">
              <a:ext uri="{FF2B5EF4-FFF2-40B4-BE49-F238E27FC236}">
                <a16:creationId xmlns:a16="http://schemas.microsoft.com/office/drawing/2014/main" id="{6707B362-89F1-49D0-9989-21CCB5CB4BD3}"/>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FFFFFF"/>
                </a:solidFill>
                <a:latin typeface="Aptos Display"/>
                <a:ea typeface="Aptos Display"/>
                <a:cs typeface="Aptos Display"/>
              </a:defRPr>
            </a:pPr>
            <a:r>
              <a:rPr sz="900" b="1" i="0">
                <a:solidFill>
                  <a:srgbClr val="FFFFFF"/>
                </a:solidFill>
                <a:latin typeface="Aptos Display"/>
                <a:ea typeface="Aptos Display"/>
                <a:cs typeface="Aptos Display"/>
              </a:rPr>
              <a:t>19</a:t>
            </a:r>
          </a:p>
        </p:txBody>
      </p:sp>
    </p:spTree>
    <p:extLst>
      <p:ext uri="{BB962C8B-B14F-4D97-AF65-F5344CB8AC3E}">
        <p14:creationId xmlns:p14="http://schemas.microsoft.com/office/powerpoint/2010/main" val="900570979"/>
      </p:ext>
    </p:extLst>
  </p:cSld>
  <p:transition spd="fast" advClick="1">
    <p:fade/>
  </p:transition>
</p:sld>
</file>

<file path=ppt/slides/slide20.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BC64D2F-02CA-4F05-842F-9A0C8A169E8E}"/>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THE PARTNERSHIP CASE</a:t>
            </a:r>
          </a:p>
        </p:txBody>
      </p:sp>
      <p:sp>
        <p:nvSpPr>
          <p:cNvPr id="2" name="">
            <a:extLst xmlns:a="http://schemas.openxmlformats.org/drawingml/2006/main">
              <a:ext uri="{FF2B5EF4-FFF2-40B4-BE49-F238E27FC236}">
                <a16:creationId xmlns:a16="http://schemas.microsoft.com/office/drawing/2014/main" id="{CD519A65-AF82-4F1C-8DB3-3C10E45A3B7B}"/>
              </a:ext>
            </a:extLst>
          </p:cNvPr>
          <p:cNvSpPr>
            <a:spLocks xmlns:a="http://schemas.openxmlformats.org/drawingml/2006/main" noGrp="1"/>
          </p:cNvSpPr>
          <p:nvPr/>
        </p:nvSpPr>
        <p:spPr>
          <a:xfrm xmlns:a="http://schemas.openxmlformats.org/drawingml/2006/main">
            <a:off x="685800" y="74295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i="0">
                <a:solidFill>
                  <a:srgbClr val="182033"/>
                </a:solidFill>
                <a:latin typeface="Aptos Display"/>
                <a:ea typeface="Aptos Display"/>
                <a:cs typeface="Aptos Display"/>
              </a:defRPr>
            </a:pPr>
            <a:r>
              <a:rPr sz="4200" b="1" i="0">
                <a:solidFill>
                  <a:srgbClr val="182033"/>
                </a:solidFill>
                <a:latin typeface="Aptos Display"/>
                <a:ea typeface="Aptos Display"/>
                <a:cs typeface="Aptos Display"/>
              </a:rPr>
              <a:t>Build the category with us.</a:t>
            </a:r>
          </a:p>
        </p:txBody>
      </p:sp>
      <p:sp>
        <p:nvSpPr>
          <p:cNvPr id="3" name="">
            <a:extLst xmlns:a="http://schemas.openxmlformats.org/drawingml/2006/main">
              <a:ext uri="{FF2B5EF4-FFF2-40B4-BE49-F238E27FC236}">
                <a16:creationId xmlns:a16="http://schemas.microsoft.com/office/drawing/2014/main" id="{5BE7AAB5-CE8E-4D4F-B440-68C18B3FEA80}"/>
              </a:ext>
            </a:extLst>
          </p:cNvPr>
          <p:cNvSpPr>
            <a:spLocks xmlns:a="http://schemas.openxmlformats.org/drawingml/2006/main" noGrp="1"/>
          </p:cNvSpPr>
          <p:nvPr/>
        </p:nvSpPr>
        <p:spPr>
          <a:xfrm xmlns:a="http://schemas.openxmlformats.org/drawingml/2006/main">
            <a:off x="685800" y="15144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i="0">
                <a:solidFill>
                  <a:srgbClr val="5B6474"/>
                </a:solidFill>
                <a:latin typeface="Aptos"/>
                <a:ea typeface="Aptos"/>
                <a:cs typeface="Aptos"/>
              </a:defRPr>
            </a:pPr>
            <a:r>
              <a:rPr sz="2025" b="0" i="0">
                <a:solidFill>
                  <a:srgbClr val="5B6474"/>
                </a:solidFill>
                <a:latin typeface="Aptos"/>
                <a:ea typeface="Aptos"/>
                <a:cs typeface="Aptos"/>
              </a:rPr>
              <a:t>One pilot. One cluster. A national network.</a:t>
            </a:r>
          </a:p>
        </p:txBody>
      </p:sp>
      <p:sp>
        <p:nvSpPr>
          <p:cNvPr id="4" name="">
            <a:extLst xmlns:a="http://schemas.openxmlformats.org/drawingml/2006/main">
              <a:ext uri="{FF2B5EF4-FFF2-40B4-BE49-F238E27FC236}">
                <a16:creationId xmlns:a16="http://schemas.microsoft.com/office/drawing/2014/main" id="{CA8BBFFA-FC97-4E59-9121-1501764F0C9F}"/>
              </a:ext>
            </a:extLst>
          </p:cNvPr>
          <p:cNvSpPr>
            <a:spLocks xmlns:a="http://schemas.openxmlformats.org/drawingml/2006/main" noGrp="1"/>
          </p:cNvSpPr>
          <p:nvPr/>
        </p:nvSpPr>
        <p:spPr>
          <a:xfrm xmlns:a="http://schemas.openxmlformats.org/drawingml/2006/main">
            <a:off x="9525000" y="666750"/>
            <a:ext cx="2000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650" b="1" i="0">
                <a:solidFill>
                  <a:srgbClr val="F9DEDA"/>
                </a:solidFill>
                <a:latin typeface="Aptos Display"/>
                <a:ea typeface="Aptos Display"/>
                <a:cs typeface="Aptos Display"/>
              </a:defRPr>
            </a:pPr>
            <a:r>
              <a:rPr sz="7650" b="1" i="0">
                <a:solidFill>
                  <a:srgbClr val="F9DEDA"/>
                </a:solidFill>
                <a:latin typeface="Aptos Display"/>
                <a:ea typeface="Aptos Display"/>
                <a:cs typeface="Aptos Display"/>
              </a:rPr>
              <a:t>ASK</a:t>
            </a:r>
          </a:p>
        </p:txBody>
      </p:sp>
      <p:sp>
        <p:nvSpPr>
          <p:cNvPr id="5" name="">
            <a:extLst xmlns:a="http://schemas.openxmlformats.org/drawingml/2006/main">
              <a:ext uri="{FF2B5EF4-FFF2-40B4-BE49-F238E27FC236}">
                <a16:creationId xmlns:a16="http://schemas.microsoft.com/office/drawing/2014/main" id="{5578D3C5-C650-4589-9B9F-C3A2664EAE05}"/>
              </a:ext>
            </a:extLst>
          </p:cNvPr>
          <p:cNvSpPr>
            <a:spLocks xmlns:a="http://schemas.openxmlformats.org/drawingml/2006/main" noGrp="1"/>
          </p:cNvSpPr>
          <p:nvPr/>
        </p:nvSpPr>
        <p:spPr>
          <a:xfrm xmlns:a="http://schemas.openxmlformats.org/drawingml/2006/main">
            <a:off x="685800" y="2324100"/>
            <a:ext cx="10820400" cy="971550"/>
          </a:xfrm>
          <a:prstGeom xmlns:a="http://schemas.openxmlformats.org/drawingml/2006/main" prst="roundRect">
            <a:avLst>
              <a:gd name="adj" fmla="val 19608"/>
            </a:avLst>
          </a:prstGeom>
          <a:solidFill xmlns:a="http://schemas.openxmlformats.org/drawingml/2006/main">
            <a:srgbClr val="FFFFFF"/>
          </a:solidFill>
          <a:ln xmlns:a="http://schemas.openxmlformats.org/drawingml/2006/main" w="9525">
            <a:solidFill>
              <a:srgbClr val="D8D2C8"/>
            </a:solidFill>
            <a:prstDash val="solid"/>
          </a:ln>
        </p:spPr>
      </p:sp>
      <p:sp>
        <p:nvSpPr>
          <p:cNvPr id="6" name="">
            <a:extLst xmlns:a="http://schemas.openxmlformats.org/drawingml/2006/main">
              <a:ext uri="{FF2B5EF4-FFF2-40B4-BE49-F238E27FC236}">
                <a16:creationId xmlns:a16="http://schemas.microsoft.com/office/drawing/2014/main" id="{81A3CF4F-8AB0-42CF-8A75-B1563516A623}"/>
              </a:ext>
            </a:extLst>
          </p:cNvPr>
          <p:cNvSpPr>
            <a:spLocks xmlns:a="http://schemas.openxmlformats.org/drawingml/2006/main" noGrp="1"/>
          </p:cNvSpPr>
          <p:nvPr/>
        </p:nvSpPr>
        <p:spPr>
          <a:xfrm xmlns:a="http://schemas.openxmlformats.org/drawingml/2006/main">
            <a:off x="685800" y="2324100"/>
            <a:ext cx="95250" cy="9715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D9F8F4C-326B-4D0A-9104-D3E2E897F7EA}"/>
              </a:ext>
            </a:extLst>
          </p:cNvPr>
          <p:cNvSpPr>
            <a:spLocks xmlns:a="http://schemas.openxmlformats.org/drawingml/2006/main" noGrp="1"/>
          </p:cNvSpPr>
          <p:nvPr/>
        </p:nvSpPr>
        <p:spPr>
          <a:xfrm xmlns:a="http://schemas.openxmlformats.org/drawingml/2006/main">
            <a:off x="1028700" y="24955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FF6B5E"/>
                </a:solidFill>
                <a:latin typeface="Aptos Display"/>
                <a:ea typeface="Aptos Display"/>
                <a:cs typeface="Aptos Display"/>
              </a:defRPr>
            </a:pPr>
            <a:r>
              <a:rPr sz="900" b="1" i="0">
                <a:solidFill>
                  <a:srgbClr val="FF6B5E"/>
                </a:solidFill>
                <a:latin typeface="Aptos Display"/>
                <a:ea typeface="Aptos Display"/>
                <a:cs typeface="Aptos Display"/>
              </a:rPr>
              <a:t>SOCIETY LEADERS</a:t>
            </a:r>
          </a:p>
        </p:txBody>
      </p:sp>
      <p:sp>
        <p:nvSpPr>
          <p:cNvPr id="8" name="">
            <a:extLst xmlns:a="http://schemas.openxmlformats.org/drawingml/2006/main">
              <a:ext uri="{FF2B5EF4-FFF2-40B4-BE49-F238E27FC236}">
                <a16:creationId xmlns:a16="http://schemas.microsoft.com/office/drawing/2014/main" id="{A6FE3C09-3418-400E-80B4-43946D0B4E7A}"/>
              </a:ext>
            </a:extLst>
          </p:cNvPr>
          <p:cNvSpPr>
            <a:spLocks xmlns:a="http://schemas.openxmlformats.org/drawingml/2006/main" noGrp="1"/>
          </p:cNvSpPr>
          <p:nvPr/>
        </p:nvSpPr>
        <p:spPr>
          <a:xfrm xmlns:a="http://schemas.openxmlformats.org/drawingml/2006/main">
            <a:off x="1028700" y="27717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82033"/>
                </a:solidFill>
                <a:latin typeface="Aptos Display"/>
                <a:ea typeface="Aptos Display"/>
                <a:cs typeface="Aptos Display"/>
              </a:defRPr>
            </a:pPr>
            <a:r>
              <a:rPr sz="1800" b="1" i="0">
                <a:solidFill>
                  <a:srgbClr val="182033"/>
                </a:solidFill>
                <a:latin typeface="Aptos Display"/>
                <a:ea typeface="Aptos Display"/>
                <a:cs typeface="Aptos Display"/>
              </a:rPr>
              <a:t>Run a 90-day pilot</a:t>
            </a:r>
          </a:p>
        </p:txBody>
      </p:sp>
      <p:sp>
        <p:nvSpPr>
          <p:cNvPr id="9" name="">
            <a:extLst xmlns:a="http://schemas.openxmlformats.org/drawingml/2006/main">
              <a:ext uri="{FF2B5EF4-FFF2-40B4-BE49-F238E27FC236}">
                <a16:creationId xmlns:a16="http://schemas.microsoft.com/office/drawing/2014/main" id="{AD475397-4965-4D0C-8A35-3A2C33A2C984}"/>
              </a:ext>
            </a:extLst>
          </p:cNvPr>
          <p:cNvSpPr>
            <a:spLocks xmlns:a="http://schemas.openxmlformats.org/drawingml/2006/main" noGrp="1"/>
          </p:cNvSpPr>
          <p:nvPr/>
        </p:nvSpPr>
        <p:spPr>
          <a:xfrm xmlns:a="http://schemas.openxmlformats.org/drawingml/2006/main">
            <a:off x="4400550" y="2609850"/>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B6474"/>
                </a:solidFill>
                <a:latin typeface="Aptos"/>
                <a:ea typeface="Aptos"/>
                <a:cs typeface="Aptos"/>
              </a:defRPr>
            </a:pPr>
            <a:r>
              <a:rPr sz="1425" b="0" i="0">
                <a:solidFill>
                  <a:srgbClr val="5B6474"/>
                </a:solidFill>
                <a:latin typeface="Aptos"/>
                <a:ea typeface="Aptos"/>
                <a:cs typeface="Aptos"/>
              </a:rPr>
              <a:t>Nominate an admin champion, verify households, and measure the scorecard.</a:t>
            </a:r>
          </a:p>
        </p:txBody>
      </p:sp>
      <p:sp>
        <p:nvSpPr>
          <p:cNvPr id="10" name="">
            <a:extLst xmlns:a="http://schemas.openxmlformats.org/drawingml/2006/main">
              <a:ext uri="{FF2B5EF4-FFF2-40B4-BE49-F238E27FC236}">
                <a16:creationId xmlns:a16="http://schemas.microsoft.com/office/drawing/2014/main" id="{BA487FE0-D1B6-4DF2-B297-B940D4E79B70}"/>
              </a:ext>
            </a:extLst>
          </p:cNvPr>
          <p:cNvSpPr>
            <a:spLocks xmlns:a="http://schemas.openxmlformats.org/drawingml/2006/main" noGrp="1"/>
          </p:cNvSpPr>
          <p:nvPr/>
        </p:nvSpPr>
        <p:spPr>
          <a:xfrm xmlns:a="http://schemas.openxmlformats.org/drawingml/2006/main">
            <a:off x="685800" y="3495675"/>
            <a:ext cx="10820400" cy="971550"/>
          </a:xfrm>
          <a:prstGeom xmlns:a="http://schemas.openxmlformats.org/drawingml/2006/main" prst="roundRect">
            <a:avLst>
              <a:gd name="adj" fmla="val 19608"/>
            </a:avLst>
          </a:prstGeom>
          <a:solidFill xmlns:a="http://schemas.openxmlformats.org/drawingml/2006/main">
            <a:srgbClr val="FFFFFF"/>
          </a:solidFill>
          <a:ln xmlns:a="http://schemas.openxmlformats.org/drawingml/2006/main" w="9525">
            <a:solidFill>
              <a:srgbClr val="D8D2C8"/>
            </a:solidFill>
            <a:prstDash val="solid"/>
          </a:ln>
        </p:spPr>
      </p:sp>
      <p:sp>
        <p:nvSpPr>
          <p:cNvPr id="11" name="">
            <a:extLst xmlns:a="http://schemas.openxmlformats.org/drawingml/2006/main">
              <a:ext uri="{FF2B5EF4-FFF2-40B4-BE49-F238E27FC236}">
                <a16:creationId xmlns:a16="http://schemas.microsoft.com/office/drawing/2014/main" id="{FE352E32-EA56-4C3C-88A7-D161CA35414A}"/>
              </a:ext>
            </a:extLst>
          </p:cNvPr>
          <p:cNvSpPr>
            <a:spLocks xmlns:a="http://schemas.openxmlformats.org/drawingml/2006/main" noGrp="1"/>
          </p:cNvSpPr>
          <p:nvPr/>
        </p:nvSpPr>
        <p:spPr>
          <a:xfrm xmlns:a="http://schemas.openxmlformats.org/drawingml/2006/main">
            <a:off x="685800" y="3495675"/>
            <a:ext cx="95250" cy="971550"/>
          </a:xfrm>
          <a:prstGeom xmlns:a="http://schemas.openxmlformats.org/drawingml/2006/main" prst="roundRect">
            <a:avLst>
              <a:gd name="adj" fmla="val 50000"/>
            </a:avLst>
          </a:prstGeom>
          <a:solidFill xmlns:a="http://schemas.openxmlformats.org/drawingml/2006/main">
            <a:srgbClr val="2E6B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432E640-5CCE-4A44-A3D8-CF783D0B8A56}"/>
              </a:ext>
            </a:extLst>
          </p:cNvPr>
          <p:cNvSpPr>
            <a:spLocks xmlns:a="http://schemas.openxmlformats.org/drawingml/2006/main" noGrp="1"/>
          </p:cNvSpPr>
          <p:nvPr/>
        </p:nvSpPr>
        <p:spPr>
          <a:xfrm xmlns:a="http://schemas.openxmlformats.org/drawingml/2006/main">
            <a:off x="1028700" y="3667125"/>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2E6BFF"/>
                </a:solidFill>
                <a:latin typeface="Aptos Display"/>
                <a:ea typeface="Aptos Display"/>
                <a:cs typeface="Aptos Display"/>
              </a:defRPr>
            </a:pPr>
            <a:r>
              <a:rPr sz="900" b="1" i="0">
                <a:solidFill>
                  <a:srgbClr val="2E6BFF"/>
                </a:solidFill>
                <a:latin typeface="Aptos Display"/>
                <a:ea typeface="Aptos Display"/>
                <a:cs typeface="Aptos Display"/>
              </a:rPr>
              <a:t>STRATEGIC PARTNERS</a:t>
            </a:r>
          </a:p>
        </p:txBody>
      </p:sp>
      <p:sp>
        <p:nvSpPr>
          <p:cNvPr id="13" name="">
            <a:extLst xmlns:a="http://schemas.openxmlformats.org/drawingml/2006/main">
              <a:ext uri="{FF2B5EF4-FFF2-40B4-BE49-F238E27FC236}">
                <a16:creationId xmlns:a16="http://schemas.microsoft.com/office/drawing/2014/main" id="{44936D8A-099A-4103-85C6-1BABB96879FF}"/>
              </a:ext>
            </a:extLst>
          </p:cNvPr>
          <p:cNvSpPr>
            <a:spLocks xmlns:a="http://schemas.openxmlformats.org/drawingml/2006/main" noGrp="1"/>
          </p:cNvSpPr>
          <p:nvPr/>
        </p:nvSpPr>
        <p:spPr>
          <a:xfrm xmlns:a="http://schemas.openxmlformats.org/drawingml/2006/main">
            <a:off x="1028700" y="3943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182033"/>
                </a:solidFill>
                <a:latin typeface="Aptos Display"/>
                <a:ea typeface="Aptos Display"/>
                <a:cs typeface="Aptos Display"/>
              </a:defRPr>
            </a:pPr>
            <a:r>
              <a:rPr sz="1800" b="1" i="0">
                <a:solidFill>
                  <a:srgbClr val="182033"/>
                </a:solidFill>
                <a:latin typeface="Aptos Display"/>
                <a:ea typeface="Aptos Display"/>
                <a:cs typeface="Aptos Display"/>
              </a:rPr>
              <a:t>Connect critical services</a:t>
            </a:r>
          </a:p>
        </p:txBody>
      </p:sp>
      <p:sp>
        <p:nvSpPr>
          <p:cNvPr id="14" name="">
            <a:extLst xmlns:a="http://schemas.openxmlformats.org/drawingml/2006/main">
              <a:ext uri="{FF2B5EF4-FFF2-40B4-BE49-F238E27FC236}">
                <a16:creationId xmlns:a16="http://schemas.microsoft.com/office/drawing/2014/main" id="{272A3615-7C3E-4C7E-8CDA-2BC7C20E9029}"/>
              </a:ext>
            </a:extLst>
          </p:cNvPr>
          <p:cNvSpPr>
            <a:spLocks xmlns:a="http://schemas.openxmlformats.org/drawingml/2006/main" noGrp="1"/>
          </p:cNvSpPr>
          <p:nvPr/>
        </p:nvSpPr>
        <p:spPr>
          <a:xfrm xmlns:a="http://schemas.openxmlformats.org/drawingml/2006/main">
            <a:off x="4400550" y="3781425"/>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5B6474"/>
                </a:solidFill>
                <a:latin typeface="Aptos"/>
                <a:ea typeface="Aptos"/>
                <a:cs typeface="Aptos"/>
              </a:defRPr>
            </a:pPr>
            <a:r>
              <a:rPr sz="1425" b="0" i="0">
                <a:solidFill>
                  <a:srgbClr val="5B6474"/>
                </a:solidFill>
                <a:latin typeface="Aptos"/>
                <a:ea typeface="Aptos"/>
                <a:cs typeface="Aptos"/>
              </a:rPr>
              <a:t>Explore safety, local services, payments, developer or civic integrations.</a:t>
            </a:r>
          </a:p>
        </p:txBody>
      </p:sp>
      <p:sp>
        <p:nvSpPr>
          <p:cNvPr id="15" name="">
            <a:extLst xmlns:a="http://schemas.openxmlformats.org/drawingml/2006/main">
              <a:ext uri="{FF2B5EF4-FFF2-40B4-BE49-F238E27FC236}">
                <a16:creationId xmlns:a16="http://schemas.microsoft.com/office/drawing/2014/main" id="{1D660FF6-E7AB-4270-87FA-A35B48B4A1ED}"/>
              </a:ext>
            </a:extLst>
          </p:cNvPr>
          <p:cNvSpPr>
            <a:spLocks xmlns:a="http://schemas.openxmlformats.org/drawingml/2006/main" noGrp="1"/>
          </p:cNvSpPr>
          <p:nvPr/>
        </p:nvSpPr>
        <p:spPr>
          <a:xfrm xmlns:a="http://schemas.openxmlformats.org/drawingml/2006/main">
            <a:off x="685800" y="4667250"/>
            <a:ext cx="10820400" cy="971550"/>
          </a:xfrm>
          <a:prstGeom xmlns:a="http://schemas.openxmlformats.org/drawingml/2006/main" prst="roundRect">
            <a:avLst>
              <a:gd name="adj" fmla="val 19608"/>
            </a:avLst>
          </a:prstGeom>
          <a:solidFill xmlns:a="http://schemas.openxmlformats.org/drawingml/2006/main">
            <a:srgbClr val="121A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B52311F-F27E-4207-8772-F9B5D9D12E15}"/>
              </a:ext>
            </a:extLst>
          </p:cNvPr>
          <p:cNvSpPr>
            <a:spLocks xmlns:a="http://schemas.openxmlformats.org/drawingml/2006/main" noGrp="1"/>
          </p:cNvSpPr>
          <p:nvPr/>
        </p:nvSpPr>
        <p:spPr>
          <a:xfrm xmlns:a="http://schemas.openxmlformats.org/drawingml/2006/main">
            <a:off x="685800" y="4667250"/>
            <a:ext cx="95250" cy="971550"/>
          </a:xfrm>
          <a:prstGeom xmlns:a="http://schemas.openxmlformats.org/drawingml/2006/main" prst="roundRect">
            <a:avLst>
              <a:gd name="adj" fmla="val 50000"/>
            </a:avLst>
          </a:prstGeom>
          <a:solidFill xmlns:a="http://schemas.openxmlformats.org/drawingml/2006/main">
            <a:srgbClr val="D6B77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04820D3-E921-4307-AC1F-590BA76712F9}"/>
              </a:ext>
            </a:extLst>
          </p:cNvPr>
          <p:cNvSpPr>
            <a:spLocks xmlns:a="http://schemas.openxmlformats.org/drawingml/2006/main" noGrp="1"/>
          </p:cNvSpPr>
          <p:nvPr/>
        </p:nvSpPr>
        <p:spPr>
          <a:xfrm xmlns:a="http://schemas.openxmlformats.org/drawingml/2006/main">
            <a:off x="1028700" y="4838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D6B77A"/>
                </a:solidFill>
                <a:latin typeface="Aptos Display"/>
                <a:ea typeface="Aptos Display"/>
                <a:cs typeface="Aptos Display"/>
              </a:defRPr>
            </a:pPr>
            <a:r>
              <a:rPr sz="900" b="1" i="0">
                <a:solidFill>
                  <a:srgbClr val="D6B77A"/>
                </a:solidFill>
                <a:latin typeface="Aptos Display"/>
                <a:ea typeface="Aptos Display"/>
                <a:cs typeface="Aptos Display"/>
              </a:rPr>
              <a:t>INVESTORS</a:t>
            </a:r>
          </a:p>
        </p:txBody>
      </p:sp>
      <p:sp>
        <p:nvSpPr>
          <p:cNvPr id="18" name="">
            <a:extLst xmlns:a="http://schemas.openxmlformats.org/drawingml/2006/main">
              <a:ext uri="{FF2B5EF4-FFF2-40B4-BE49-F238E27FC236}">
                <a16:creationId xmlns:a16="http://schemas.microsoft.com/office/drawing/2014/main" id="{57B4CCF9-AE05-4BF9-B138-DD3EB78AAB00}"/>
              </a:ext>
            </a:extLst>
          </p:cNvPr>
          <p:cNvSpPr>
            <a:spLocks xmlns:a="http://schemas.openxmlformats.org/drawingml/2006/main" noGrp="1"/>
          </p:cNvSpPr>
          <p:nvPr/>
        </p:nvSpPr>
        <p:spPr>
          <a:xfrm xmlns:a="http://schemas.openxmlformats.org/drawingml/2006/main">
            <a:off x="1028700" y="51149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i="0">
                <a:solidFill>
                  <a:srgbClr val="FFFFFF"/>
                </a:solidFill>
                <a:latin typeface="Aptos Display"/>
                <a:ea typeface="Aptos Display"/>
                <a:cs typeface="Aptos Display"/>
              </a:defRPr>
            </a:pPr>
            <a:r>
              <a:rPr sz="1800" b="1" i="0">
                <a:solidFill>
                  <a:srgbClr val="FFFFFF"/>
                </a:solidFill>
                <a:latin typeface="Aptos Display"/>
                <a:ea typeface="Aptos Display"/>
                <a:cs typeface="Aptos Display"/>
              </a:rPr>
              <a:t>Fund the repeatable unit</a:t>
            </a:r>
          </a:p>
        </p:txBody>
      </p:sp>
      <p:sp>
        <p:nvSpPr>
          <p:cNvPr id="19" name="">
            <a:extLst xmlns:a="http://schemas.openxmlformats.org/drawingml/2006/main">
              <a:ext uri="{FF2B5EF4-FFF2-40B4-BE49-F238E27FC236}">
                <a16:creationId xmlns:a16="http://schemas.microsoft.com/office/drawing/2014/main" id="{93F87969-13BF-417B-A374-EEC717ECC0CD}"/>
              </a:ext>
            </a:extLst>
          </p:cNvPr>
          <p:cNvSpPr>
            <a:spLocks xmlns:a="http://schemas.openxmlformats.org/drawingml/2006/main" noGrp="1"/>
          </p:cNvSpPr>
          <p:nvPr/>
        </p:nvSpPr>
        <p:spPr>
          <a:xfrm xmlns:a="http://schemas.openxmlformats.org/drawingml/2006/main">
            <a:off x="4400550" y="4953000"/>
            <a:ext cx="657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C7D0E1"/>
                </a:solidFill>
                <a:latin typeface="Aptos"/>
                <a:ea typeface="Aptos"/>
                <a:cs typeface="Aptos"/>
              </a:defRPr>
            </a:pPr>
            <a:r>
              <a:rPr sz="1425" b="0" i="0">
                <a:solidFill>
                  <a:srgbClr val="C7D0E1"/>
                </a:solidFill>
                <a:latin typeface="Aptos"/>
                <a:ea typeface="Aptos"/>
                <a:cs typeface="Aptos"/>
              </a:rPr>
              <a:t>Product hardening, trust &amp; safety, city-cluster expansion and monetization experiments.</a:t>
            </a:r>
          </a:p>
        </p:txBody>
      </p:sp>
      <p:sp>
        <p:nvSpPr>
          <p:cNvPr id="20" name="">
            <a:extLst xmlns:a="http://schemas.openxmlformats.org/drawingml/2006/main">
              <a:ext uri="{FF2B5EF4-FFF2-40B4-BE49-F238E27FC236}">
                <a16:creationId xmlns:a16="http://schemas.microsoft.com/office/drawing/2014/main" id="{33108D1C-1BF0-45DC-9AB6-C57D8F58292E}"/>
              </a:ext>
            </a:extLst>
          </p:cNvPr>
          <p:cNvSpPr>
            <a:spLocks xmlns:a="http://schemas.openxmlformats.org/drawingml/2006/main" noGrp="1"/>
          </p:cNvSpPr>
          <p:nvPr/>
        </p:nvSpPr>
        <p:spPr>
          <a:xfrm xmlns:a="http://schemas.openxmlformats.org/drawingml/2006/main">
            <a:off x="3829050" y="5962650"/>
            <a:ext cx="4533900" cy="323850"/>
          </a:xfrm>
          <a:prstGeom xmlns:a="http://schemas.openxmlformats.org/drawingml/2006/main" prst="roundRect">
            <a:avLst>
              <a:gd name="adj" fmla="val 50000"/>
            </a:avLst>
          </a:prstGeom>
          <a:solidFill xmlns:a="http://schemas.openxmlformats.org/drawingml/2006/main">
            <a:srgbClr val="FF6B5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51F4572-2B8C-4864-B672-211B7588BBB1}"/>
              </a:ext>
            </a:extLst>
          </p:cNvPr>
          <p:cNvSpPr>
            <a:spLocks xmlns:a="http://schemas.openxmlformats.org/drawingml/2006/main" noGrp="1"/>
          </p:cNvSpPr>
          <p:nvPr/>
        </p:nvSpPr>
        <p:spPr>
          <a:xfrm xmlns:a="http://schemas.openxmlformats.org/drawingml/2006/main">
            <a:off x="3943350" y="6000750"/>
            <a:ext cx="4305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121A2C"/>
                </a:solidFill>
                <a:latin typeface="Aptos Display"/>
                <a:ea typeface="Aptos Display"/>
                <a:cs typeface="Aptos Display"/>
              </a:defRPr>
            </a:pPr>
            <a:r>
              <a:rPr sz="900" b="1" i="0">
                <a:solidFill>
                  <a:srgbClr val="121A2C"/>
                </a:solidFill>
                <a:latin typeface="Aptos Display"/>
                <a:ea typeface="Aptos Display"/>
                <a:cs typeface="Aptos Display"/>
              </a:rPr>
              <a:t>PRIVATE RESIDENT TRUST REMAINS NON-NEGOTIABLE</a:t>
            </a:r>
          </a:p>
        </p:txBody>
      </p:sp>
      <p:sp>
        <p:nvSpPr>
          <p:cNvPr id="22" name="">
            <a:extLst xmlns:a="http://schemas.openxmlformats.org/drawingml/2006/main">
              <a:ext uri="{FF2B5EF4-FFF2-40B4-BE49-F238E27FC236}">
                <a16:creationId xmlns:a16="http://schemas.microsoft.com/office/drawing/2014/main" id="{6233E463-1C91-4036-ACD4-F6E3831BA91A}"/>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Specific funding round, team and traction details are intentionally not invented.</a:t>
            </a:r>
          </a:p>
        </p:txBody>
      </p:sp>
      <p:sp>
        <p:nvSpPr>
          <p:cNvPr id="23" name="">
            <a:extLst xmlns:a="http://schemas.openxmlformats.org/drawingml/2006/main">
              <a:ext uri="{FF2B5EF4-FFF2-40B4-BE49-F238E27FC236}">
                <a16:creationId xmlns:a16="http://schemas.microsoft.com/office/drawing/2014/main" id="{C542D695-A071-47D0-BA06-65D0955F3EC8}"/>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20</a:t>
            </a:r>
          </a:p>
        </p:txBody>
      </p:sp>
    </p:spTree>
    <p:extLst>
      <p:ext uri="{BB962C8B-B14F-4D97-AF65-F5344CB8AC3E}">
        <p14:creationId xmlns:p14="http://schemas.microsoft.com/office/powerpoint/2010/main" val="671701628"/>
      </p:ext>
    </p:extLst>
  </p:cSld>
  <p:transition spd="fast" advClick="1">
    <p:fade/>
  </p:transition>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9cee6abc6b140b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B70E88-3543-4EEA-9EC8-DBF72F4D75B2}"/>
              </a:ext>
            </a:extLst>
          </p:cNvPr>
          <p:cNvSpPr>
            <a:spLocks xmlns:a="http://schemas.openxmlformats.org/drawingml/2006/main" noGrp="1"/>
          </p:cNvSpPr>
          <p:nvPr/>
        </p:nvSpPr>
        <p:spPr>
          <a:xfrm xmlns:a="http://schemas.openxmlformats.org/drawingml/2006/main">
            <a:off x="7258050" y="0"/>
            <a:ext cx="4933950" cy="6858000"/>
          </a:xfrm>
          <a:prstGeom xmlns:a="http://schemas.openxmlformats.org/drawingml/2006/main" prst="rect">
            <a:avLst/>
          </a:prstGeom>
          <a:solidFill xmlns:a="http://schemas.openxmlformats.org/drawingml/2006/main">
            <a:srgbClr val="121A2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BE508A7-20EB-42F8-8126-19AC652FCCBE}"/>
              </a:ext>
            </a:extLst>
          </p:cNvPr>
          <p:cNvSpPr>
            <a:spLocks xmlns:a="http://schemas.openxmlformats.org/drawingml/2006/main" noGrp="1"/>
          </p:cNvSpPr>
          <p:nvPr/>
        </p:nvSpPr>
        <p:spPr>
          <a:xfrm xmlns:a="http://schemas.openxmlformats.org/drawingml/2006/main">
            <a:off x="8009573" y="817245"/>
            <a:ext cx="164306" cy="164306"/>
          </a:xfrm>
          <a:prstGeom xmlns:a="http://schemas.openxmlformats.org/drawingml/2006/main" prst="line">
            <a:avLst/>
          </a:prstGeom>
          <a:noFill xmlns:a="http://schemas.openxmlformats.org/drawingml/2006/main"/>
          <a:ln xmlns:a="http://schemas.openxmlformats.org/drawingml/2006/main" w="21908">
            <a:solidFill>
              <a:srgbClr val="FFFFFF"/>
            </a:solidFill>
            <a:prstDash val="solid"/>
          </a:ln>
        </p:spPr>
      </p:sp>
      <p:sp>
        <p:nvSpPr>
          <p:cNvPr id="4" name="">
            <a:extLst xmlns:a="http://schemas.openxmlformats.org/drawingml/2006/main">
              <a:ext uri="{FF2B5EF4-FFF2-40B4-BE49-F238E27FC236}">
                <a16:creationId xmlns:a16="http://schemas.microsoft.com/office/drawing/2014/main" id="{0E18382C-ED57-413D-A890-59D9A544996E}"/>
              </a:ext>
            </a:extLst>
          </p:cNvPr>
          <p:cNvSpPr>
            <a:spLocks xmlns:a="http://schemas.openxmlformats.org/drawingml/2006/main" noGrp="1"/>
          </p:cNvSpPr>
          <p:nvPr/>
        </p:nvSpPr>
        <p:spPr>
          <a:xfrm xmlns:a="http://schemas.openxmlformats.org/drawingml/2006/main">
            <a:off x="8173879" y="817245"/>
            <a:ext cx="164306" cy="164306"/>
          </a:xfrm>
          <a:prstGeom xmlns:a="http://schemas.openxmlformats.org/drawingml/2006/main" prst="line">
            <a:avLst/>
          </a:prstGeom>
          <a:noFill xmlns:a="http://schemas.openxmlformats.org/drawingml/2006/main"/>
          <a:ln xmlns:a="http://schemas.openxmlformats.org/drawingml/2006/main" w="21908">
            <a:solidFill>
              <a:srgbClr val="FFFFFF"/>
            </a:solidFill>
            <a:prstDash val="solid"/>
          </a:ln>
        </p:spPr>
      </p:sp>
      <p:sp>
        <p:nvSpPr>
          <p:cNvPr id="5" name="">
            <a:extLst xmlns:a="http://schemas.openxmlformats.org/drawingml/2006/main">
              <a:ext uri="{FF2B5EF4-FFF2-40B4-BE49-F238E27FC236}">
                <a16:creationId xmlns:a16="http://schemas.microsoft.com/office/drawing/2014/main" id="{565E8B36-8B41-4E57-969D-9D43CD8C8610}"/>
              </a:ext>
            </a:extLst>
          </p:cNvPr>
          <p:cNvSpPr>
            <a:spLocks xmlns:a="http://schemas.openxmlformats.org/drawingml/2006/main" noGrp="1"/>
          </p:cNvSpPr>
          <p:nvPr/>
        </p:nvSpPr>
        <p:spPr>
          <a:xfrm xmlns:a="http://schemas.openxmlformats.org/drawingml/2006/main">
            <a:off x="8009573" y="817245"/>
            <a:ext cx="328613" cy="0"/>
          </a:xfrm>
          <a:prstGeom xmlns:a="http://schemas.openxmlformats.org/drawingml/2006/main" prst="line">
            <a:avLst/>
          </a:prstGeom>
          <a:noFill xmlns:a="http://schemas.openxmlformats.org/drawingml/2006/main"/>
          <a:ln xmlns:a="http://schemas.openxmlformats.org/drawingml/2006/main" w="21908">
            <a:solidFill>
              <a:srgbClr val="FFFFFF"/>
            </a:solidFill>
            <a:prstDash val="solid"/>
          </a:ln>
        </p:spPr>
      </p:sp>
      <p:sp>
        <p:nvSpPr>
          <p:cNvPr id="6" name="">
            <a:extLst xmlns:a="http://schemas.openxmlformats.org/drawingml/2006/main">
              <a:ext uri="{FF2B5EF4-FFF2-40B4-BE49-F238E27FC236}">
                <a16:creationId xmlns:a16="http://schemas.microsoft.com/office/drawing/2014/main" id="{ED677008-28A3-459A-A6EA-EA66E8B7C1E3}"/>
              </a:ext>
            </a:extLst>
          </p:cNvPr>
          <p:cNvSpPr>
            <a:spLocks xmlns:a="http://schemas.openxmlformats.org/drawingml/2006/main" noGrp="1"/>
          </p:cNvSpPr>
          <p:nvPr/>
        </p:nvSpPr>
        <p:spPr>
          <a:xfrm xmlns:a="http://schemas.openxmlformats.org/drawingml/2006/main">
            <a:off x="7943850" y="685800"/>
            <a:ext cx="131445" cy="13144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3486A3-D60C-4AA6-8783-42B05ABEC750}"/>
              </a:ext>
            </a:extLst>
          </p:cNvPr>
          <p:cNvSpPr>
            <a:spLocks xmlns:a="http://schemas.openxmlformats.org/drawingml/2006/main" noGrp="1"/>
          </p:cNvSpPr>
          <p:nvPr/>
        </p:nvSpPr>
        <p:spPr>
          <a:xfrm xmlns:a="http://schemas.openxmlformats.org/drawingml/2006/main">
            <a:off x="8108156" y="850106"/>
            <a:ext cx="131445" cy="13144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9FE97C5-9A29-43E3-9FC3-29F3C7C41A7E}"/>
              </a:ext>
            </a:extLst>
          </p:cNvPr>
          <p:cNvSpPr>
            <a:spLocks xmlns:a="http://schemas.openxmlformats.org/drawingml/2006/main" noGrp="1"/>
          </p:cNvSpPr>
          <p:nvPr/>
        </p:nvSpPr>
        <p:spPr>
          <a:xfrm xmlns:a="http://schemas.openxmlformats.org/drawingml/2006/main">
            <a:off x="8272463" y="685800"/>
            <a:ext cx="131445" cy="13144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C4AE696-24AE-4B30-8B56-CE7F83B32107}"/>
              </a:ext>
            </a:extLst>
          </p:cNvPr>
          <p:cNvSpPr>
            <a:spLocks xmlns:a="http://schemas.openxmlformats.org/drawingml/2006/main" noGrp="1"/>
          </p:cNvSpPr>
          <p:nvPr/>
        </p:nvSpPr>
        <p:spPr>
          <a:xfrm xmlns:a="http://schemas.openxmlformats.org/drawingml/2006/main">
            <a:off x="8515350" y="6286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FFFFFF"/>
                </a:solidFill>
                <a:latin typeface="Aptos Display"/>
                <a:ea typeface="Aptos Display"/>
                <a:cs typeface="Aptos Display"/>
              </a:defRPr>
            </a:pPr>
            <a:r>
              <a:rPr sz="2550" b="1" i="0">
                <a:solidFill>
                  <a:srgbClr val="FFFFFF"/>
                </a:solidFill>
                <a:latin typeface="Aptos Display"/>
                <a:ea typeface="Aptos Display"/>
                <a:cs typeface="Aptos Display"/>
              </a:rPr>
              <a:t>mohalla</a:t>
            </a:r>
          </a:p>
        </p:txBody>
      </p:sp>
      <p:sp>
        <p:nvSpPr>
          <p:cNvPr id="10" name="">
            <a:extLst xmlns:a="http://schemas.openxmlformats.org/drawingml/2006/main">
              <a:ext uri="{FF2B5EF4-FFF2-40B4-BE49-F238E27FC236}">
                <a16:creationId xmlns:a16="http://schemas.microsoft.com/office/drawing/2014/main" id="{889E1364-B20D-4625-A30B-3DBFC234F4CC}"/>
              </a:ext>
            </a:extLst>
          </p:cNvPr>
          <p:cNvSpPr>
            <a:spLocks xmlns:a="http://schemas.openxmlformats.org/drawingml/2006/main" noGrp="1"/>
          </p:cNvSpPr>
          <p:nvPr/>
        </p:nvSpPr>
        <p:spPr>
          <a:xfrm xmlns:a="http://schemas.openxmlformats.org/drawingml/2006/main">
            <a:off x="7943850" y="1657350"/>
            <a:ext cx="35242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477"/>
          </a:bodyPr>
          <a:lstStyle xmlns:a="http://schemas.openxmlformats.org/drawingml/2006/main"/>
          <a:p xmlns:a="http://schemas.openxmlformats.org/drawingml/2006/main">
            <a:pPr algn="l">
              <a:defRPr sz="3675" b="1" i="0">
                <a:solidFill>
                  <a:srgbClr val="FFFFFF"/>
                </a:solidFill>
                <a:latin typeface="Aptos Display"/>
                <a:ea typeface="Aptos Display"/>
                <a:cs typeface="Aptos Display"/>
              </a:defRPr>
            </a:pPr>
            <a:r>
              <a:rPr sz="3675" b="1" i="0">
                <a:solidFill>
                  <a:srgbClr val="FFFFFF"/>
                </a:solidFill>
                <a:latin typeface="Aptos Display"/>
                <a:ea typeface="Aptos Display"/>
                <a:cs typeface="Aptos Display"/>
              </a:rPr>
              <a:t>The digital front door</a:t>
            </a:r>
          </a:p>
          <a:p xmlns:a="http://schemas.openxmlformats.org/drawingml/2006/main">
            <a:pPr algn="l">
              <a:defRPr sz="3675" b="1" i="0">
                <a:solidFill>
                  <a:srgbClr val="FFFFFF"/>
                </a:solidFill>
                <a:latin typeface="Aptos Display"/>
                <a:ea typeface="Aptos Display"/>
                <a:cs typeface="Aptos Display"/>
              </a:defRPr>
            </a:pPr>
            <a:r>
              <a:rPr sz="3675" b="1" i="0">
                <a:solidFill>
                  <a:srgbClr val="FFFFFF"/>
                </a:solidFill>
                <a:latin typeface="Aptos Display"/>
                <a:ea typeface="Aptos Display"/>
                <a:cs typeface="Aptos Display"/>
              </a:rPr>
              <a:t>to every neighborhood</a:t>
            </a:r>
          </a:p>
          <a:p xmlns:a="http://schemas.openxmlformats.org/drawingml/2006/main">
            <a:pPr algn="l">
              <a:defRPr sz="3675" b="1" i="0">
                <a:solidFill>
                  <a:srgbClr val="FFFFFF"/>
                </a:solidFill>
                <a:latin typeface="Aptos Display"/>
                <a:ea typeface="Aptos Display"/>
                <a:cs typeface="Aptos Display"/>
              </a:defRPr>
            </a:pPr>
            <a:r>
              <a:rPr sz="3675" b="1" i="0">
                <a:solidFill>
                  <a:srgbClr val="FFFFFF"/>
                </a:solidFill>
                <a:latin typeface="Aptos Display"/>
                <a:ea typeface="Aptos Display"/>
                <a:cs typeface="Aptos Display"/>
              </a:rPr>
              <a:t>in Pakistan.</a:t>
            </a:r>
          </a:p>
        </p:txBody>
      </p:sp>
      <p:sp>
        <p:nvSpPr>
          <p:cNvPr id="11" name="">
            <a:extLst xmlns:a="http://schemas.openxmlformats.org/drawingml/2006/main">
              <a:ext uri="{FF2B5EF4-FFF2-40B4-BE49-F238E27FC236}">
                <a16:creationId xmlns:a16="http://schemas.microsoft.com/office/drawing/2014/main" id="{72787610-A815-466B-BC3A-699830075706}"/>
              </a:ext>
            </a:extLst>
          </p:cNvPr>
          <p:cNvSpPr>
            <a:spLocks xmlns:a="http://schemas.openxmlformats.org/drawingml/2006/main" noGrp="1"/>
          </p:cNvSpPr>
          <p:nvPr/>
        </p:nvSpPr>
        <p:spPr>
          <a:xfrm xmlns:a="http://schemas.openxmlformats.org/drawingml/2006/main">
            <a:off x="7943850" y="3943350"/>
            <a:ext cx="933450" cy="66675"/>
          </a:xfrm>
          <a:prstGeom xmlns:a="http://schemas.openxmlformats.org/drawingml/2006/main" prst="roundRect">
            <a:avLst>
              <a:gd name="adj" fmla="val 42857"/>
            </a:avLst>
          </a:prstGeom>
          <a:solidFill xmlns:a="http://schemas.openxmlformats.org/drawingml/2006/main">
            <a:srgbClr val="FF6B5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8639354-9290-41F6-91CD-59370D9621FD}"/>
              </a:ext>
            </a:extLst>
          </p:cNvPr>
          <p:cNvSpPr>
            <a:spLocks xmlns:a="http://schemas.openxmlformats.org/drawingml/2006/main" noGrp="1"/>
          </p:cNvSpPr>
          <p:nvPr/>
        </p:nvSpPr>
        <p:spPr>
          <a:xfrm xmlns:a="http://schemas.openxmlformats.org/drawingml/2006/main">
            <a:off x="7943850" y="43053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i="0">
                <a:solidFill>
                  <a:srgbClr val="D6B77A"/>
                </a:solidFill>
                <a:latin typeface="Aptos Display"/>
                <a:ea typeface="Aptos Display"/>
                <a:cs typeface="Aptos Display"/>
              </a:defRPr>
            </a:pPr>
            <a:r>
              <a:rPr sz="1875" b="1" i="0">
                <a:solidFill>
                  <a:srgbClr val="D6B77A"/>
                </a:solidFill>
                <a:latin typeface="Aptos Display"/>
                <a:ea typeface="Aptos Display"/>
                <a:cs typeface="Aptos Display"/>
              </a:rPr>
              <a:t>Pilot  •  Partner  •  Invest</a:t>
            </a:r>
          </a:p>
        </p:txBody>
      </p:sp>
      <p:sp>
        <p:nvSpPr>
          <p:cNvPr id="13" name="">
            <a:extLst xmlns:a="http://schemas.openxmlformats.org/drawingml/2006/main">
              <a:ext uri="{FF2B5EF4-FFF2-40B4-BE49-F238E27FC236}">
                <a16:creationId xmlns:a16="http://schemas.microsoft.com/office/drawing/2014/main" id="{99B83D12-F96F-446B-B1B6-6FC3377A01C7}"/>
              </a:ext>
            </a:extLst>
          </p:cNvPr>
          <p:cNvSpPr>
            <a:spLocks xmlns:a="http://schemas.openxmlformats.org/drawingml/2006/main" noGrp="1"/>
          </p:cNvSpPr>
          <p:nvPr/>
        </p:nvSpPr>
        <p:spPr>
          <a:xfrm xmlns:a="http://schemas.openxmlformats.org/drawingml/2006/main">
            <a:off x="7943850" y="5057775"/>
            <a:ext cx="2705100" cy="400050"/>
          </a:xfrm>
          <a:prstGeom xmlns:a="http://schemas.openxmlformats.org/drawingml/2006/main" prst="roundRect">
            <a:avLst>
              <a:gd name="adj" fmla="val 40476"/>
            </a:avLst>
          </a:prstGeom>
          <a:solidFill xmlns:a="http://schemas.openxmlformats.org/drawingml/2006/main">
            <a:srgbClr val="FF6B5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0E7D84-C745-4B19-8EC4-90AB2FD02716}"/>
              </a:ext>
            </a:extLst>
          </p:cNvPr>
          <p:cNvSpPr>
            <a:spLocks xmlns:a="http://schemas.openxmlformats.org/drawingml/2006/main" noGrp="1"/>
          </p:cNvSpPr>
          <p:nvPr/>
        </p:nvSpPr>
        <p:spPr>
          <a:xfrm xmlns:a="http://schemas.openxmlformats.org/drawingml/2006/main">
            <a:off x="8058150" y="5095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121A2C"/>
                </a:solidFill>
                <a:latin typeface="Aptos Display"/>
                <a:ea typeface="Aptos Display"/>
                <a:cs typeface="Aptos Display"/>
              </a:defRPr>
            </a:pPr>
            <a:r>
              <a:rPr sz="1125" b="1" i="0">
                <a:solidFill>
                  <a:srgbClr val="121A2C"/>
                </a:solidFill>
                <a:latin typeface="Aptos Display"/>
                <a:ea typeface="Aptos Display"/>
                <a:cs typeface="Aptos Display"/>
              </a:rPr>
              <a:t>mohallapk.vercel.app</a:t>
            </a:r>
          </a:p>
        </p:txBody>
      </p:sp>
      <p:sp>
        <p:nvSpPr>
          <p:cNvPr id="15" name="">
            <a:extLst xmlns:a="http://schemas.openxmlformats.org/drawingml/2006/main">
              <a:ext uri="{FF2B5EF4-FFF2-40B4-BE49-F238E27FC236}">
                <a16:creationId xmlns:a16="http://schemas.microsoft.com/office/drawing/2014/main" id="{A880BECD-1DE0-47EA-9CD6-4572E440D720}"/>
              </a:ext>
            </a:extLst>
          </p:cNvPr>
          <p:cNvSpPr>
            <a:spLocks xmlns:a="http://schemas.openxmlformats.org/drawingml/2006/main" noGrp="1"/>
          </p:cNvSpPr>
          <p:nvPr/>
        </p:nvSpPr>
        <p:spPr>
          <a:xfrm xmlns:a="http://schemas.openxmlformats.org/drawingml/2006/main">
            <a:off x="7943850" y="58674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C7D0E1"/>
                </a:solidFill>
                <a:latin typeface="Aptos"/>
                <a:ea typeface="Aptos"/>
                <a:cs typeface="Aptos"/>
              </a:defRPr>
            </a:pPr>
            <a:r>
              <a:rPr sz="1425" b="0" i="0">
                <a:solidFill>
                  <a:srgbClr val="C7D0E1"/>
                </a:solidFill>
                <a:latin typeface="Aptos"/>
                <a:ea typeface="Aptos"/>
                <a:cs typeface="Aptos"/>
              </a:rPr>
              <a:t>Your neighborhood, connected.</a:t>
            </a:r>
          </a:p>
        </p:txBody>
      </p:sp>
    </p:spTree>
    <p:extLst>
      <p:ext uri="{BB962C8B-B14F-4D97-AF65-F5344CB8AC3E}">
        <p14:creationId xmlns:p14="http://schemas.microsoft.com/office/powerpoint/2010/main" val="442935055"/>
      </p:ext>
    </p:extLst>
  </p:cSld>
  <p:transition spd="fast" advClick="1">
    <p:push dir="l"/>
  </p:transition>
</p:sld>
</file>

<file path=ppt/slides/slide22.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AE33E0B-A734-4AAC-BC07-9EBB4EE57D26}"/>
              </a:ext>
            </a:extLst>
          </p:cNvPr>
          <p:cNvSpPr>
            <a:spLocks xmlns:a="http://schemas.openxmlformats.org/drawingml/2006/main" noGrp="1"/>
          </p:cNvSpPr>
          <p:nvPr/>
        </p:nvSpPr>
        <p:spPr>
          <a:xfrm xmlns:a="http://schemas.openxmlformats.org/drawingml/2006/main">
            <a:off x="685800" y="400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F6B5E"/>
                </a:solidFill>
                <a:latin typeface="Aptos Display"/>
                <a:ea typeface="Aptos Display"/>
                <a:cs typeface="Aptos Display"/>
              </a:defRPr>
            </a:pPr>
            <a:r>
              <a:rPr sz="1050" b="1" i="0">
                <a:solidFill>
                  <a:srgbClr val="FF6B5E"/>
                </a:solidFill>
                <a:latin typeface="Aptos Display"/>
                <a:ea typeface="Aptos Display"/>
                <a:cs typeface="Aptos Display"/>
              </a:rPr>
              <a:t>APPENDIX</a:t>
            </a:r>
          </a:p>
        </p:txBody>
      </p:sp>
      <p:sp>
        <p:nvSpPr>
          <p:cNvPr id="2" name="">
            <a:extLst xmlns:a="http://schemas.openxmlformats.org/drawingml/2006/main">
              <a:ext uri="{FF2B5EF4-FFF2-40B4-BE49-F238E27FC236}">
                <a16:creationId xmlns:a16="http://schemas.microsoft.com/office/drawing/2014/main" id="{87AFB41C-C885-4AA4-A61D-C6A11AA0082A}"/>
              </a:ext>
            </a:extLst>
          </p:cNvPr>
          <p:cNvSpPr>
            <a:spLocks xmlns:a="http://schemas.openxmlformats.org/drawingml/2006/main" noGrp="1"/>
          </p:cNvSpPr>
          <p:nvPr/>
        </p:nvSpPr>
        <p:spPr>
          <a:xfrm xmlns:a="http://schemas.openxmlformats.org/drawingml/2006/main">
            <a:off x="685800" y="742950"/>
            <a:ext cx="108204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182033"/>
                </a:solidFill>
                <a:latin typeface="Aptos Display"/>
                <a:ea typeface="Aptos Display"/>
                <a:cs typeface="Aptos Display"/>
              </a:defRPr>
            </a:pPr>
            <a:r>
              <a:rPr sz="3600" b="1" i="0">
                <a:solidFill>
                  <a:srgbClr val="182033"/>
                </a:solidFill>
                <a:latin typeface="Aptos Display"/>
                <a:ea typeface="Aptos Display"/>
                <a:cs typeface="Aptos Display"/>
              </a:rPr>
              <a:t>Sources, methodology and claim boundary.</a:t>
            </a:r>
          </a:p>
        </p:txBody>
      </p:sp>
      <p:sp>
        <p:nvSpPr>
          <p:cNvPr id="3" name="">
            <a:extLst xmlns:a="http://schemas.openxmlformats.org/drawingml/2006/main">
              <a:ext uri="{FF2B5EF4-FFF2-40B4-BE49-F238E27FC236}">
                <a16:creationId xmlns:a16="http://schemas.microsoft.com/office/drawing/2014/main" id="{C2B702E2-2131-473B-9226-2F7564F9085C}"/>
              </a:ext>
            </a:extLst>
          </p:cNvPr>
          <p:cNvSpPr>
            <a:spLocks xmlns:a="http://schemas.openxmlformats.org/drawingml/2006/main" noGrp="1"/>
          </p:cNvSpPr>
          <p:nvPr/>
        </p:nvSpPr>
        <p:spPr>
          <a:xfrm xmlns:a="http://schemas.openxmlformats.org/drawingml/2006/main">
            <a:off x="685800" y="1714500"/>
            <a:ext cx="5143500" cy="4105275"/>
          </a:xfrm>
          <a:prstGeom xmlns:a="http://schemas.openxmlformats.org/drawingml/2006/main" prst="roundRect">
            <a:avLst>
              <a:gd name="adj" fmla="val 5104"/>
            </a:avLst>
          </a:prstGeom>
          <a:solidFill xmlns:a="http://schemas.openxmlformats.org/drawingml/2006/main">
            <a:srgbClr val="FFFFFF"/>
          </a:solidFill>
          <a:ln xmlns:a="http://schemas.openxmlformats.org/drawingml/2006/main" w="9525">
            <a:solidFill>
              <a:srgbClr val="D8D2C8"/>
            </a:solidFill>
            <a:prstDash val="solid"/>
          </a:ln>
        </p:spPr>
      </p:sp>
      <p:sp>
        <p:nvSpPr>
          <p:cNvPr id="4" name="">
            <a:extLst xmlns:a="http://schemas.openxmlformats.org/drawingml/2006/main">
              <a:ext uri="{FF2B5EF4-FFF2-40B4-BE49-F238E27FC236}">
                <a16:creationId xmlns:a16="http://schemas.microsoft.com/office/drawing/2014/main" id="{EC3FF2A5-0B75-4931-A966-4ADFB74A973F}"/>
              </a:ext>
            </a:extLst>
          </p:cNvPr>
          <p:cNvSpPr>
            <a:spLocks xmlns:a="http://schemas.openxmlformats.org/drawingml/2006/main" noGrp="1"/>
          </p:cNvSpPr>
          <p:nvPr/>
        </p:nvSpPr>
        <p:spPr>
          <a:xfrm xmlns:a="http://schemas.openxmlformats.org/drawingml/2006/main">
            <a:off x="6096000" y="1714500"/>
            <a:ext cx="5410200" cy="4105275"/>
          </a:xfrm>
          <a:prstGeom xmlns:a="http://schemas.openxmlformats.org/drawingml/2006/main" prst="roundRect">
            <a:avLst>
              <a:gd name="adj" fmla="val 5104"/>
            </a:avLst>
          </a:prstGeom>
          <a:solidFill xmlns:a="http://schemas.openxmlformats.org/drawingml/2006/main">
            <a:srgbClr val="121A2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836C22-9645-4668-9B8E-987ED99DA83A}"/>
              </a:ext>
            </a:extLst>
          </p:cNvPr>
          <p:cNvSpPr>
            <a:spLocks xmlns:a="http://schemas.openxmlformats.org/drawingml/2006/main" noGrp="1"/>
          </p:cNvSpPr>
          <p:nvPr/>
        </p:nvSpPr>
        <p:spPr>
          <a:xfrm xmlns:a="http://schemas.openxmlformats.org/drawingml/2006/main">
            <a:off x="990600" y="20097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FF6B5E"/>
                </a:solidFill>
                <a:latin typeface="Aptos Display"/>
                <a:ea typeface="Aptos Display"/>
                <a:cs typeface="Aptos Display"/>
              </a:defRPr>
            </a:pPr>
            <a:r>
              <a:rPr sz="975" b="1" i="0">
                <a:solidFill>
                  <a:srgbClr val="FF6B5E"/>
                </a:solidFill>
                <a:latin typeface="Aptos Display"/>
                <a:ea typeface="Aptos Display"/>
                <a:cs typeface="Aptos Display"/>
              </a:rPr>
              <a:t>PRIMARY DATA</a:t>
            </a:r>
          </a:p>
        </p:txBody>
      </p:sp>
      <p:sp>
        <p:nvSpPr>
          <p:cNvPr id="6" name="">
            <a:extLst xmlns:a="http://schemas.openxmlformats.org/drawingml/2006/main">
              <a:ext uri="{FF2B5EF4-FFF2-40B4-BE49-F238E27FC236}">
                <a16:creationId xmlns:a16="http://schemas.microsoft.com/office/drawing/2014/main" id="{6A25DD27-03B8-4B11-A3E5-0CDE582A235B}"/>
              </a:ext>
            </a:extLst>
          </p:cNvPr>
          <p:cNvSpPr>
            <a:spLocks xmlns:a="http://schemas.openxmlformats.org/drawingml/2006/main" noGrp="1"/>
          </p:cNvSpPr>
          <p:nvPr/>
        </p:nvSpPr>
        <p:spPr>
          <a:xfrm xmlns:a="http://schemas.openxmlformats.org/drawingml/2006/main">
            <a:off x="990600" y="2400300"/>
            <a:ext cx="44005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Pakistan Bureau of Statistics</a:t>
            </a:r>
          </a:p>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7th Population &amp; Housing Census 2023</a:t>
            </a:r>
          </a:p>
          <a:p xmlns:a="http://schemas.openxmlformats.org/drawingml/2006/main">
            <a:r>
              <a:t/>
            </a:r>
          </a:p>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Pakistan Economic Survey 2024–25</a:t>
            </a:r>
          </a:p>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Information Technology &amp; Telecommunication</a:t>
            </a:r>
          </a:p>
          <a:p xmlns:a="http://schemas.openxmlformats.org/drawingml/2006/main">
            <a:r>
              <a:t/>
            </a:r>
          </a:p>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State Bank of Pakistan</a:t>
            </a:r>
          </a:p>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Annual Payment Systems Review FY2024–25</a:t>
            </a:r>
          </a:p>
          <a:p xmlns:a="http://schemas.openxmlformats.org/drawingml/2006/main">
            <a:r>
              <a:t/>
            </a:r>
          </a:p>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UMT / Journal of Applied and Emerging Sciences</a:t>
            </a:r>
          </a:p>
          <a:p xmlns:a="http://schemas.openxmlformats.org/drawingml/2006/main">
            <a:pPr algn="l">
              <a:defRPr sz="1425" b="0" i="0">
                <a:solidFill>
                  <a:srgbClr val="182033"/>
                </a:solidFill>
                <a:latin typeface="Aptos"/>
                <a:ea typeface="Aptos"/>
                <a:cs typeface="Aptos"/>
              </a:defRPr>
            </a:pPr>
            <a:r>
              <a:rPr sz="1425" b="0" i="0">
                <a:solidFill>
                  <a:srgbClr val="182033"/>
                </a:solidFill>
                <a:latin typeface="Aptos"/>
                <a:ea typeface="Aptos"/>
                <a:cs typeface="Aptos"/>
              </a:rPr>
              <a:t>Community interaction research in Lahore</a:t>
            </a:r>
          </a:p>
        </p:txBody>
      </p:sp>
      <p:sp>
        <p:nvSpPr>
          <p:cNvPr id="7" name="">
            <a:extLst xmlns:a="http://schemas.openxmlformats.org/drawingml/2006/main">
              <a:ext uri="{FF2B5EF4-FFF2-40B4-BE49-F238E27FC236}">
                <a16:creationId xmlns:a16="http://schemas.microsoft.com/office/drawing/2014/main" id="{576DE497-C13C-4456-938D-ADB8FD9FB9E2}"/>
              </a:ext>
            </a:extLst>
          </p:cNvPr>
          <p:cNvSpPr>
            <a:spLocks xmlns:a="http://schemas.openxmlformats.org/drawingml/2006/main" noGrp="1"/>
          </p:cNvSpPr>
          <p:nvPr/>
        </p:nvSpPr>
        <p:spPr>
          <a:xfrm xmlns:a="http://schemas.openxmlformats.org/drawingml/2006/main">
            <a:off x="6400800" y="20097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5BBDE1"/>
                </a:solidFill>
                <a:latin typeface="Aptos Display"/>
                <a:ea typeface="Aptos Display"/>
                <a:cs typeface="Aptos Display"/>
              </a:defRPr>
            </a:pPr>
            <a:r>
              <a:rPr sz="975" b="1" i="0">
                <a:solidFill>
                  <a:srgbClr val="5BBDE1"/>
                </a:solidFill>
                <a:latin typeface="Aptos Display"/>
                <a:ea typeface="Aptos Display"/>
                <a:cs typeface="Aptos Display"/>
              </a:rPr>
              <a:t>FRAMEWORKS + CATEGORY</a:t>
            </a:r>
          </a:p>
        </p:txBody>
      </p:sp>
      <p:sp>
        <p:nvSpPr>
          <p:cNvPr id="8" name="">
            <a:extLst xmlns:a="http://schemas.openxmlformats.org/drawingml/2006/main">
              <a:ext uri="{FF2B5EF4-FFF2-40B4-BE49-F238E27FC236}">
                <a16:creationId xmlns:a16="http://schemas.microsoft.com/office/drawing/2014/main" id="{BE2719F6-FED0-44FD-BCA2-09F89A22340D}"/>
              </a:ext>
            </a:extLst>
          </p:cNvPr>
          <p:cNvSpPr>
            <a:spLocks xmlns:a="http://schemas.openxmlformats.org/drawingml/2006/main" noGrp="1"/>
          </p:cNvSpPr>
          <p:nvPr/>
        </p:nvSpPr>
        <p:spPr>
          <a:xfrm xmlns:a="http://schemas.openxmlformats.org/drawingml/2006/main">
            <a:off x="6400800" y="2400300"/>
            <a:ext cx="451485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FFFFFF"/>
                </a:solidFill>
                <a:latin typeface="Aptos"/>
                <a:ea typeface="Aptos"/>
                <a:cs typeface="Aptos"/>
              </a:defRPr>
            </a:pPr>
            <a:r>
              <a:rPr sz="1425" b="0" i="0">
                <a:solidFill>
                  <a:srgbClr val="FFFFFF"/>
                </a:solidFill>
                <a:latin typeface="Aptos"/>
                <a:ea typeface="Aptos"/>
                <a:cs typeface="Aptos"/>
              </a:rPr>
              <a:t>Sequoia: company-purpose and pitch narrative</a:t>
            </a:r>
          </a:p>
          <a:p xmlns:a="http://schemas.openxmlformats.org/drawingml/2006/main">
            <a:r>
              <a:t/>
            </a:r>
          </a:p>
          <a:p xmlns:a="http://schemas.openxmlformats.org/drawingml/2006/main">
            <a:pPr algn="l">
              <a:defRPr sz="1425" b="0" i="0">
                <a:solidFill>
                  <a:srgbClr val="FFFFFF"/>
                </a:solidFill>
                <a:latin typeface="Aptos"/>
                <a:ea typeface="Aptos"/>
                <a:cs typeface="Aptos"/>
              </a:defRPr>
            </a:pPr>
            <a:r>
              <a:rPr sz="1425" b="0" i="0">
                <a:solidFill>
                  <a:srgbClr val="FFFFFF"/>
                </a:solidFill>
                <a:latin typeface="Aptos"/>
                <a:ea typeface="Aptos"/>
                <a:cs typeface="Aptos"/>
              </a:rPr>
              <a:t>a16z: local-network and marketplace metrics</a:t>
            </a:r>
          </a:p>
          <a:p xmlns:a="http://schemas.openxmlformats.org/drawingml/2006/main">
            <a:r>
              <a:t/>
            </a:r>
          </a:p>
          <a:p xmlns:a="http://schemas.openxmlformats.org/drawingml/2006/main">
            <a:pPr algn="l">
              <a:defRPr sz="1425" b="0" i="0">
                <a:solidFill>
                  <a:srgbClr val="FFFFFF"/>
                </a:solidFill>
                <a:latin typeface="Aptos"/>
                <a:ea typeface="Aptos"/>
                <a:cs typeface="Aptos"/>
              </a:defRPr>
            </a:pPr>
            <a:r>
              <a:rPr sz="1425" b="0" i="0">
                <a:solidFill>
                  <a:srgbClr val="FFFFFF"/>
                </a:solidFill>
                <a:latin typeface="Aptos"/>
                <a:ea typeface="Aptos"/>
                <a:cs typeface="Aptos"/>
              </a:rPr>
              <a:t>NFX: city-cluster expansion logic</a:t>
            </a:r>
          </a:p>
          <a:p xmlns:a="http://schemas.openxmlformats.org/drawingml/2006/main">
            <a:r>
              <a:t/>
            </a:r>
          </a:p>
          <a:p xmlns:a="http://schemas.openxmlformats.org/drawingml/2006/main">
            <a:pPr algn="l">
              <a:defRPr sz="1425" b="0" i="0">
                <a:solidFill>
                  <a:srgbClr val="FFFFFF"/>
                </a:solidFill>
                <a:latin typeface="Aptos"/>
                <a:ea typeface="Aptos"/>
                <a:cs typeface="Aptos"/>
              </a:defRPr>
            </a:pPr>
            <a:r>
              <a:rPr sz="1425" b="0" i="0">
                <a:solidFill>
                  <a:srgbClr val="FFFFFF"/>
                </a:solidFill>
                <a:latin typeface="Aptos"/>
                <a:ea typeface="Aptos"/>
                <a:cs typeface="Aptos"/>
              </a:rPr>
              <a:t>Pakistan category references:</a:t>
            </a:r>
          </a:p>
          <a:p xmlns:a="http://schemas.openxmlformats.org/drawingml/2006/main">
            <a:pPr algn="l">
              <a:defRPr sz="1425" b="0" i="0">
                <a:solidFill>
                  <a:srgbClr val="FFFFFF"/>
                </a:solidFill>
                <a:latin typeface="Aptos"/>
                <a:ea typeface="Aptos"/>
                <a:cs typeface="Aptos"/>
              </a:defRPr>
            </a:pPr>
            <a:r>
              <a:rPr sz="1425" b="0" i="0">
                <a:solidFill>
                  <a:srgbClr val="FFFFFF"/>
                </a:solidFill>
                <a:latin typeface="Aptos"/>
                <a:ea typeface="Aptos"/>
                <a:cs typeface="Aptos"/>
              </a:rPr>
              <a:t>Manzhil • SmartGate • HSMP • Nizam • Kunji • Hamari Society • MySociety</a:t>
            </a:r>
          </a:p>
        </p:txBody>
      </p:sp>
      <p:sp>
        <p:nvSpPr>
          <p:cNvPr id="9" name="">
            <a:extLst xmlns:a="http://schemas.openxmlformats.org/drawingml/2006/main">
              <a:ext uri="{FF2B5EF4-FFF2-40B4-BE49-F238E27FC236}">
                <a16:creationId xmlns:a16="http://schemas.microsoft.com/office/drawing/2014/main" id="{1BC9081B-6220-4B5C-B785-56218625B3AF}"/>
              </a:ext>
            </a:extLst>
          </p:cNvPr>
          <p:cNvSpPr>
            <a:spLocks xmlns:a="http://schemas.openxmlformats.org/drawingml/2006/main" noGrp="1"/>
          </p:cNvSpPr>
          <p:nvPr/>
        </p:nvSpPr>
        <p:spPr>
          <a:xfrm xmlns:a="http://schemas.openxmlformats.org/drawingml/2006/main">
            <a:off x="6400800" y="4619625"/>
            <a:ext cx="4514850" cy="19050"/>
          </a:xfrm>
          <a:prstGeom xmlns:a="http://schemas.openxmlformats.org/drawingml/2006/main" prst="rect">
            <a:avLst/>
          </a:prstGeom>
          <a:solidFill xmlns:a="http://schemas.openxmlformats.org/drawingml/2006/main">
            <a:srgbClr val="26334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5CD0800-7A48-4F49-9F55-B678FBAD627D}"/>
              </a:ext>
            </a:extLst>
          </p:cNvPr>
          <p:cNvSpPr>
            <a:spLocks xmlns:a="http://schemas.openxmlformats.org/drawingml/2006/main" noGrp="1"/>
          </p:cNvSpPr>
          <p:nvPr/>
        </p:nvSpPr>
        <p:spPr>
          <a:xfrm xmlns:a="http://schemas.openxmlformats.org/drawingml/2006/main">
            <a:off x="6400800" y="48291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FF6B5E"/>
                </a:solidFill>
                <a:latin typeface="Aptos Display"/>
                <a:ea typeface="Aptos Display"/>
                <a:cs typeface="Aptos Display"/>
              </a:defRPr>
            </a:pPr>
            <a:r>
              <a:rPr sz="975" b="1" i="0">
                <a:solidFill>
                  <a:srgbClr val="FF6B5E"/>
                </a:solidFill>
                <a:latin typeface="Aptos Display"/>
                <a:ea typeface="Aptos Display"/>
                <a:cs typeface="Aptos Display"/>
              </a:rPr>
              <a:t>CLAIM BOUNDARY</a:t>
            </a:r>
          </a:p>
        </p:txBody>
      </p:sp>
      <p:sp>
        <p:nvSpPr>
          <p:cNvPr id="11" name="">
            <a:extLst xmlns:a="http://schemas.openxmlformats.org/drawingml/2006/main">
              <a:ext uri="{FF2B5EF4-FFF2-40B4-BE49-F238E27FC236}">
                <a16:creationId xmlns:a16="http://schemas.microsoft.com/office/drawing/2014/main" id="{D4D10EBA-E7D7-4E73-90AE-0F8FE33241A6}"/>
              </a:ext>
            </a:extLst>
          </p:cNvPr>
          <p:cNvSpPr>
            <a:spLocks xmlns:a="http://schemas.openxmlformats.org/drawingml/2006/main" noGrp="1"/>
          </p:cNvSpPr>
          <p:nvPr/>
        </p:nvSpPr>
        <p:spPr>
          <a:xfrm xmlns:a="http://schemas.openxmlformats.org/drawingml/2006/main">
            <a:off x="6400800" y="5124450"/>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71"/>
          </a:bodyPr>
          <a:lstStyle xmlns:a="http://schemas.openxmlformats.org/drawingml/2006/main"/>
          <a:p xmlns:a="http://schemas.openxmlformats.org/drawingml/2006/main">
            <a:pPr algn="l">
              <a:defRPr sz="1275" b="0" i="0">
                <a:solidFill>
                  <a:srgbClr val="C7D0E1"/>
                </a:solidFill>
                <a:latin typeface="Aptos"/>
                <a:ea typeface="Aptos"/>
                <a:cs typeface="Aptos"/>
              </a:defRPr>
            </a:pPr>
            <a:r>
              <a:rPr sz="1275" b="0" i="0">
                <a:solidFill>
                  <a:srgbClr val="C7D0E1"/>
                </a:solidFill>
                <a:latin typeface="Aptos"/>
                <a:ea typeface="Aptos"/>
                <a:cs typeface="Aptos"/>
              </a:rPr>
              <a:t>Market census facts are sourced. SAM, SOM, growth and pilot metrics are explicitly illustrative. No users, revenue, funding or team credentials are claimed.</a:t>
            </a:r>
          </a:p>
        </p:txBody>
      </p:sp>
      <p:sp>
        <p:nvSpPr>
          <p:cNvPr id="12" name="">
            <a:extLst xmlns:a="http://schemas.openxmlformats.org/drawingml/2006/main">
              <a:ext uri="{FF2B5EF4-FFF2-40B4-BE49-F238E27FC236}">
                <a16:creationId xmlns:a16="http://schemas.microsoft.com/office/drawing/2014/main" id="{34DB5073-5D49-4E66-884B-BE21DEB2858A}"/>
              </a:ext>
            </a:extLst>
          </p:cNvPr>
          <p:cNvSpPr>
            <a:spLocks xmlns:a="http://schemas.openxmlformats.org/drawingml/2006/main" noGrp="1"/>
          </p:cNvSpPr>
          <p:nvPr/>
        </p:nvSpPr>
        <p:spPr>
          <a:xfrm xmlns:a="http://schemas.openxmlformats.org/drawingml/2006/main">
            <a:off x="685800" y="6505575"/>
            <a:ext cx="981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5B6474"/>
                </a:solidFill>
                <a:latin typeface="Aptos"/>
                <a:ea typeface="Aptos"/>
                <a:cs typeface="Aptos"/>
              </a:defRPr>
            </a:pPr>
            <a:r>
              <a:rPr sz="825" b="0" i="0">
                <a:solidFill>
                  <a:srgbClr val="5B6474"/>
                </a:solidFill>
                <a:latin typeface="Aptos"/>
                <a:ea typeface="Aptos"/>
                <a:cs typeface="Aptos"/>
              </a:rPr>
              <a:t>Full URLs and slide-specific citations are included in presenter notes.</a:t>
            </a:r>
          </a:p>
        </p:txBody>
      </p:sp>
      <p:sp>
        <p:nvSpPr>
          <p:cNvPr id="13" name="">
            <a:extLst xmlns:a="http://schemas.openxmlformats.org/drawingml/2006/main">
              <a:ext uri="{FF2B5EF4-FFF2-40B4-BE49-F238E27FC236}">
                <a16:creationId xmlns:a16="http://schemas.microsoft.com/office/drawing/2014/main" id="{21F8DC46-AFBA-4CB8-9AE1-9A0D732EE239}"/>
              </a:ext>
            </a:extLst>
          </p:cNvPr>
          <p:cNvSpPr>
            <a:spLocks xmlns:a="http://schemas.openxmlformats.org/drawingml/2006/main" noGrp="1"/>
          </p:cNvSpPr>
          <p:nvPr/>
        </p:nvSpPr>
        <p:spPr>
          <a:xfrm xmlns:a="http://schemas.openxmlformats.org/drawingml/2006/main">
            <a:off x="11106150" y="6486525"/>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i="0">
                <a:solidFill>
                  <a:srgbClr val="182033"/>
                </a:solidFill>
                <a:latin typeface="Aptos Display"/>
                <a:ea typeface="Aptos Display"/>
                <a:cs typeface="Aptos Display"/>
              </a:defRPr>
            </a:pPr>
            <a:r>
              <a:rPr sz="900" b="1" i="0">
                <a:solidFill>
                  <a:srgbClr val="182033"/>
                </a:solidFill>
                <a:latin typeface="Aptos Display"/>
                <a:ea typeface="Aptos Display"/>
                <a:cs typeface="Aptos Display"/>
              </a:rPr>
              <a:t>22</a:t>
            </a:r>
          </a:p>
        </p:txBody>
      </p:sp>
    </p:spTree>
    <p:extLst>
      <p:ext uri="{BB962C8B-B14F-4D97-AF65-F5344CB8AC3E}">
        <p14:creationId xmlns:p14="http://schemas.microsoft.com/office/powerpoint/2010/main" val="1700289453"/>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2026-07-17T05:34:32.1420000Z</dcterms:created>
  <dcterms:modified xsi:type="dcterms:W3CDTF">2026-07-17T05:34:32.1420000Z</dcterms:modified>
</coreProperties>
</file>